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0" r:id="rId2"/>
    <p:sldId id="262" r:id="rId3"/>
    <p:sldId id="263" r:id="rId4"/>
    <p:sldId id="264" r:id="rId5"/>
    <p:sldId id="266" r:id="rId6"/>
    <p:sldId id="267" r:id="rId7"/>
    <p:sldId id="272" r:id="rId8"/>
    <p:sldId id="273" r:id="rId9"/>
    <p:sldId id="274" r:id="rId10"/>
    <p:sldId id="275" r:id="rId11"/>
    <p:sldId id="276" r:id="rId12"/>
    <p:sldId id="268" r:id="rId13"/>
    <p:sldId id="270" r:id="rId14"/>
    <p:sldId id="271" r:id="rId15"/>
    <p:sldId id="256" r:id="rId16"/>
    <p:sldId id="261" r:id="rId17"/>
    <p:sldId id="257" r:id="rId18"/>
    <p:sldId id="259" r:id="rId19"/>
    <p:sldId id="265" r:id="rId20"/>
    <p:sldId id="269" r:id="rId21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  <a:srgbClr val="E5D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74" autoAdjust="0"/>
    <p:restoredTop sz="89845" autoAdjust="0"/>
  </p:normalViewPr>
  <p:slideViewPr>
    <p:cSldViewPr snapToGrid="0">
      <p:cViewPr>
        <p:scale>
          <a:sx n="66" d="100"/>
          <a:sy n="66" d="100"/>
        </p:scale>
        <p:origin x="1396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788DC-73BB-4358-8D4B-CD927D224D4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A6259-1F41-450E-B925-381B0A4B56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816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28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258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387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515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645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6774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7904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032" algn="l" defTabSz="1382258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315B4-6330-F3CE-C93D-37B331CA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59074-5131-D56F-ECCC-7CF4F67F8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B4812D-A1C0-5C70-90CF-F1BAAABFB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第二部分写环境感知</a:t>
            </a:r>
            <a:endParaRPr lang="en-US" altLang="zh-CN"/>
          </a:p>
          <a:p>
            <a:r>
              <a:rPr lang="zh-CN" altLang="en-US"/>
              <a:t>第三部分写风险评估体系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参考一些风险四色图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880BEC-54C2-3E6E-52E6-4FB450231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6259-1F41-450E-B925-381B0A4B56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4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原创性：</a:t>
            </a:r>
            <a:r>
              <a:rPr lang="zh-CN" altLang="en-US" b="1"/>
              <a:t>智能塔吊是未来方向</a:t>
            </a:r>
            <a:r>
              <a:rPr lang="zh-CN" altLang="en-US"/>
              <a:t>，智能感知有很多方法，如放在塔臂、小车、吊钩，</a:t>
            </a:r>
            <a:r>
              <a:rPr lang="zh-CN" altLang="en-US" b="1"/>
              <a:t>我认为吊钩端一定要有自我感知的能力</a:t>
            </a:r>
            <a:r>
              <a:rPr lang="zh-CN" altLang="en-US"/>
              <a:t>，我做的就是把吊钩拥有自我感知能力，包括视觉、传感、激光建模、最终实现避障、吊物的自动化。最后我组了个可见的东西出来。</a:t>
            </a:r>
            <a:endParaRPr lang="en-US" altLang="zh-CN"/>
          </a:p>
          <a:p>
            <a:r>
              <a:rPr lang="zh-CN" altLang="en-US"/>
              <a:t>几个主要内容：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多传感器融合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避障（晃来晃去可能不清晰？怎么解决，调频率？）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测试，先搭一个实验室模型，检测各种情况能否实现避障预警（各种情况：水平、垂直、空中障碍物，如女儿墙）；然后移步南校区实验室再实验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展示的时候把盒子做个剖面图，介绍每部分的信息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社会实习（半年）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找工作提前定（上海国企建设单位（徐汇、浦东等区市城投））定个长远目标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最后答辩做个图：</a:t>
            </a:r>
            <a:endParaRPr lang="en-US" altLang="zh-CN"/>
          </a:p>
          <a:p>
            <a:r>
              <a:rPr lang="zh-CN" altLang="en-US"/>
              <a:t>硬件带过来，吊钩</a:t>
            </a:r>
            <a:r>
              <a:rPr lang="en-US" altLang="zh-CN"/>
              <a:t>3d</a:t>
            </a:r>
            <a:r>
              <a:rPr lang="zh-CN" altLang="en-US"/>
              <a:t>打印一下，什么东西都有，加上一个平台的展示（）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自己做一个实验， 能不能完成避障的功能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6259-1F41-450E-B925-381B0A4B566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58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BB15-9A81-2183-116E-1C6A5273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E859F7-7431-D6BD-4469-1EDDCE84B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70C1B-9C3A-9C85-22B0-1E9DABE30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第二部分写环境感知</a:t>
            </a:r>
            <a:endParaRPr lang="en-US" altLang="zh-CN"/>
          </a:p>
          <a:p>
            <a:r>
              <a:rPr lang="zh-CN" altLang="en-US"/>
              <a:t>第三部分写风险评估体系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参考一些风险四色图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60BA3-AB9F-4A98-C6DE-C5FEFF7DC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6259-1F41-450E-B925-381B0A4B566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923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第二部分写环境感知</a:t>
            </a:r>
            <a:endParaRPr lang="en-US" altLang="zh-CN"/>
          </a:p>
          <a:p>
            <a:r>
              <a:rPr lang="zh-CN" altLang="en-US"/>
              <a:t>第三部分写风险评估体系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参考一些风险四色图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6259-1F41-450E-B925-381B0A4B566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72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0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7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3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9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07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12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39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87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4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00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6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85673-1F5F-413C-9841-0FC8116FF9F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4E72D-BFE4-44AF-ADC5-9A7E46A64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50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4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6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C18-3942-8DCA-2450-73ACA214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5EB959C0-D846-A425-F9FF-7A90D2D4F40F}"/>
              </a:ext>
            </a:extLst>
          </p:cNvPr>
          <p:cNvSpPr/>
          <p:nvPr/>
        </p:nvSpPr>
        <p:spPr>
          <a:xfrm>
            <a:off x="4521513" y="390793"/>
            <a:ext cx="7950469" cy="59406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研究一：</a:t>
            </a:r>
            <a:endParaRPr lang="en-US" alt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传感器系统构建与配准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241EBEE-07C8-EA91-B479-6625D1900009}"/>
              </a:ext>
            </a:extLst>
          </p:cNvPr>
          <p:cNvSpPr/>
          <p:nvPr/>
        </p:nvSpPr>
        <p:spPr>
          <a:xfrm>
            <a:off x="4176747" y="171905"/>
            <a:ext cx="8640000" cy="3240000"/>
          </a:xfrm>
          <a:prstGeom prst="roundRect">
            <a:avLst>
              <a:gd name="adj" fmla="val 8291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Down Arrow 28">
            <a:extLst>
              <a:ext uri="{FF2B5EF4-FFF2-40B4-BE49-F238E27FC236}">
                <a16:creationId xmlns:a16="http://schemas.microsoft.com/office/drawing/2014/main" id="{16ECA912-B0C2-8271-E1A9-B9DE2761C125}"/>
              </a:ext>
            </a:extLst>
          </p:cNvPr>
          <p:cNvSpPr/>
          <p:nvPr/>
        </p:nvSpPr>
        <p:spPr>
          <a:xfrm rot="16200000">
            <a:off x="6206997" y="2074139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硬件基础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Down Arrow 28">
            <a:extLst>
              <a:ext uri="{FF2B5EF4-FFF2-40B4-BE49-F238E27FC236}">
                <a16:creationId xmlns:a16="http://schemas.microsoft.com/office/drawing/2014/main" id="{296FA53A-CBA2-4331-8FED-088504027E05}"/>
              </a:ext>
            </a:extLst>
          </p:cNvPr>
          <p:cNvSpPr/>
          <p:nvPr/>
        </p:nvSpPr>
        <p:spPr>
          <a:xfrm rot="16200000">
            <a:off x="9054094" y="2074139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空间参数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859DF0B2-4F6B-E28B-EDCC-DCCF018100CA}"/>
              </a:ext>
            </a:extLst>
          </p:cNvPr>
          <p:cNvSpPr/>
          <p:nvPr/>
        </p:nvSpPr>
        <p:spPr>
          <a:xfrm>
            <a:off x="4521513" y="3919487"/>
            <a:ext cx="7950469" cy="59406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研究二：</a:t>
            </a:r>
            <a:endParaRPr lang="en-US" alt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基于融合点云的定位与空间危险区域检测方法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34EE16F-AC8B-F33F-4434-70AC4E76379E}"/>
              </a:ext>
            </a:extLst>
          </p:cNvPr>
          <p:cNvSpPr/>
          <p:nvPr/>
        </p:nvSpPr>
        <p:spPr>
          <a:xfrm>
            <a:off x="4707720" y="515315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点云数据特征分析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03AFF50-97C2-FADD-F953-0D436F2740F6}"/>
              </a:ext>
            </a:extLst>
          </p:cNvPr>
          <p:cNvSpPr/>
          <p:nvPr/>
        </p:nvSpPr>
        <p:spPr>
          <a:xfrm>
            <a:off x="4707720" y="6288105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点云实时融合与发布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7A91093A-17BE-F500-5199-A045095FC950}"/>
              </a:ext>
            </a:extLst>
          </p:cNvPr>
          <p:cNvSpPr/>
          <p:nvPr/>
        </p:nvSpPr>
        <p:spPr>
          <a:xfrm>
            <a:off x="4176747" y="3700599"/>
            <a:ext cx="8640000" cy="3240000"/>
          </a:xfrm>
          <a:prstGeom prst="roundRect">
            <a:avLst>
              <a:gd name="adj" fmla="val 8291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07F4B4E6-6924-BC6C-0831-28A71FBAEFDF}"/>
              </a:ext>
            </a:extLst>
          </p:cNvPr>
          <p:cNvSpPr/>
          <p:nvPr/>
        </p:nvSpPr>
        <p:spPr>
          <a:xfrm>
            <a:off x="4521514" y="4696148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D2AC2D4-7E1A-18B1-76FB-D7D9157B0BE1}"/>
              </a:ext>
            </a:extLst>
          </p:cNvPr>
          <p:cNvSpPr/>
          <p:nvPr/>
        </p:nvSpPr>
        <p:spPr>
          <a:xfrm>
            <a:off x="4665916" y="4760329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点云实时融合方法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55A1143-760F-44C0-2973-5E92B08BB033}"/>
              </a:ext>
            </a:extLst>
          </p:cNvPr>
          <p:cNvSpPr/>
          <p:nvPr/>
        </p:nvSpPr>
        <p:spPr>
          <a:xfrm>
            <a:off x="4707720" y="5716395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外参矩阵与坐标统一</a:t>
            </a:r>
          </a:p>
        </p:txBody>
      </p:sp>
      <p:cxnSp>
        <p:nvCxnSpPr>
          <p:cNvPr id="112" name="连接符: 肘形 10">
            <a:extLst>
              <a:ext uri="{FF2B5EF4-FFF2-40B4-BE49-F238E27FC236}">
                <a16:creationId xmlns:a16="http://schemas.microsoft.com/office/drawing/2014/main" id="{A53EF091-2801-F791-EFE5-66048A2403E0}"/>
              </a:ext>
            </a:extLst>
          </p:cNvPr>
          <p:cNvCxnSpPr>
            <a:cxnSpLocks/>
            <a:stCxn id="106" idx="2"/>
            <a:endCxn id="111" idx="0"/>
          </p:cNvCxnSpPr>
          <p:nvPr/>
        </p:nvCxnSpPr>
        <p:spPr>
          <a:xfrm>
            <a:off x="5643720" y="5405150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0">
            <a:extLst>
              <a:ext uri="{FF2B5EF4-FFF2-40B4-BE49-F238E27FC236}">
                <a16:creationId xmlns:a16="http://schemas.microsoft.com/office/drawing/2014/main" id="{BDCA36AE-8D66-0F31-EB52-9535D9149A96}"/>
              </a:ext>
            </a:extLst>
          </p:cNvPr>
          <p:cNvCxnSpPr>
            <a:cxnSpLocks/>
            <a:stCxn id="111" idx="2"/>
            <a:endCxn id="107" idx="0"/>
          </p:cNvCxnSpPr>
          <p:nvPr/>
        </p:nvCxnSpPr>
        <p:spPr>
          <a:xfrm>
            <a:off x="5643720" y="5968395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EC8355BA-1E07-CC08-3BE5-B88E1F4BC462}"/>
              </a:ext>
            </a:extLst>
          </p:cNvPr>
          <p:cNvSpPr/>
          <p:nvPr/>
        </p:nvSpPr>
        <p:spPr>
          <a:xfrm>
            <a:off x="7557522" y="515315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算法选择与系统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2099475-4512-4E75-DB82-ADF58952F71D}"/>
              </a:ext>
            </a:extLst>
          </p:cNvPr>
          <p:cNvSpPr/>
          <p:nvPr/>
        </p:nvSpPr>
        <p:spPr>
          <a:xfrm>
            <a:off x="7557522" y="6286498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位姿输出与点云配准</a:t>
            </a: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FB078DB5-925D-5A9F-9655-F8EECD984875}"/>
              </a:ext>
            </a:extLst>
          </p:cNvPr>
          <p:cNvSpPr/>
          <p:nvPr/>
        </p:nvSpPr>
        <p:spPr>
          <a:xfrm>
            <a:off x="7368611" y="4696148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EB0F6A8-EB68-FC41-572A-D53EFDE590E4}"/>
              </a:ext>
            </a:extLst>
          </p:cNvPr>
          <p:cNvSpPr/>
          <p:nvPr/>
        </p:nvSpPr>
        <p:spPr>
          <a:xfrm>
            <a:off x="7513013" y="4760329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SLAM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4A7A21A6-4B77-DA05-2EE9-F7FE162B9535}"/>
              </a:ext>
            </a:extLst>
          </p:cNvPr>
          <p:cNvSpPr/>
          <p:nvPr/>
        </p:nvSpPr>
        <p:spPr>
          <a:xfrm>
            <a:off x="7557522" y="5719824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LIO-SAM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原理与流程</a:t>
            </a:r>
          </a:p>
        </p:txBody>
      </p:sp>
      <p:cxnSp>
        <p:nvCxnSpPr>
          <p:cNvPr id="122" name="连接符: 肘形 10">
            <a:extLst>
              <a:ext uri="{FF2B5EF4-FFF2-40B4-BE49-F238E27FC236}">
                <a16:creationId xmlns:a16="http://schemas.microsoft.com/office/drawing/2014/main" id="{CF6097B8-16E5-F708-B5B2-7C71391A8F9A}"/>
              </a:ext>
            </a:extLst>
          </p:cNvPr>
          <p:cNvCxnSpPr>
            <a:cxnSpLocks/>
            <a:stCxn id="116" idx="2"/>
            <a:endCxn id="121" idx="0"/>
          </p:cNvCxnSpPr>
          <p:nvPr/>
        </p:nvCxnSpPr>
        <p:spPr>
          <a:xfrm>
            <a:off x="8493522" y="5405150"/>
            <a:ext cx="0" cy="314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0">
            <a:extLst>
              <a:ext uri="{FF2B5EF4-FFF2-40B4-BE49-F238E27FC236}">
                <a16:creationId xmlns:a16="http://schemas.microsoft.com/office/drawing/2014/main" id="{13F9B5E8-CEBB-C6D5-7126-B18D3845FDAC}"/>
              </a:ext>
            </a:extLst>
          </p:cNvPr>
          <p:cNvCxnSpPr>
            <a:cxnSpLocks/>
            <a:stCxn id="121" idx="2"/>
            <a:endCxn id="117" idx="0"/>
          </p:cNvCxnSpPr>
          <p:nvPr/>
        </p:nvCxnSpPr>
        <p:spPr>
          <a:xfrm>
            <a:off x="8493522" y="5971824"/>
            <a:ext cx="0" cy="314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63FDB186-4298-7F35-B8B1-44F2AF573908}"/>
              </a:ext>
            </a:extLst>
          </p:cNvPr>
          <p:cNvSpPr/>
          <p:nvPr/>
        </p:nvSpPr>
        <p:spPr>
          <a:xfrm>
            <a:off x="10405551" y="514864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裁剪与点云预处理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667CE1D-4DF2-CFB0-307C-F346B7227B85}"/>
              </a:ext>
            </a:extLst>
          </p:cNvPr>
          <p:cNvSpPr/>
          <p:nvPr/>
        </p:nvSpPr>
        <p:spPr>
          <a:xfrm>
            <a:off x="10405551" y="590464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动态点云簇提取</a:t>
            </a: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C8BA9864-A589-16E2-6E5B-5BAA9A6FAF85}"/>
              </a:ext>
            </a:extLst>
          </p:cNvPr>
          <p:cNvSpPr/>
          <p:nvPr/>
        </p:nvSpPr>
        <p:spPr>
          <a:xfrm>
            <a:off x="10221640" y="4696149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C83FB2B-0622-93D4-D33A-26FDDF0F6DB6}"/>
              </a:ext>
            </a:extLst>
          </p:cNvPr>
          <p:cNvSpPr/>
          <p:nvPr/>
        </p:nvSpPr>
        <p:spPr>
          <a:xfrm>
            <a:off x="10366042" y="4760329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静动态目标生成</a:t>
            </a:r>
          </a:p>
        </p:txBody>
      </p:sp>
      <p:sp>
        <p:nvSpPr>
          <p:cNvPr id="1409" name="矩形 1408">
            <a:extLst>
              <a:ext uri="{FF2B5EF4-FFF2-40B4-BE49-F238E27FC236}">
                <a16:creationId xmlns:a16="http://schemas.microsoft.com/office/drawing/2014/main" id="{492120BC-DCE7-371D-BFB1-845FBC10B605}"/>
              </a:ext>
            </a:extLst>
          </p:cNvPr>
          <p:cNvSpPr/>
          <p:nvPr/>
        </p:nvSpPr>
        <p:spPr>
          <a:xfrm>
            <a:off x="10405551" y="552664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局部滑动窗口表示</a:t>
            </a:r>
          </a:p>
        </p:txBody>
      </p:sp>
      <p:cxnSp>
        <p:nvCxnSpPr>
          <p:cNvPr id="1411" name="连接符: 肘形 10">
            <a:extLst>
              <a:ext uri="{FF2B5EF4-FFF2-40B4-BE49-F238E27FC236}">
                <a16:creationId xmlns:a16="http://schemas.microsoft.com/office/drawing/2014/main" id="{27E60B58-61DA-E8AC-F915-3E2A5FA0527A}"/>
              </a:ext>
            </a:extLst>
          </p:cNvPr>
          <p:cNvCxnSpPr>
            <a:cxnSpLocks/>
            <a:stCxn id="124" idx="2"/>
            <a:endCxn id="1409" idx="0"/>
          </p:cNvCxnSpPr>
          <p:nvPr/>
        </p:nvCxnSpPr>
        <p:spPr>
          <a:xfrm>
            <a:off x="11341551" y="5400641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连接符: 肘形 10">
            <a:extLst>
              <a:ext uri="{FF2B5EF4-FFF2-40B4-BE49-F238E27FC236}">
                <a16:creationId xmlns:a16="http://schemas.microsoft.com/office/drawing/2014/main" id="{96DA7632-69BA-1395-2172-814D50AB5692}"/>
              </a:ext>
            </a:extLst>
          </p:cNvPr>
          <p:cNvCxnSpPr>
            <a:cxnSpLocks/>
            <a:stCxn id="1409" idx="2"/>
            <a:endCxn id="125" idx="0"/>
          </p:cNvCxnSpPr>
          <p:nvPr/>
        </p:nvCxnSpPr>
        <p:spPr>
          <a:xfrm>
            <a:off x="11341551" y="5778641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3" name="Down Arrow 28">
            <a:extLst>
              <a:ext uri="{FF2B5EF4-FFF2-40B4-BE49-F238E27FC236}">
                <a16:creationId xmlns:a16="http://schemas.microsoft.com/office/drawing/2014/main" id="{22661278-70B2-DD17-B9EF-9476F4D80C85}"/>
              </a:ext>
            </a:extLst>
          </p:cNvPr>
          <p:cNvSpPr/>
          <p:nvPr/>
        </p:nvSpPr>
        <p:spPr>
          <a:xfrm rot="16200000">
            <a:off x="6206997" y="5574935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融合点云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4" name="Down Arrow 28">
            <a:extLst>
              <a:ext uri="{FF2B5EF4-FFF2-40B4-BE49-F238E27FC236}">
                <a16:creationId xmlns:a16="http://schemas.microsoft.com/office/drawing/2014/main" id="{74B8FDC1-231C-5DBA-4AFF-9259050F911F}"/>
              </a:ext>
            </a:extLst>
          </p:cNvPr>
          <p:cNvSpPr/>
          <p:nvPr/>
        </p:nvSpPr>
        <p:spPr>
          <a:xfrm rot="16200000">
            <a:off x="9054094" y="5574935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位姿</a:t>
            </a:r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地图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9" name="箭头: 五边形 1418">
            <a:extLst>
              <a:ext uri="{FF2B5EF4-FFF2-40B4-BE49-F238E27FC236}">
                <a16:creationId xmlns:a16="http://schemas.microsoft.com/office/drawing/2014/main" id="{73307C19-3EF8-07EF-BE82-3B5301420844}"/>
              </a:ext>
            </a:extLst>
          </p:cNvPr>
          <p:cNvSpPr/>
          <p:nvPr/>
        </p:nvSpPr>
        <p:spPr>
          <a:xfrm rot="5400000">
            <a:off x="11834055" y="1642939"/>
            <a:ext cx="3410068" cy="4680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统一时空基准与标定配置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AD1BFE-11B0-28CC-41D4-E67DBB6525A2}"/>
              </a:ext>
            </a:extLst>
          </p:cNvPr>
          <p:cNvSpPr/>
          <p:nvPr/>
        </p:nvSpPr>
        <p:spPr>
          <a:xfrm>
            <a:off x="10405551" y="6283406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目标状态估计与短时跟踪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3617FA84-8B5A-173E-8725-4280AF7F7A20}"/>
              </a:ext>
            </a:extLst>
          </p:cNvPr>
          <p:cNvSpPr/>
          <p:nvPr/>
        </p:nvSpPr>
        <p:spPr>
          <a:xfrm rot="5400000">
            <a:off x="11834055" y="5171633"/>
            <a:ext cx="3410068" cy="4680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几何定位与目标状态获取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A4EFBC-EF26-42F6-C3EF-553BB60C0E03}"/>
              </a:ext>
            </a:extLst>
          </p:cNvPr>
          <p:cNvSpPr/>
          <p:nvPr/>
        </p:nvSpPr>
        <p:spPr>
          <a:xfrm>
            <a:off x="4521513" y="7448181"/>
            <a:ext cx="7950469" cy="59406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研究三：</a:t>
            </a:r>
            <a:endParaRPr lang="en-US" alt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基于雷视融合的避障预警策略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11F3B81-15CA-8A7B-5BCE-1D71B8E1B313}"/>
              </a:ext>
            </a:extLst>
          </p:cNvPr>
          <p:cNvSpPr/>
          <p:nvPr/>
        </p:nvSpPr>
        <p:spPr>
          <a:xfrm>
            <a:off x="4176747" y="7229293"/>
            <a:ext cx="8640000" cy="3240000"/>
          </a:xfrm>
          <a:prstGeom prst="roundRect">
            <a:avLst>
              <a:gd name="adj" fmla="val 8291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Down Arrow 28">
            <a:extLst>
              <a:ext uri="{FF2B5EF4-FFF2-40B4-BE49-F238E27FC236}">
                <a16:creationId xmlns:a16="http://schemas.microsoft.com/office/drawing/2014/main" id="{8E924A4B-46CB-5B8C-DE23-D087234C45DD}"/>
              </a:ext>
            </a:extLst>
          </p:cNvPr>
          <p:cNvSpPr/>
          <p:nvPr/>
        </p:nvSpPr>
        <p:spPr>
          <a:xfrm rot="16200000">
            <a:off x="6206997" y="9028530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轨迹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Down Arrow 28">
            <a:extLst>
              <a:ext uri="{FF2B5EF4-FFF2-40B4-BE49-F238E27FC236}">
                <a16:creationId xmlns:a16="http://schemas.microsoft.com/office/drawing/2014/main" id="{12FA9E78-9085-6E5D-F31D-7230AA7812F7}"/>
              </a:ext>
            </a:extLst>
          </p:cNvPr>
          <p:cNvSpPr/>
          <p:nvPr/>
        </p:nvSpPr>
        <p:spPr>
          <a:xfrm rot="16200000">
            <a:off x="9054094" y="9028530"/>
            <a:ext cx="1726474" cy="307950"/>
          </a:xfrm>
          <a:prstGeom prst="downArrow">
            <a:avLst>
              <a:gd name="adj1" fmla="val 55681"/>
              <a:gd name="adj2" fmla="val 631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36000" tIns="36000" rIns="36000" bIns="0" rtlCol="0" anchor="ctr"/>
          <a:lstStyle/>
          <a:p>
            <a:pPr algn="ctr"/>
            <a:r>
              <a:rPr lang="en-US" altLang="zh-CN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rPr>
              <a:t>轨迹</a:t>
            </a:r>
            <a:endParaRPr 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连接符: 肘形 10">
            <a:extLst>
              <a:ext uri="{FF2B5EF4-FFF2-40B4-BE49-F238E27FC236}">
                <a16:creationId xmlns:a16="http://schemas.microsoft.com/office/drawing/2014/main" id="{BCAB405D-3CF8-2BBF-1EF8-6BF4C36BC2D3}"/>
              </a:ext>
            </a:extLst>
          </p:cNvPr>
          <p:cNvCxnSpPr>
            <a:cxnSpLocks/>
            <a:stCxn id="125" idx="2"/>
            <a:endCxn id="11" idx="0"/>
          </p:cNvCxnSpPr>
          <p:nvPr/>
        </p:nvCxnSpPr>
        <p:spPr>
          <a:xfrm>
            <a:off x="11341551" y="6156641"/>
            <a:ext cx="0" cy="126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AEC1A0A2-E1A1-ED72-6BA7-0E804EADBC8F}"/>
              </a:ext>
            </a:extLst>
          </p:cNvPr>
          <p:cNvSpPr/>
          <p:nvPr/>
        </p:nvSpPr>
        <p:spPr>
          <a:xfrm>
            <a:off x="4707720" y="1624456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传感设备选型</a:t>
            </a:r>
          </a:p>
        </p:txBody>
      </p:sp>
      <p:sp>
        <p:nvSpPr>
          <p:cNvPr id="1408" name="矩形 1407">
            <a:extLst>
              <a:ext uri="{FF2B5EF4-FFF2-40B4-BE49-F238E27FC236}">
                <a16:creationId xmlns:a16="http://schemas.microsoft.com/office/drawing/2014/main" id="{91F12A6D-8BC2-0963-AD65-A18F6A64369A}"/>
              </a:ext>
            </a:extLst>
          </p:cNvPr>
          <p:cNvSpPr/>
          <p:nvPr/>
        </p:nvSpPr>
        <p:spPr>
          <a:xfrm>
            <a:off x="4707720" y="275941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吊钩感知平台设计</a:t>
            </a:r>
          </a:p>
        </p:txBody>
      </p:sp>
      <p:sp>
        <p:nvSpPr>
          <p:cNvPr id="1410" name="矩形: 圆角 1409">
            <a:extLst>
              <a:ext uri="{FF2B5EF4-FFF2-40B4-BE49-F238E27FC236}">
                <a16:creationId xmlns:a16="http://schemas.microsoft.com/office/drawing/2014/main" id="{AF1C0B41-8B79-1865-6388-4A2768CF9689}"/>
              </a:ext>
            </a:extLst>
          </p:cNvPr>
          <p:cNvSpPr/>
          <p:nvPr/>
        </p:nvSpPr>
        <p:spPr>
          <a:xfrm>
            <a:off x="4521514" y="1167454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5" name="矩形 1414">
            <a:extLst>
              <a:ext uri="{FF2B5EF4-FFF2-40B4-BE49-F238E27FC236}">
                <a16:creationId xmlns:a16="http://schemas.microsoft.com/office/drawing/2014/main" id="{27B05739-3D77-64DA-9B95-8FD60D469087}"/>
              </a:ext>
            </a:extLst>
          </p:cNvPr>
          <p:cNvSpPr/>
          <p:nvPr/>
        </p:nvSpPr>
        <p:spPr>
          <a:xfrm>
            <a:off x="4665916" y="1231635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传感系统构建</a:t>
            </a:r>
          </a:p>
        </p:txBody>
      </p:sp>
      <p:sp>
        <p:nvSpPr>
          <p:cNvPr id="1416" name="矩形 1415">
            <a:extLst>
              <a:ext uri="{FF2B5EF4-FFF2-40B4-BE49-F238E27FC236}">
                <a16:creationId xmlns:a16="http://schemas.microsoft.com/office/drawing/2014/main" id="{E7EC3127-42EE-C944-2C25-D58AFFF4CB37}"/>
              </a:ext>
            </a:extLst>
          </p:cNvPr>
          <p:cNvSpPr/>
          <p:nvPr/>
        </p:nvSpPr>
        <p:spPr>
          <a:xfrm>
            <a:off x="4707720" y="218770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传感设备布局优化</a:t>
            </a:r>
          </a:p>
        </p:txBody>
      </p:sp>
      <p:cxnSp>
        <p:nvCxnSpPr>
          <p:cNvPr id="1417" name="连接符: 肘形 10">
            <a:extLst>
              <a:ext uri="{FF2B5EF4-FFF2-40B4-BE49-F238E27FC236}">
                <a16:creationId xmlns:a16="http://schemas.microsoft.com/office/drawing/2014/main" id="{A661F395-FC14-5E63-09DB-9E263F7E20B7}"/>
              </a:ext>
            </a:extLst>
          </p:cNvPr>
          <p:cNvCxnSpPr>
            <a:cxnSpLocks/>
            <a:stCxn id="120" idx="2"/>
            <a:endCxn id="1416" idx="0"/>
          </p:cNvCxnSpPr>
          <p:nvPr/>
        </p:nvCxnSpPr>
        <p:spPr>
          <a:xfrm>
            <a:off x="5643720" y="1876456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连接符: 肘形 10">
            <a:extLst>
              <a:ext uri="{FF2B5EF4-FFF2-40B4-BE49-F238E27FC236}">
                <a16:creationId xmlns:a16="http://schemas.microsoft.com/office/drawing/2014/main" id="{A5326DF9-C31B-9678-D98F-0E8616DC3C85}"/>
              </a:ext>
            </a:extLst>
          </p:cNvPr>
          <p:cNvCxnSpPr>
            <a:cxnSpLocks/>
            <a:stCxn id="1416" idx="2"/>
            <a:endCxn id="1408" idx="0"/>
          </p:cNvCxnSpPr>
          <p:nvPr/>
        </p:nvCxnSpPr>
        <p:spPr>
          <a:xfrm>
            <a:off x="5643720" y="2439701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0" name="矩形 1419">
            <a:extLst>
              <a:ext uri="{FF2B5EF4-FFF2-40B4-BE49-F238E27FC236}">
                <a16:creationId xmlns:a16="http://schemas.microsoft.com/office/drawing/2014/main" id="{06E1E166-AF17-BEEB-A249-714E64C3F37D}"/>
              </a:ext>
            </a:extLst>
          </p:cNvPr>
          <p:cNvSpPr/>
          <p:nvPr/>
        </p:nvSpPr>
        <p:spPr>
          <a:xfrm>
            <a:off x="7527518" y="1624456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相机内参标定</a:t>
            </a:r>
          </a:p>
        </p:txBody>
      </p:sp>
      <p:sp>
        <p:nvSpPr>
          <p:cNvPr id="1421" name="矩形 1420">
            <a:extLst>
              <a:ext uri="{FF2B5EF4-FFF2-40B4-BE49-F238E27FC236}">
                <a16:creationId xmlns:a16="http://schemas.microsoft.com/office/drawing/2014/main" id="{876AEE09-31E9-A705-47A2-3FDF889A2539}"/>
              </a:ext>
            </a:extLst>
          </p:cNvPr>
          <p:cNvSpPr/>
          <p:nvPr/>
        </p:nvSpPr>
        <p:spPr>
          <a:xfrm>
            <a:off x="7527518" y="275941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雷达外参标定</a:t>
            </a:r>
          </a:p>
        </p:txBody>
      </p:sp>
      <p:sp>
        <p:nvSpPr>
          <p:cNvPr id="1422" name="矩形: 圆角 1421">
            <a:extLst>
              <a:ext uri="{FF2B5EF4-FFF2-40B4-BE49-F238E27FC236}">
                <a16:creationId xmlns:a16="http://schemas.microsoft.com/office/drawing/2014/main" id="{554681F9-9230-EFEB-F619-65C05A74785F}"/>
              </a:ext>
            </a:extLst>
          </p:cNvPr>
          <p:cNvSpPr/>
          <p:nvPr/>
        </p:nvSpPr>
        <p:spPr>
          <a:xfrm>
            <a:off x="7362680" y="1167454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3" name="矩形 1422">
            <a:extLst>
              <a:ext uri="{FF2B5EF4-FFF2-40B4-BE49-F238E27FC236}">
                <a16:creationId xmlns:a16="http://schemas.microsoft.com/office/drawing/2014/main" id="{2BE53194-0359-CDB2-451B-757F64B3A9A3}"/>
              </a:ext>
            </a:extLst>
          </p:cNvPr>
          <p:cNvSpPr/>
          <p:nvPr/>
        </p:nvSpPr>
        <p:spPr>
          <a:xfrm>
            <a:off x="7507082" y="1231635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多传感器标定与同步</a:t>
            </a:r>
          </a:p>
        </p:txBody>
      </p:sp>
      <p:sp>
        <p:nvSpPr>
          <p:cNvPr id="1424" name="矩形 1423">
            <a:extLst>
              <a:ext uri="{FF2B5EF4-FFF2-40B4-BE49-F238E27FC236}">
                <a16:creationId xmlns:a16="http://schemas.microsoft.com/office/drawing/2014/main" id="{1F800811-F57F-F960-DAFF-94E8EF29C1CB}"/>
              </a:ext>
            </a:extLst>
          </p:cNvPr>
          <p:cNvSpPr/>
          <p:nvPr/>
        </p:nvSpPr>
        <p:spPr>
          <a:xfrm>
            <a:off x="7527518" y="218770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双雷达联合标定</a:t>
            </a:r>
          </a:p>
        </p:txBody>
      </p:sp>
      <p:cxnSp>
        <p:nvCxnSpPr>
          <p:cNvPr id="1425" name="连接符: 肘形 10">
            <a:extLst>
              <a:ext uri="{FF2B5EF4-FFF2-40B4-BE49-F238E27FC236}">
                <a16:creationId xmlns:a16="http://schemas.microsoft.com/office/drawing/2014/main" id="{C5015AF7-FDFE-6E93-9B85-CB96B5CE2967}"/>
              </a:ext>
            </a:extLst>
          </p:cNvPr>
          <p:cNvCxnSpPr>
            <a:cxnSpLocks/>
            <a:stCxn id="1420" idx="2"/>
            <a:endCxn id="1424" idx="0"/>
          </p:cNvCxnSpPr>
          <p:nvPr/>
        </p:nvCxnSpPr>
        <p:spPr>
          <a:xfrm>
            <a:off x="8463518" y="1876456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" name="连接符: 肘形 10">
            <a:extLst>
              <a:ext uri="{FF2B5EF4-FFF2-40B4-BE49-F238E27FC236}">
                <a16:creationId xmlns:a16="http://schemas.microsoft.com/office/drawing/2014/main" id="{3C8D3727-961E-F194-5D3D-99AD20E06607}"/>
              </a:ext>
            </a:extLst>
          </p:cNvPr>
          <p:cNvCxnSpPr>
            <a:cxnSpLocks/>
            <a:stCxn id="1424" idx="2"/>
            <a:endCxn id="1421" idx="0"/>
          </p:cNvCxnSpPr>
          <p:nvPr/>
        </p:nvCxnSpPr>
        <p:spPr>
          <a:xfrm>
            <a:off x="8463518" y="2439701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" name="矩形 1434">
            <a:extLst>
              <a:ext uri="{FF2B5EF4-FFF2-40B4-BE49-F238E27FC236}">
                <a16:creationId xmlns:a16="http://schemas.microsoft.com/office/drawing/2014/main" id="{37526E09-C146-86F5-85AB-4A120D5B90ED}"/>
              </a:ext>
            </a:extLst>
          </p:cNvPr>
          <p:cNvSpPr/>
          <p:nvPr/>
        </p:nvSpPr>
        <p:spPr>
          <a:xfrm>
            <a:off x="10386478" y="1624456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通信链路搭建</a:t>
            </a:r>
          </a:p>
        </p:txBody>
      </p:sp>
      <p:sp>
        <p:nvSpPr>
          <p:cNvPr id="1436" name="矩形 1435">
            <a:extLst>
              <a:ext uri="{FF2B5EF4-FFF2-40B4-BE49-F238E27FC236}">
                <a16:creationId xmlns:a16="http://schemas.microsoft.com/office/drawing/2014/main" id="{23184EF7-646A-7780-540C-9D142409E101}"/>
              </a:ext>
            </a:extLst>
          </p:cNvPr>
          <p:cNvSpPr/>
          <p:nvPr/>
        </p:nvSpPr>
        <p:spPr>
          <a:xfrm>
            <a:off x="10386478" y="275941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坐标体系构建</a:t>
            </a:r>
          </a:p>
        </p:txBody>
      </p:sp>
      <p:sp>
        <p:nvSpPr>
          <p:cNvPr id="1437" name="矩形: 圆角 1436">
            <a:extLst>
              <a:ext uri="{FF2B5EF4-FFF2-40B4-BE49-F238E27FC236}">
                <a16:creationId xmlns:a16="http://schemas.microsoft.com/office/drawing/2014/main" id="{5884AFD5-9A31-0C47-1FB5-21C9AC412D73}"/>
              </a:ext>
            </a:extLst>
          </p:cNvPr>
          <p:cNvSpPr/>
          <p:nvPr/>
        </p:nvSpPr>
        <p:spPr>
          <a:xfrm>
            <a:off x="10221640" y="1167454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8" name="矩形 1437">
            <a:extLst>
              <a:ext uri="{FF2B5EF4-FFF2-40B4-BE49-F238E27FC236}">
                <a16:creationId xmlns:a16="http://schemas.microsoft.com/office/drawing/2014/main" id="{5BEFB2A2-E00F-85CE-8C02-3E3634DEF088}"/>
              </a:ext>
            </a:extLst>
          </p:cNvPr>
          <p:cNvSpPr/>
          <p:nvPr/>
        </p:nvSpPr>
        <p:spPr>
          <a:xfrm>
            <a:off x="10366042" y="1231635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通信与数据链路构建</a:t>
            </a:r>
          </a:p>
        </p:txBody>
      </p:sp>
      <p:sp>
        <p:nvSpPr>
          <p:cNvPr id="1439" name="矩形 1438">
            <a:extLst>
              <a:ext uri="{FF2B5EF4-FFF2-40B4-BE49-F238E27FC236}">
                <a16:creationId xmlns:a16="http://schemas.microsoft.com/office/drawing/2014/main" id="{E7E4E9D8-9A0D-E845-0F7D-F8917A01F248}"/>
              </a:ext>
            </a:extLst>
          </p:cNvPr>
          <p:cNvSpPr/>
          <p:nvPr/>
        </p:nvSpPr>
        <p:spPr>
          <a:xfrm>
            <a:off x="10386478" y="2187701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传感时间同步</a:t>
            </a:r>
          </a:p>
        </p:txBody>
      </p:sp>
      <p:cxnSp>
        <p:nvCxnSpPr>
          <p:cNvPr id="1440" name="连接符: 肘形 10">
            <a:extLst>
              <a:ext uri="{FF2B5EF4-FFF2-40B4-BE49-F238E27FC236}">
                <a16:creationId xmlns:a16="http://schemas.microsoft.com/office/drawing/2014/main" id="{47FC7A86-D816-55AB-0E90-382E2FBD670D}"/>
              </a:ext>
            </a:extLst>
          </p:cNvPr>
          <p:cNvCxnSpPr>
            <a:cxnSpLocks/>
            <a:stCxn id="1435" idx="2"/>
            <a:endCxn id="1439" idx="0"/>
          </p:cNvCxnSpPr>
          <p:nvPr/>
        </p:nvCxnSpPr>
        <p:spPr>
          <a:xfrm>
            <a:off x="11322478" y="1876456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连接符: 肘形 10">
            <a:extLst>
              <a:ext uri="{FF2B5EF4-FFF2-40B4-BE49-F238E27FC236}">
                <a16:creationId xmlns:a16="http://schemas.microsoft.com/office/drawing/2014/main" id="{44BC689A-A87E-A1C2-81FC-45822CD2501F}"/>
              </a:ext>
            </a:extLst>
          </p:cNvPr>
          <p:cNvCxnSpPr>
            <a:cxnSpLocks/>
            <a:stCxn id="1439" idx="2"/>
            <a:endCxn id="1436" idx="0"/>
          </p:cNvCxnSpPr>
          <p:nvPr/>
        </p:nvCxnSpPr>
        <p:spPr>
          <a:xfrm>
            <a:off x="11322478" y="2439701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矩形 1448">
            <a:extLst>
              <a:ext uri="{FF2B5EF4-FFF2-40B4-BE49-F238E27FC236}">
                <a16:creationId xmlns:a16="http://schemas.microsoft.com/office/drawing/2014/main" id="{9F969F63-90A9-C76F-C3CA-DB6202BA394F}"/>
              </a:ext>
            </a:extLst>
          </p:cNvPr>
          <p:cNvSpPr/>
          <p:nvPr/>
        </p:nvSpPr>
        <p:spPr>
          <a:xfrm>
            <a:off x="4707719" y="8681845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目标检测模型与部署</a:t>
            </a:r>
          </a:p>
        </p:txBody>
      </p:sp>
      <p:sp>
        <p:nvSpPr>
          <p:cNvPr id="1450" name="矩形 1449">
            <a:extLst>
              <a:ext uri="{FF2B5EF4-FFF2-40B4-BE49-F238E27FC236}">
                <a16:creationId xmlns:a16="http://schemas.microsoft.com/office/drawing/2014/main" id="{42ECECCA-297D-80BD-804E-B3F17C663C49}"/>
              </a:ext>
            </a:extLst>
          </p:cNvPr>
          <p:cNvSpPr/>
          <p:nvPr/>
        </p:nvSpPr>
        <p:spPr>
          <a:xfrm>
            <a:off x="4707719" y="981680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融合接口与数据结构定义</a:t>
            </a:r>
          </a:p>
        </p:txBody>
      </p:sp>
      <p:sp>
        <p:nvSpPr>
          <p:cNvPr id="1451" name="矩形: 圆角 1450">
            <a:extLst>
              <a:ext uri="{FF2B5EF4-FFF2-40B4-BE49-F238E27FC236}">
                <a16:creationId xmlns:a16="http://schemas.microsoft.com/office/drawing/2014/main" id="{E70F50C8-A082-8A8C-F24D-762D0BA07352}"/>
              </a:ext>
            </a:extLst>
          </p:cNvPr>
          <p:cNvSpPr/>
          <p:nvPr/>
        </p:nvSpPr>
        <p:spPr>
          <a:xfrm>
            <a:off x="4521513" y="8224843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2" name="矩形 1451">
            <a:extLst>
              <a:ext uri="{FF2B5EF4-FFF2-40B4-BE49-F238E27FC236}">
                <a16:creationId xmlns:a16="http://schemas.microsoft.com/office/drawing/2014/main" id="{25CC7277-51E1-3991-1FBB-96387D1885F3}"/>
              </a:ext>
            </a:extLst>
          </p:cNvPr>
          <p:cNvSpPr/>
          <p:nvPr/>
        </p:nvSpPr>
        <p:spPr>
          <a:xfrm>
            <a:off x="4665915" y="8289024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视觉侧高风险目标识别</a:t>
            </a:r>
          </a:p>
        </p:txBody>
      </p:sp>
      <p:sp>
        <p:nvSpPr>
          <p:cNvPr id="1453" name="矩形 1452">
            <a:extLst>
              <a:ext uri="{FF2B5EF4-FFF2-40B4-BE49-F238E27FC236}">
                <a16:creationId xmlns:a16="http://schemas.microsoft.com/office/drawing/2014/main" id="{A6B1F306-BD40-F66C-97F9-0C5F8E327ACF}"/>
              </a:ext>
            </a:extLst>
          </p:cNvPr>
          <p:cNvSpPr/>
          <p:nvPr/>
        </p:nvSpPr>
        <p:spPr>
          <a:xfrm>
            <a:off x="4707719" y="924509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检测结果时序稳定化处理</a:t>
            </a:r>
          </a:p>
        </p:txBody>
      </p:sp>
      <p:cxnSp>
        <p:nvCxnSpPr>
          <p:cNvPr id="1454" name="连接符: 肘形 10">
            <a:extLst>
              <a:ext uri="{FF2B5EF4-FFF2-40B4-BE49-F238E27FC236}">
                <a16:creationId xmlns:a16="http://schemas.microsoft.com/office/drawing/2014/main" id="{05544396-F8C4-9EE2-EA38-4EB2C7B5EFD3}"/>
              </a:ext>
            </a:extLst>
          </p:cNvPr>
          <p:cNvCxnSpPr>
            <a:cxnSpLocks/>
            <a:stCxn id="1449" idx="2"/>
            <a:endCxn id="1453" idx="0"/>
          </p:cNvCxnSpPr>
          <p:nvPr/>
        </p:nvCxnSpPr>
        <p:spPr>
          <a:xfrm>
            <a:off x="5643719" y="8933845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连接符: 肘形 10">
            <a:extLst>
              <a:ext uri="{FF2B5EF4-FFF2-40B4-BE49-F238E27FC236}">
                <a16:creationId xmlns:a16="http://schemas.microsoft.com/office/drawing/2014/main" id="{B863363A-0109-4561-A240-BE28C415D943}"/>
              </a:ext>
            </a:extLst>
          </p:cNvPr>
          <p:cNvCxnSpPr>
            <a:cxnSpLocks/>
            <a:stCxn id="1453" idx="2"/>
            <a:endCxn id="1450" idx="0"/>
          </p:cNvCxnSpPr>
          <p:nvPr/>
        </p:nvCxnSpPr>
        <p:spPr>
          <a:xfrm>
            <a:off x="5643719" y="9497090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6" name="矩形 1455">
            <a:extLst>
              <a:ext uri="{FF2B5EF4-FFF2-40B4-BE49-F238E27FC236}">
                <a16:creationId xmlns:a16="http://schemas.microsoft.com/office/drawing/2014/main" id="{04D15B8E-6831-98EB-6962-BC5E96B9C2EB}"/>
              </a:ext>
            </a:extLst>
          </p:cNvPr>
          <p:cNvSpPr/>
          <p:nvPr/>
        </p:nvSpPr>
        <p:spPr>
          <a:xfrm>
            <a:off x="7554556" y="8681845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目标双相一致性关联</a:t>
            </a:r>
          </a:p>
        </p:txBody>
      </p:sp>
      <p:sp>
        <p:nvSpPr>
          <p:cNvPr id="1457" name="矩形 1456">
            <a:extLst>
              <a:ext uri="{FF2B5EF4-FFF2-40B4-BE49-F238E27FC236}">
                <a16:creationId xmlns:a16="http://schemas.microsoft.com/office/drawing/2014/main" id="{320168D7-E481-47E1-F10C-1F92F1B2E71A}"/>
              </a:ext>
            </a:extLst>
          </p:cNvPr>
          <p:cNvSpPr/>
          <p:nvPr/>
        </p:nvSpPr>
        <p:spPr>
          <a:xfrm>
            <a:off x="7554556" y="981680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置信度融合与语义输出</a:t>
            </a:r>
          </a:p>
        </p:txBody>
      </p:sp>
      <p:sp>
        <p:nvSpPr>
          <p:cNvPr id="1458" name="矩形: 圆角 1457">
            <a:extLst>
              <a:ext uri="{FF2B5EF4-FFF2-40B4-BE49-F238E27FC236}">
                <a16:creationId xmlns:a16="http://schemas.microsoft.com/office/drawing/2014/main" id="{87709883-01C1-8C32-FE94-F9BA53F3F242}"/>
              </a:ext>
            </a:extLst>
          </p:cNvPr>
          <p:cNvSpPr/>
          <p:nvPr/>
        </p:nvSpPr>
        <p:spPr>
          <a:xfrm>
            <a:off x="7368350" y="8224843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9" name="矩形 1458">
            <a:extLst>
              <a:ext uri="{FF2B5EF4-FFF2-40B4-BE49-F238E27FC236}">
                <a16:creationId xmlns:a16="http://schemas.microsoft.com/office/drawing/2014/main" id="{7CDDF1B9-764A-5FCE-C845-CC79D5FB58A4}"/>
              </a:ext>
            </a:extLst>
          </p:cNvPr>
          <p:cNvSpPr/>
          <p:nvPr/>
        </p:nvSpPr>
        <p:spPr>
          <a:xfrm>
            <a:off x="7512752" y="8289024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雷视融合策略</a:t>
            </a:r>
          </a:p>
        </p:txBody>
      </p:sp>
      <p:sp>
        <p:nvSpPr>
          <p:cNvPr id="1460" name="矩形 1459">
            <a:extLst>
              <a:ext uri="{FF2B5EF4-FFF2-40B4-BE49-F238E27FC236}">
                <a16:creationId xmlns:a16="http://schemas.microsoft.com/office/drawing/2014/main" id="{0B4111E5-9829-80A7-99E3-2CEB24DE3EB5}"/>
              </a:ext>
            </a:extLst>
          </p:cNvPr>
          <p:cNvSpPr/>
          <p:nvPr/>
        </p:nvSpPr>
        <p:spPr>
          <a:xfrm>
            <a:off x="7554556" y="924509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轨迹级绑定与融合</a:t>
            </a:r>
          </a:p>
        </p:txBody>
      </p:sp>
      <p:cxnSp>
        <p:nvCxnSpPr>
          <p:cNvPr id="1461" name="连接符: 肘形 10">
            <a:extLst>
              <a:ext uri="{FF2B5EF4-FFF2-40B4-BE49-F238E27FC236}">
                <a16:creationId xmlns:a16="http://schemas.microsoft.com/office/drawing/2014/main" id="{5B0D1364-6357-6703-0997-0960E1ADEE43}"/>
              </a:ext>
            </a:extLst>
          </p:cNvPr>
          <p:cNvCxnSpPr>
            <a:cxnSpLocks/>
            <a:stCxn id="1456" idx="2"/>
            <a:endCxn id="1460" idx="0"/>
          </p:cNvCxnSpPr>
          <p:nvPr/>
        </p:nvCxnSpPr>
        <p:spPr>
          <a:xfrm>
            <a:off x="8490556" y="8933845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连接符: 肘形 10">
            <a:extLst>
              <a:ext uri="{FF2B5EF4-FFF2-40B4-BE49-F238E27FC236}">
                <a16:creationId xmlns:a16="http://schemas.microsoft.com/office/drawing/2014/main" id="{9BC5F82D-BA4C-6AF0-BCD6-3F02403D2E8B}"/>
              </a:ext>
            </a:extLst>
          </p:cNvPr>
          <p:cNvCxnSpPr>
            <a:cxnSpLocks/>
            <a:stCxn id="1460" idx="2"/>
            <a:endCxn id="1457" idx="0"/>
          </p:cNvCxnSpPr>
          <p:nvPr/>
        </p:nvCxnSpPr>
        <p:spPr>
          <a:xfrm>
            <a:off x="8490556" y="9497090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3" name="矩形 1462">
            <a:extLst>
              <a:ext uri="{FF2B5EF4-FFF2-40B4-BE49-F238E27FC236}">
                <a16:creationId xmlns:a16="http://schemas.microsoft.com/office/drawing/2014/main" id="{C893853B-C60A-6261-D0F4-F55D668825AF}"/>
              </a:ext>
            </a:extLst>
          </p:cNvPr>
          <p:cNvSpPr/>
          <p:nvPr/>
        </p:nvSpPr>
        <p:spPr>
          <a:xfrm>
            <a:off x="10407845" y="8681845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静态障碍：距离阈值预警</a:t>
            </a:r>
          </a:p>
        </p:txBody>
      </p:sp>
      <p:sp>
        <p:nvSpPr>
          <p:cNvPr id="1464" name="矩形 1463">
            <a:extLst>
              <a:ext uri="{FF2B5EF4-FFF2-40B4-BE49-F238E27FC236}">
                <a16:creationId xmlns:a16="http://schemas.microsoft.com/office/drawing/2014/main" id="{2087511D-4E9B-B7E0-CE8F-9930CD46C71D}"/>
              </a:ext>
            </a:extLst>
          </p:cNvPr>
          <p:cNvSpPr/>
          <p:nvPr/>
        </p:nvSpPr>
        <p:spPr>
          <a:xfrm>
            <a:off x="10407845" y="981680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分级预警状态机</a:t>
            </a:r>
          </a:p>
        </p:txBody>
      </p:sp>
      <p:sp>
        <p:nvSpPr>
          <p:cNvPr id="1465" name="矩形: 圆角 1464">
            <a:extLst>
              <a:ext uri="{FF2B5EF4-FFF2-40B4-BE49-F238E27FC236}">
                <a16:creationId xmlns:a16="http://schemas.microsoft.com/office/drawing/2014/main" id="{DD7A9245-FEE5-DFAC-02FB-9AD8BC432473}"/>
              </a:ext>
            </a:extLst>
          </p:cNvPr>
          <p:cNvSpPr/>
          <p:nvPr/>
        </p:nvSpPr>
        <p:spPr>
          <a:xfrm>
            <a:off x="10221639" y="8224843"/>
            <a:ext cx="2250343" cy="2052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6" name="矩形 1465">
            <a:extLst>
              <a:ext uri="{FF2B5EF4-FFF2-40B4-BE49-F238E27FC236}">
                <a16:creationId xmlns:a16="http://schemas.microsoft.com/office/drawing/2014/main" id="{C27219FF-24C8-0D8A-52B4-1130B226E8FE}"/>
              </a:ext>
            </a:extLst>
          </p:cNvPr>
          <p:cNvSpPr/>
          <p:nvPr/>
        </p:nvSpPr>
        <p:spPr>
          <a:xfrm>
            <a:off x="10366041" y="8289024"/>
            <a:ext cx="1961538" cy="25200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风险判定与分级预警</a:t>
            </a:r>
          </a:p>
        </p:txBody>
      </p:sp>
      <p:sp>
        <p:nvSpPr>
          <p:cNvPr id="1467" name="矩形 1466">
            <a:extLst>
              <a:ext uri="{FF2B5EF4-FFF2-40B4-BE49-F238E27FC236}">
                <a16:creationId xmlns:a16="http://schemas.microsoft.com/office/drawing/2014/main" id="{5BBC330D-A3CC-CC0A-8146-B9817EF5A474}"/>
              </a:ext>
            </a:extLst>
          </p:cNvPr>
          <p:cNvSpPr/>
          <p:nvPr/>
        </p:nvSpPr>
        <p:spPr>
          <a:xfrm>
            <a:off x="10407845" y="9245090"/>
            <a:ext cx="1872000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动态障碍：轨迹预测碰撞</a:t>
            </a:r>
          </a:p>
        </p:txBody>
      </p:sp>
      <p:cxnSp>
        <p:nvCxnSpPr>
          <p:cNvPr id="1468" name="连接符: 肘形 10">
            <a:extLst>
              <a:ext uri="{FF2B5EF4-FFF2-40B4-BE49-F238E27FC236}">
                <a16:creationId xmlns:a16="http://schemas.microsoft.com/office/drawing/2014/main" id="{BEC4E50F-D5C0-33A2-F5CD-6D8A3185EC29}"/>
              </a:ext>
            </a:extLst>
          </p:cNvPr>
          <p:cNvCxnSpPr>
            <a:cxnSpLocks/>
            <a:stCxn id="1463" idx="2"/>
            <a:endCxn id="1467" idx="0"/>
          </p:cNvCxnSpPr>
          <p:nvPr/>
        </p:nvCxnSpPr>
        <p:spPr>
          <a:xfrm>
            <a:off x="11343845" y="8933845"/>
            <a:ext cx="0" cy="311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连接符: 肘形 10">
            <a:extLst>
              <a:ext uri="{FF2B5EF4-FFF2-40B4-BE49-F238E27FC236}">
                <a16:creationId xmlns:a16="http://schemas.microsoft.com/office/drawing/2014/main" id="{CC1EFE77-5E90-01C0-878A-3EB94923DF09}"/>
              </a:ext>
            </a:extLst>
          </p:cNvPr>
          <p:cNvCxnSpPr>
            <a:cxnSpLocks/>
            <a:stCxn id="1467" idx="2"/>
            <a:endCxn id="1464" idx="0"/>
          </p:cNvCxnSpPr>
          <p:nvPr/>
        </p:nvCxnSpPr>
        <p:spPr>
          <a:xfrm>
            <a:off x="11343845" y="9497090"/>
            <a:ext cx="0" cy="319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1" name="Triangle 1059">
            <a:extLst>
              <a:ext uri="{FF2B5EF4-FFF2-40B4-BE49-F238E27FC236}">
                <a16:creationId xmlns:a16="http://schemas.microsoft.com/office/drawing/2014/main" id="{944E8450-0B4C-60BB-3147-FA30AFAFC261}"/>
              </a:ext>
            </a:extLst>
          </p:cNvPr>
          <p:cNvSpPr/>
          <p:nvPr/>
        </p:nvSpPr>
        <p:spPr>
          <a:xfrm rot="5400000">
            <a:off x="11460598" y="1657963"/>
            <a:ext cx="3240001" cy="267892"/>
          </a:xfrm>
          <a:prstGeom prst="triangle">
            <a:avLst/>
          </a:prstGeom>
          <a:gradFill flip="none" rotWithShape="1">
            <a:gsLst>
              <a:gs pos="100000">
                <a:srgbClr val="C00000"/>
              </a:gs>
              <a:gs pos="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" name="Triangle 1059">
            <a:extLst>
              <a:ext uri="{FF2B5EF4-FFF2-40B4-BE49-F238E27FC236}">
                <a16:creationId xmlns:a16="http://schemas.microsoft.com/office/drawing/2014/main" id="{E1B7E3FE-525F-6538-593A-C42AB15FD862}"/>
              </a:ext>
            </a:extLst>
          </p:cNvPr>
          <p:cNvSpPr/>
          <p:nvPr/>
        </p:nvSpPr>
        <p:spPr>
          <a:xfrm rot="5400000">
            <a:off x="11460598" y="5265935"/>
            <a:ext cx="3240001" cy="267892"/>
          </a:xfrm>
          <a:prstGeom prst="triangle">
            <a:avLst/>
          </a:prstGeom>
          <a:gradFill flip="none" rotWithShape="1">
            <a:gsLst>
              <a:gs pos="100000">
                <a:srgbClr val="C00000"/>
              </a:gs>
              <a:gs pos="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4" name="Triangle 1059">
            <a:extLst>
              <a:ext uri="{FF2B5EF4-FFF2-40B4-BE49-F238E27FC236}">
                <a16:creationId xmlns:a16="http://schemas.microsoft.com/office/drawing/2014/main" id="{7388CF2F-03DE-DFD8-1537-816C7286CCEE}"/>
              </a:ext>
            </a:extLst>
          </p:cNvPr>
          <p:cNvSpPr/>
          <p:nvPr/>
        </p:nvSpPr>
        <p:spPr>
          <a:xfrm rot="5400000">
            <a:off x="11460598" y="8799899"/>
            <a:ext cx="3240001" cy="267892"/>
          </a:xfrm>
          <a:prstGeom prst="triangle">
            <a:avLst/>
          </a:prstGeom>
          <a:gradFill flip="none" rotWithShape="1">
            <a:gsLst>
              <a:gs pos="100000">
                <a:srgbClr val="C00000"/>
              </a:gs>
              <a:gs pos="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6" name="箭头: V 形 1475">
            <a:extLst>
              <a:ext uri="{FF2B5EF4-FFF2-40B4-BE49-F238E27FC236}">
                <a16:creationId xmlns:a16="http://schemas.microsoft.com/office/drawing/2014/main" id="{06E68604-3C3A-C4FF-1F25-B4EABA84648F}"/>
              </a:ext>
            </a:extLst>
          </p:cNvPr>
          <p:cNvSpPr/>
          <p:nvPr/>
        </p:nvSpPr>
        <p:spPr>
          <a:xfrm rot="5400000">
            <a:off x="11919089" y="8615293"/>
            <a:ext cx="3240000" cy="4680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可解释性预警输出</a:t>
            </a:r>
          </a:p>
        </p:txBody>
      </p:sp>
    </p:spTree>
    <p:extLst>
      <p:ext uri="{BB962C8B-B14F-4D97-AF65-F5344CB8AC3E}">
        <p14:creationId xmlns:p14="http://schemas.microsoft.com/office/powerpoint/2010/main" val="329025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413" grpId="0" animBg="1"/>
      <p:bldP spid="1414" grpId="0" animBg="1"/>
      <p:bldP spid="36" grpId="0" animBg="1"/>
      <p:bldP spid="37" grpId="0" animBg="1"/>
      <p:bldP spid="1471" grpId="0" animBg="1"/>
      <p:bldP spid="1473" grpId="0" animBg="1"/>
      <p:bldP spid="147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FB34917-C711-350D-DB47-FEBFAF4C48BE}"/>
              </a:ext>
            </a:extLst>
          </p:cNvPr>
          <p:cNvGrpSpPr/>
          <p:nvPr/>
        </p:nvGrpSpPr>
        <p:grpSpPr>
          <a:xfrm>
            <a:off x="2312738" y="2286117"/>
            <a:ext cx="11786296" cy="6257030"/>
            <a:chOff x="2312738" y="2286117"/>
            <a:chExt cx="11786296" cy="6257030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BC8B2EDC-8794-93E1-FE6D-00AA7A4DDD68}"/>
                </a:ext>
              </a:extLst>
            </p:cNvPr>
            <p:cNvGrpSpPr/>
            <p:nvPr/>
          </p:nvGrpSpPr>
          <p:grpSpPr>
            <a:xfrm>
              <a:off x="2312738" y="2806267"/>
              <a:ext cx="5165786" cy="5165786"/>
              <a:chOff x="4954338" y="1827173"/>
              <a:chExt cx="3103880" cy="3103880"/>
            </a:xfrm>
          </p:grpSpPr>
          <p:pic>
            <p:nvPicPr>
              <p:cNvPr id="100" name="图片 99">
                <a:extLst>
                  <a:ext uri="{FF2B5EF4-FFF2-40B4-BE49-F238E27FC236}">
                    <a16:creationId xmlns:a16="http://schemas.microsoft.com/office/drawing/2014/main" id="{D0B457BB-0323-69E8-7361-B1CE1B4275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54338" y="1827173"/>
                <a:ext cx="3103880" cy="3103880"/>
              </a:xfrm>
              <a:prstGeom prst="rect">
                <a:avLst/>
              </a:prstGeom>
            </p:spPr>
          </p:pic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5598FF71-300E-89A8-2108-132CD7765246}"/>
                  </a:ext>
                </a:extLst>
              </p:cNvPr>
              <p:cNvSpPr/>
              <p:nvPr/>
            </p:nvSpPr>
            <p:spPr>
              <a:xfrm>
                <a:off x="5988183" y="4038940"/>
                <a:ext cx="344443" cy="344443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2" name="连接符: 肘形 101">
              <a:extLst>
                <a:ext uri="{FF2B5EF4-FFF2-40B4-BE49-F238E27FC236}">
                  <a16:creationId xmlns:a16="http://schemas.microsoft.com/office/drawing/2014/main" id="{8926C90D-6846-22B4-0341-00BE5EC3EAFA}"/>
                </a:ext>
              </a:extLst>
            </p:cNvPr>
            <p:cNvCxnSpPr>
              <a:cxnSpLocks/>
              <a:stCxn id="101" idx="6"/>
              <a:endCxn id="103" idx="1"/>
            </p:cNvCxnSpPr>
            <p:nvPr/>
          </p:nvCxnSpPr>
          <p:spPr>
            <a:xfrm flipV="1">
              <a:off x="4606622" y="5730662"/>
              <a:ext cx="3470381" cy="104327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矩形 124">
              <a:extLst>
                <a:ext uri="{FF2B5EF4-FFF2-40B4-BE49-F238E27FC236}">
                  <a16:creationId xmlns:a16="http://schemas.microsoft.com/office/drawing/2014/main" id="{FE5C27F7-AA5B-C26F-A56C-EE99D329D6D3}"/>
                </a:ext>
              </a:extLst>
            </p:cNvPr>
            <p:cNvSpPr/>
            <p:nvPr/>
          </p:nvSpPr>
          <p:spPr>
            <a:xfrm>
              <a:off x="8077003" y="2918177"/>
              <a:ext cx="6022031" cy="56249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 fontAlgn="base">
                <a:lnSpc>
                  <a:spcPct val="150000"/>
                </a:lnSpc>
                <a:spcBef>
                  <a:spcPts val="1200"/>
                </a:spcBef>
                <a:spcAft>
                  <a:spcPts val="600"/>
                </a:spcAft>
              </a:pPr>
              <a:endParaRPr kumimoji="1"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5F8FC9F-1DB6-BF67-489C-FEED5E9CF9D8}"/>
                </a:ext>
              </a:extLst>
            </p:cNvPr>
            <p:cNvSpPr txBox="1"/>
            <p:nvPr/>
          </p:nvSpPr>
          <p:spPr>
            <a:xfrm>
              <a:off x="8571822" y="2286117"/>
              <a:ext cx="50323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吊钩端感知平台</a:t>
              </a: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02A3782-A220-4F1A-75D9-D89B6F08D71D}"/>
                </a:ext>
              </a:extLst>
            </p:cNvPr>
            <p:cNvSpPr txBox="1"/>
            <p:nvPr/>
          </p:nvSpPr>
          <p:spPr>
            <a:xfrm>
              <a:off x="6299257" y="5399881"/>
              <a:ext cx="17777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>
                  <a:solidFill>
                    <a:srgbClr val="2F55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安装在吊钩端</a:t>
              </a:r>
              <a:endParaRPr lang="zh-CN" altLang="en-US" sz="100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F1C115DD-EC13-BCA2-D53A-29670351B1F6}"/>
                </a:ext>
              </a:extLst>
            </p:cNvPr>
            <p:cNvSpPr txBox="1"/>
            <p:nvPr/>
          </p:nvSpPr>
          <p:spPr>
            <a:xfrm>
              <a:off x="3389403" y="2866862"/>
              <a:ext cx="36207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塔吊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A7EEB859-7621-2537-D194-0D78F9C70256}"/>
                </a:ext>
              </a:extLst>
            </p:cNvPr>
            <p:cNvSpPr txBox="1"/>
            <p:nvPr/>
          </p:nvSpPr>
          <p:spPr>
            <a:xfrm>
              <a:off x="12081984" y="4348405"/>
              <a:ext cx="1347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塔吊吊钩</a:t>
              </a:r>
            </a:p>
          </p:txBody>
        </p:sp>
        <p:cxnSp>
          <p:nvCxnSpPr>
            <p:cNvPr id="121" name="连接符: 肘形 21565">
              <a:extLst>
                <a:ext uri="{FF2B5EF4-FFF2-40B4-BE49-F238E27FC236}">
                  <a16:creationId xmlns:a16="http://schemas.microsoft.com/office/drawing/2014/main" id="{F4D65B2A-7E5A-90E5-1301-0BDFEF0872CE}"/>
                </a:ext>
              </a:extLst>
            </p:cNvPr>
            <p:cNvCxnSpPr>
              <a:cxnSpLocks/>
              <a:endCxn id="126" idx="1"/>
            </p:cNvCxnSpPr>
            <p:nvPr/>
          </p:nvCxnSpPr>
          <p:spPr>
            <a:xfrm flipV="1">
              <a:off x="11087920" y="4517681"/>
              <a:ext cx="994064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5" name="图片 134">
              <a:extLst>
                <a:ext uri="{FF2B5EF4-FFF2-40B4-BE49-F238E27FC236}">
                  <a16:creationId xmlns:a16="http://schemas.microsoft.com/office/drawing/2014/main" id="{48A631B9-661E-AFBF-B18D-23120E5E4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84"/>
            <a:stretch>
              <a:fillRect/>
            </a:stretch>
          </p:blipFill>
          <p:spPr>
            <a:xfrm>
              <a:off x="9000331" y="3149599"/>
              <a:ext cx="3302241" cy="51076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93C91EFF-977C-FC55-98BE-D46E3F64BE73}"/>
                </a:ext>
              </a:extLst>
            </p:cNvPr>
            <p:cNvSpPr txBox="1"/>
            <p:nvPr/>
          </p:nvSpPr>
          <p:spPr>
            <a:xfrm>
              <a:off x="12512907" y="6939205"/>
              <a:ext cx="1347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工业相机</a:t>
              </a:r>
            </a:p>
          </p:txBody>
        </p:sp>
        <p:cxnSp>
          <p:nvCxnSpPr>
            <p:cNvPr id="150" name="连接符: 肘形 21565">
              <a:extLst>
                <a:ext uri="{FF2B5EF4-FFF2-40B4-BE49-F238E27FC236}">
                  <a16:creationId xmlns:a16="http://schemas.microsoft.com/office/drawing/2014/main" id="{FFDB4461-B4BC-BDB0-0E55-35906445F6BA}"/>
                </a:ext>
              </a:extLst>
            </p:cNvPr>
            <p:cNvCxnSpPr>
              <a:cxnSpLocks/>
              <a:endCxn id="149" idx="1"/>
            </p:cNvCxnSpPr>
            <p:nvPr/>
          </p:nvCxnSpPr>
          <p:spPr>
            <a:xfrm flipV="1">
              <a:off x="11518843" y="7108481"/>
              <a:ext cx="994064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B9DF06B4-C3CC-0A45-9512-67A2EE7CF09F}"/>
                </a:ext>
              </a:extLst>
            </p:cNvPr>
            <p:cNvSpPr txBox="1"/>
            <p:nvPr/>
          </p:nvSpPr>
          <p:spPr>
            <a:xfrm>
              <a:off x="8116088" y="6846573"/>
              <a:ext cx="1347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激光雷达</a:t>
              </a:r>
            </a:p>
          </p:txBody>
        </p:sp>
        <p:cxnSp>
          <p:nvCxnSpPr>
            <p:cNvPr id="152" name="连接符: 肘形 21565">
              <a:extLst>
                <a:ext uri="{FF2B5EF4-FFF2-40B4-BE49-F238E27FC236}">
                  <a16:creationId xmlns:a16="http://schemas.microsoft.com/office/drawing/2014/main" id="{43C173B1-6877-70E6-2C2A-392CE4AEB0D1}"/>
                </a:ext>
              </a:extLst>
            </p:cNvPr>
            <p:cNvCxnSpPr>
              <a:cxnSpLocks/>
              <a:endCxn id="151" idx="2"/>
            </p:cNvCxnSpPr>
            <p:nvPr/>
          </p:nvCxnSpPr>
          <p:spPr>
            <a:xfrm rot="10800000">
              <a:off x="8789996" y="7185128"/>
              <a:ext cx="770566" cy="516155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60942B92-57E2-4DDB-B86E-61B0CDD1170F}"/>
                </a:ext>
              </a:extLst>
            </p:cNvPr>
            <p:cNvSpPr txBox="1"/>
            <p:nvPr/>
          </p:nvSpPr>
          <p:spPr>
            <a:xfrm>
              <a:off x="11999827" y="7802776"/>
              <a:ext cx="13478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吊载重物</a:t>
              </a:r>
            </a:p>
          </p:txBody>
        </p:sp>
        <p:cxnSp>
          <p:nvCxnSpPr>
            <p:cNvPr id="163" name="连接符: 肘形 21565">
              <a:extLst>
                <a:ext uri="{FF2B5EF4-FFF2-40B4-BE49-F238E27FC236}">
                  <a16:creationId xmlns:a16="http://schemas.microsoft.com/office/drawing/2014/main" id="{0EC3C1F3-886C-BE34-ED26-A247C3105E96}"/>
                </a:ext>
              </a:extLst>
            </p:cNvPr>
            <p:cNvCxnSpPr>
              <a:cxnSpLocks/>
              <a:endCxn id="162" idx="1"/>
            </p:cNvCxnSpPr>
            <p:nvPr/>
          </p:nvCxnSpPr>
          <p:spPr>
            <a:xfrm flipV="1">
              <a:off x="11005763" y="7972052"/>
              <a:ext cx="994064" cy="1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4425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8514-689F-64F1-7909-D11FFF4D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DAD7C1A-1FDA-AE14-D0B5-831D1E348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14" y="2955701"/>
            <a:ext cx="4915841" cy="58352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979C19-CB46-3E17-B48E-A8B6C64AA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7541" y="2921835"/>
            <a:ext cx="5763122" cy="5989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6" name="组合 95">
            <a:extLst>
              <a:ext uri="{FF2B5EF4-FFF2-40B4-BE49-F238E27FC236}">
                <a16:creationId xmlns:a16="http://schemas.microsoft.com/office/drawing/2014/main" id="{F9B92777-23E3-7090-1C0A-B87EDF74E946}"/>
              </a:ext>
            </a:extLst>
          </p:cNvPr>
          <p:cNvGrpSpPr/>
          <p:nvPr/>
        </p:nvGrpSpPr>
        <p:grpSpPr>
          <a:xfrm>
            <a:off x="5245167" y="1462337"/>
            <a:ext cx="6701136" cy="8173719"/>
            <a:chOff x="5055836" y="1462337"/>
            <a:chExt cx="6701136" cy="8173719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D802610B-AEF8-FA95-B845-D1422969F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6228" y="8202479"/>
              <a:ext cx="1670744" cy="14335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13020000"/>
              </a:camera>
              <a:lightRig rig="threePt" dir="t"/>
            </a:scene3d>
          </p:spPr>
        </p:pic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C6A904AB-C2FF-9854-00AD-3D239373B9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0243" y="7839075"/>
              <a:ext cx="484835" cy="641650"/>
            </a:xfrm>
            <a:prstGeom prst="straightConnector1">
              <a:avLst/>
            </a:prstGeom>
            <a:ln w="38100"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DE5EF2DF-75D4-ADE3-012B-7437E5B6E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5836" y="8143395"/>
              <a:ext cx="1670744" cy="14335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8580000"/>
              </a:camera>
              <a:lightRig rig="threePt" dir="t"/>
            </a:scene3d>
          </p:spPr>
        </p:pic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EF3B3969-F506-DA5E-7709-0878AECC5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5700" y="7839075"/>
              <a:ext cx="484835" cy="641650"/>
            </a:xfrm>
            <a:prstGeom prst="straightConnector1">
              <a:avLst/>
            </a:prstGeom>
            <a:ln w="38100"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79B76BF-AA49-D732-9544-1C25317AB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367" y="2464119"/>
              <a:ext cx="5209959" cy="33040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68EBA67-EEA6-1C3A-C96A-F30DBF412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1208" y="5768207"/>
              <a:ext cx="5039318" cy="273389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FE896B9-EB4D-5037-C9B8-0D25CD6990D4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>
              <a:off x="8408346" y="2464119"/>
              <a:ext cx="1" cy="1279112"/>
            </a:xfrm>
            <a:prstGeom prst="straightConnector1">
              <a:avLst/>
            </a:prstGeom>
            <a:ln w="38100"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连接符: 曲线 45">
              <a:extLst>
                <a:ext uri="{FF2B5EF4-FFF2-40B4-BE49-F238E27FC236}">
                  <a16:creationId xmlns:a16="http://schemas.microsoft.com/office/drawing/2014/main" id="{684881EF-D519-7CB5-2E59-A1E4513BB6B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78351" y="4854226"/>
              <a:ext cx="925017" cy="542535"/>
            </a:xfrm>
            <a:prstGeom prst="curvedConnector3">
              <a:avLst/>
            </a:prstGeom>
            <a:ln w="38100">
              <a:prstDash val="sysDash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连接符: 曲线 50">
              <a:extLst>
                <a:ext uri="{FF2B5EF4-FFF2-40B4-BE49-F238E27FC236}">
                  <a16:creationId xmlns:a16="http://schemas.microsoft.com/office/drawing/2014/main" id="{5E1C893B-3190-F7CC-280F-9768606D06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88362" y="4804266"/>
              <a:ext cx="766021" cy="483460"/>
            </a:xfrm>
            <a:prstGeom prst="curvedConnector3">
              <a:avLst/>
            </a:prstGeom>
            <a:ln w="38100">
              <a:prstDash val="sysDash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CAF49833-1A0F-D06F-9090-B5867F91D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2777" y="5263175"/>
              <a:ext cx="1672986" cy="1672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F37F7109-1407-A257-D580-3BEB954DF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2718" y="5399881"/>
              <a:ext cx="1743510" cy="136171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7BF95B9-34F7-5B71-7650-18B6D06DB3CB}"/>
                </a:ext>
              </a:extLst>
            </p:cNvPr>
            <p:cNvCxnSpPr>
              <a:cxnSpLocks/>
            </p:cNvCxnSpPr>
            <p:nvPr/>
          </p:nvCxnSpPr>
          <p:spPr>
            <a:xfrm>
              <a:off x="6534707" y="4870450"/>
              <a:ext cx="0" cy="172085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F485F2AF-C9A4-6898-0A74-DE5ADBF21905}"/>
                </a:ext>
              </a:extLst>
            </p:cNvPr>
            <p:cNvCxnSpPr>
              <a:cxnSpLocks/>
            </p:cNvCxnSpPr>
            <p:nvPr/>
          </p:nvCxnSpPr>
          <p:spPr>
            <a:xfrm>
              <a:off x="10274857" y="4870450"/>
              <a:ext cx="0" cy="172085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235182BB-4B6D-5A71-D1FC-5B3D09D29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4467" y="1462337"/>
              <a:ext cx="842592" cy="115517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7" name="加号 96">
            <a:extLst>
              <a:ext uri="{FF2B5EF4-FFF2-40B4-BE49-F238E27FC236}">
                <a16:creationId xmlns:a16="http://schemas.microsoft.com/office/drawing/2014/main" id="{9F192B21-8DA4-ECE2-B2A4-A45F660811A7}"/>
              </a:ext>
            </a:extLst>
          </p:cNvPr>
          <p:cNvSpPr/>
          <p:nvPr/>
        </p:nvSpPr>
        <p:spPr>
          <a:xfrm>
            <a:off x="4506032" y="5134216"/>
            <a:ext cx="1308969" cy="1308969"/>
          </a:xfrm>
          <a:prstGeom prst="mathPlus">
            <a:avLst>
              <a:gd name="adj1" fmla="val 16806"/>
            </a:avLst>
          </a:prstGeom>
          <a:solidFill>
            <a:srgbClr val="C00000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箭头: 右 97">
            <a:extLst>
              <a:ext uri="{FF2B5EF4-FFF2-40B4-BE49-F238E27FC236}">
                <a16:creationId xmlns:a16="http://schemas.microsoft.com/office/drawing/2014/main" id="{D43EC5D1-5603-3749-F5E6-C2D5FE53097B}"/>
              </a:ext>
            </a:extLst>
          </p:cNvPr>
          <p:cNvSpPr/>
          <p:nvPr/>
        </p:nvSpPr>
        <p:spPr>
          <a:xfrm>
            <a:off x="11433249" y="5348997"/>
            <a:ext cx="1006846" cy="879406"/>
          </a:xfrm>
          <a:prstGeom prst="rightArrow">
            <a:avLst>
              <a:gd name="adj1" fmla="val 36796"/>
              <a:gd name="adj2" fmla="val 48919"/>
            </a:avLst>
          </a:prstGeom>
          <a:solidFill>
            <a:srgbClr val="C00000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9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0153-BF3B-2958-E447-A9A351D2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A48A5703-D0E3-6EF4-65FC-1A5A30CB6A7C}"/>
              </a:ext>
            </a:extLst>
          </p:cNvPr>
          <p:cNvGrpSpPr/>
          <p:nvPr/>
        </p:nvGrpSpPr>
        <p:grpSpPr>
          <a:xfrm>
            <a:off x="3295689" y="451500"/>
            <a:ext cx="12401770" cy="10116769"/>
            <a:chOff x="3801527" y="-1"/>
            <a:chExt cx="12401770" cy="1011676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AE838CF-6D8D-7CF1-16DD-D61F4DD52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90" r="13583"/>
            <a:stretch>
              <a:fillRect/>
            </a:stretch>
          </p:blipFill>
          <p:spPr>
            <a:xfrm rot="16200000">
              <a:off x="4026614" y="-225088"/>
              <a:ext cx="10116769" cy="10566943"/>
            </a:xfrm>
            <a:prstGeom prst="rect">
              <a:avLst/>
            </a:prstGeom>
          </p:spPr>
        </p:pic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2E279DB-7C96-0A6E-D6B2-505787C16F46}"/>
                </a:ext>
              </a:extLst>
            </p:cNvPr>
            <p:cNvGrpSpPr/>
            <p:nvPr/>
          </p:nvGrpSpPr>
          <p:grpSpPr>
            <a:xfrm>
              <a:off x="4206240" y="379736"/>
              <a:ext cx="11997057" cy="9238926"/>
              <a:chOff x="4206240" y="379736"/>
              <a:chExt cx="11997057" cy="9238926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C8A6543-8585-B779-698A-3B34F303BB15}"/>
                  </a:ext>
                </a:extLst>
              </p:cNvPr>
              <p:cNvSpPr/>
              <p:nvPr/>
            </p:nvSpPr>
            <p:spPr>
              <a:xfrm>
                <a:off x="4500330" y="4117419"/>
                <a:ext cx="9000000" cy="1728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 w="28575"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吊 钩 定 位 板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60410A7-A1C1-540B-BBA3-B4B89C4EC38E}"/>
                  </a:ext>
                </a:extLst>
              </p:cNvPr>
              <p:cNvSpPr/>
              <p:nvPr/>
            </p:nvSpPr>
            <p:spPr>
              <a:xfrm>
                <a:off x="6520031" y="1039528"/>
                <a:ext cx="4298765" cy="287923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60000"/>
                </a:schemeClr>
              </a:solidFill>
              <a:ln w="28575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 </a:t>
                </a:r>
                <a:r>
                  <a:rPr lang="zh-CN" altLang="en-US" sz="28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 缘 计 算 设 备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66A512-79E7-601D-EB9F-AC96AAE2E950}"/>
                  </a:ext>
                </a:extLst>
              </p:cNvPr>
              <p:cNvSpPr/>
              <p:nvPr/>
            </p:nvSpPr>
            <p:spPr>
              <a:xfrm>
                <a:off x="6520030" y="6150543"/>
                <a:ext cx="4885907" cy="269507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  <a:alpha val="6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 池 群</a:t>
                </a: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B9481604-3D62-93C9-85DC-BC84F55939C6}"/>
                  </a:ext>
                </a:extLst>
              </p:cNvPr>
              <p:cNvSpPr/>
              <p:nvPr/>
            </p:nvSpPr>
            <p:spPr>
              <a:xfrm>
                <a:off x="4206240" y="379736"/>
                <a:ext cx="9616506" cy="9238926"/>
              </a:xfrm>
              <a:custGeom>
                <a:avLst/>
                <a:gdLst>
                  <a:gd name="csX0" fmla="*/ 4808253 w 9616506"/>
                  <a:gd name="csY0" fmla="*/ 325538 h 9238926"/>
                  <a:gd name="csX1" fmla="*/ 517945 w 9616506"/>
                  <a:gd name="csY1" fmla="*/ 4615846 h 9238926"/>
                  <a:gd name="csX2" fmla="*/ 4808253 w 9616506"/>
                  <a:gd name="csY2" fmla="*/ 8906154 h 9238926"/>
                  <a:gd name="csX3" fmla="*/ 9098561 w 9616506"/>
                  <a:gd name="csY3" fmla="*/ 4615846 h 9238926"/>
                  <a:gd name="csX4" fmla="*/ 4808253 w 9616506"/>
                  <a:gd name="csY4" fmla="*/ 325538 h 9238926"/>
                  <a:gd name="csX5" fmla="*/ 3462106 w 9616506"/>
                  <a:gd name="csY5" fmla="*/ 0 h 9238926"/>
                  <a:gd name="csX6" fmla="*/ 6154400 w 9616506"/>
                  <a:gd name="csY6" fmla="*/ 0 h 9238926"/>
                  <a:gd name="csX7" fmla="*/ 6238080 w 9616506"/>
                  <a:gd name="csY7" fmla="*/ 23763 h 9238926"/>
                  <a:gd name="csX8" fmla="*/ 9616506 w 9616506"/>
                  <a:gd name="csY8" fmla="*/ 4615846 h 9238926"/>
                  <a:gd name="csX9" fmla="*/ 6238080 w 9616506"/>
                  <a:gd name="csY9" fmla="*/ 9207930 h 9238926"/>
                  <a:gd name="csX10" fmla="*/ 6128925 w 9616506"/>
                  <a:gd name="csY10" fmla="*/ 9238926 h 9238926"/>
                  <a:gd name="csX11" fmla="*/ 3487581 w 9616506"/>
                  <a:gd name="csY11" fmla="*/ 9238926 h 9238926"/>
                  <a:gd name="csX12" fmla="*/ 3378426 w 9616506"/>
                  <a:gd name="csY12" fmla="*/ 9207930 h 9238926"/>
                  <a:gd name="csX13" fmla="*/ 0 w 9616506"/>
                  <a:gd name="csY13" fmla="*/ 4615846 h 9238926"/>
                  <a:gd name="csX14" fmla="*/ 3378426 w 9616506"/>
                  <a:gd name="csY14" fmla="*/ 23763 h 92389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616506" h="9238926">
                    <a:moveTo>
                      <a:pt x="4808253" y="325538"/>
                    </a:moveTo>
                    <a:cubicBezTo>
                      <a:pt x="2438781" y="325538"/>
                      <a:pt x="517945" y="2246374"/>
                      <a:pt x="517945" y="4615846"/>
                    </a:cubicBezTo>
                    <a:cubicBezTo>
                      <a:pt x="517945" y="6985318"/>
                      <a:pt x="2438781" y="8906154"/>
                      <a:pt x="4808253" y="8906154"/>
                    </a:cubicBezTo>
                    <a:cubicBezTo>
                      <a:pt x="7177725" y="8906154"/>
                      <a:pt x="9098561" y="6985318"/>
                      <a:pt x="9098561" y="4615846"/>
                    </a:cubicBezTo>
                    <a:cubicBezTo>
                      <a:pt x="9098561" y="2246374"/>
                      <a:pt x="7177725" y="325538"/>
                      <a:pt x="4808253" y="325538"/>
                    </a:cubicBezTo>
                    <a:close/>
                    <a:moveTo>
                      <a:pt x="3462106" y="0"/>
                    </a:moveTo>
                    <a:lnTo>
                      <a:pt x="6154400" y="0"/>
                    </a:lnTo>
                    <a:lnTo>
                      <a:pt x="6238080" y="23763"/>
                    </a:lnTo>
                    <a:cubicBezTo>
                      <a:pt x="8195369" y="632543"/>
                      <a:pt x="9616506" y="2458232"/>
                      <a:pt x="9616506" y="4615846"/>
                    </a:cubicBezTo>
                    <a:cubicBezTo>
                      <a:pt x="9616506" y="6773460"/>
                      <a:pt x="8195369" y="8599150"/>
                      <a:pt x="6238080" y="9207930"/>
                    </a:cubicBezTo>
                    <a:lnTo>
                      <a:pt x="6128925" y="9238926"/>
                    </a:lnTo>
                    <a:lnTo>
                      <a:pt x="3487581" y="9238926"/>
                    </a:lnTo>
                    <a:lnTo>
                      <a:pt x="3378426" y="9207930"/>
                    </a:lnTo>
                    <a:cubicBezTo>
                      <a:pt x="1421137" y="8599150"/>
                      <a:pt x="0" y="6773460"/>
                      <a:pt x="0" y="4615846"/>
                    </a:cubicBezTo>
                    <a:cubicBezTo>
                      <a:pt x="0" y="2458232"/>
                      <a:pt x="1421137" y="632543"/>
                      <a:pt x="3378426" y="23763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 w="28575">
                <a:solidFill>
                  <a:schemeClr val="accent4">
                    <a:lumMod val="75000"/>
                    <a:alpha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60FED55-ADAD-0CF7-BEBE-22B5B95F4781}"/>
                  </a:ext>
                </a:extLst>
              </p:cNvPr>
              <p:cNvGrpSpPr/>
              <p:nvPr/>
            </p:nvGrpSpPr>
            <p:grpSpPr>
              <a:xfrm>
                <a:off x="13132583" y="1684669"/>
                <a:ext cx="3070714" cy="1339874"/>
                <a:chOff x="14025412" y="2402299"/>
                <a:chExt cx="3713343" cy="1339874"/>
              </a:xfrm>
            </p:grpSpPr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55EBD5B-8C80-089B-4698-0D765AC1B65F}"/>
                    </a:ext>
                  </a:extLst>
                </p:cNvPr>
                <p:cNvSpPr txBox="1"/>
                <p:nvPr/>
              </p:nvSpPr>
              <p:spPr>
                <a:xfrm>
                  <a:off x="16186609" y="2402299"/>
                  <a:ext cx="155214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走线区</a:t>
                  </a:r>
                </a:p>
              </p:txBody>
            </p:sp>
            <p:cxnSp>
              <p:nvCxnSpPr>
                <p:cNvPr id="19" name="连接符: 肘形 21565">
                  <a:extLst>
                    <a:ext uri="{FF2B5EF4-FFF2-40B4-BE49-F238E27FC236}">
                      <a16:creationId xmlns:a16="http://schemas.microsoft.com/office/drawing/2014/main" id="{5F59AA9F-2E26-47B3-35E0-02801BE50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025412" y="2663909"/>
                  <a:ext cx="1108768" cy="107826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245ECACB-1EEB-3E2D-F7DF-74672A1BA0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25700" y="2663909"/>
                  <a:ext cx="106090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9561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6B8A-66F6-3080-6BD8-380CD559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124">
            <a:extLst>
              <a:ext uri="{FF2B5EF4-FFF2-40B4-BE49-F238E27FC236}">
                <a16:creationId xmlns:a16="http://schemas.microsoft.com/office/drawing/2014/main" id="{3C0F98A0-B73B-043A-512B-ACBC5B6D5067}"/>
              </a:ext>
            </a:extLst>
          </p:cNvPr>
          <p:cNvSpPr/>
          <p:nvPr/>
        </p:nvSpPr>
        <p:spPr>
          <a:xfrm>
            <a:off x="546100" y="750095"/>
            <a:ext cx="17130713" cy="907256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endParaRPr kumimoji="1" lang="zh-CN" altLang="en-US" b="1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08620211-D6DD-CDF0-283C-D9BCA44018C4}"/>
              </a:ext>
            </a:extLst>
          </p:cNvPr>
          <p:cNvGrpSpPr/>
          <p:nvPr/>
        </p:nvGrpSpPr>
        <p:grpSpPr>
          <a:xfrm>
            <a:off x="4311617" y="5982032"/>
            <a:ext cx="3840624" cy="3840625"/>
            <a:chOff x="4563460" y="5845544"/>
            <a:chExt cx="4311200" cy="4311201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F98B5C8D-3E3B-96A9-7D29-E37EAA870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3460" y="5845544"/>
              <a:ext cx="4311200" cy="43112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C5B0672-7879-3C84-55B1-8B758071E50F}"/>
                </a:ext>
              </a:extLst>
            </p:cNvPr>
            <p:cNvSpPr txBox="1"/>
            <p:nvPr/>
          </p:nvSpPr>
          <p:spPr>
            <a:xfrm>
              <a:off x="5052730" y="9280158"/>
              <a:ext cx="33326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/>
                <a:t>锂电池</a:t>
              </a:r>
              <a:endParaRPr lang="en-US" altLang="zh-CN"/>
            </a:p>
          </p:txBody>
        </p:sp>
      </p:grp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BD7B9C2A-40C7-DCE6-9ED6-201D6BE5B6C6}"/>
              </a:ext>
            </a:extLst>
          </p:cNvPr>
          <p:cNvCxnSpPr>
            <a:cxnSpLocks/>
            <a:stCxn id="53" idx="1"/>
            <a:endCxn id="55" idx="2"/>
          </p:cNvCxnSpPr>
          <p:nvPr/>
        </p:nvCxnSpPr>
        <p:spPr>
          <a:xfrm rot="10800000">
            <a:off x="2438735" y="5852621"/>
            <a:ext cx="1872883" cy="2049724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9C7C5EDB-679D-2921-22B8-210D964A2B56}"/>
              </a:ext>
            </a:extLst>
          </p:cNvPr>
          <p:cNvCxnSpPr>
            <a:cxnSpLocks/>
            <a:stCxn id="53" idx="3"/>
            <a:endCxn id="56" idx="2"/>
          </p:cNvCxnSpPr>
          <p:nvPr/>
        </p:nvCxnSpPr>
        <p:spPr>
          <a:xfrm flipV="1">
            <a:off x="8152241" y="5847122"/>
            <a:ext cx="1870772" cy="205522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24">
            <a:extLst>
              <a:ext uri="{FF2B5EF4-FFF2-40B4-BE49-F238E27FC236}">
                <a16:creationId xmlns:a16="http://schemas.microsoft.com/office/drawing/2014/main" id="{0B9D556A-2711-E15D-1ADC-213BB7510B86}"/>
              </a:ext>
            </a:extLst>
          </p:cNvPr>
          <p:cNvCxnSpPr>
            <a:cxnSpLocks/>
          </p:cNvCxnSpPr>
          <p:nvPr/>
        </p:nvCxnSpPr>
        <p:spPr>
          <a:xfrm>
            <a:off x="6438767" y="3549182"/>
            <a:ext cx="16820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25A0C90A-0883-CF79-93FF-E3202768E82B}"/>
              </a:ext>
            </a:extLst>
          </p:cNvPr>
          <p:cNvSpPr txBox="1"/>
          <p:nvPr/>
        </p:nvSpPr>
        <p:spPr>
          <a:xfrm>
            <a:off x="6159000" y="3014039"/>
            <a:ext cx="22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以太网接口</a:t>
            </a:r>
            <a:endParaRPr lang="zh-CN" altLang="en-US" sz="7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2D3FC96-442A-1355-D005-A5D31C2D11B3}"/>
              </a:ext>
            </a:extLst>
          </p:cNvPr>
          <p:cNvSpPr txBox="1"/>
          <p:nvPr/>
        </p:nvSpPr>
        <p:spPr>
          <a:xfrm>
            <a:off x="6159000" y="3632167"/>
            <a:ext cx="22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数据传输</a:t>
            </a:r>
            <a:endParaRPr lang="zh-CN" altLang="en-US" sz="7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77656B9B-4592-5C58-67C6-5E89913944C4}"/>
              </a:ext>
            </a:extLst>
          </p:cNvPr>
          <p:cNvGrpSpPr/>
          <p:nvPr/>
        </p:nvGrpSpPr>
        <p:grpSpPr>
          <a:xfrm>
            <a:off x="8060661" y="2055111"/>
            <a:ext cx="4031952" cy="3792011"/>
            <a:chOff x="7856345" y="2305034"/>
            <a:chExt cx="4031952" cy="3792011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11D7EB8-FE59-276E-E011-10B9E006FEBD}"/>
                </a:ext>
              </a:extLst>
            </p:cNvPr>
            <p:cNvSpPr txBox="1"/>
            <p:nvPr/>
          </p:nvSpPr>
          <p:spPr>
            <a:xfrm>
              <a:off x="7856345" y="5588985"/>
              <a:ext cx="3924704" cy="5080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/>
                <a:t>AI</a:t>
              </a:r>
              <a:r>
                <a:rPr lang="zh-CN" altLang="en-US"/>
                <a:t>边缘计算设备</a:t>
              </a:r>
            </a:p>
          </p:txBody>
        </p:sp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6430E4AF-4129-0B91-698F-557B2573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6345" y="2305034"/>
              <a:ext cx="4031952" cy="314904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C4974D95-B02F-2EF5-5EDE-B2119D8C0757}"/>
              </a:ext>
            </a:extLst>
          </p:cNvPr>
          <p:cNvSpPr txBox="1"/>
          <p:nvPr/>
        </p:nvSpPr>
        <p:spPr>
          <a:xfrm>
            <a:off x="9214494" y="6692558"/>
            <a:ext cx="80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800">
                <a:ea typeface="微软雅黑" panose="020B0503020204020204" pitchFamily="34" charset="-122"/>
              </a:rPr>
              <a:t>供电</a:t>
            </a: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50E9C998-9BA2-913A-2D4C-7F22FCA6D5B8}"/>
              </a:ext>
            </a:extLst>
          </p:cNvPr>
          <p:cNvGrpSpPr/>
          <p:nvPr/>
        </p:nvGrpSpPr>
        <p:grpSpPr>
          <a:xfrm>
            <a:off x="12829381" y="6327170"/>
            <a:ext cx="4122149" cy="2887289"/>
            <a:chOff x="12971706" y="5913134"/>
            <a:chExt cx="3552614" cy="2488368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A8BE607-E3BA-DA5C-B3D9-93E1AC1B4349}"/>
                </a:ext>
              </a:extLst>
            </p:cNvPr>
            <p:cNvSpPr txBox="1"/>
            <p:nvPr/>
          </p:nvSpPr>
          <p:spPr>
            <a:xfrm>
              <a:off x="13640625" y="8032170"/>
              <a:ext cx="2214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上位机</a:t>
              </a:r>
              <a:endParaRPr lang="zh-CN" altLang="en-US" sz="7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35797B3-0F27-AB5D-EB0C-1BCA44F1EEF7}"/>
                </a:ext>
              </a:extLst>
            </p:cNvPr>
            <p:cNvGrpSpPr/>
            <p:nvPr/>
          </p:nvGrpSpPr>
          <p:grpSpPr>
            <a:xfrm>
              <a:off x="12971706" y="5913134"/>
              <a:ext cx="3552614" cy="2035576"/>
              <a:chOff x="11781049" y="6568659"/>
              <a:chExt cx="3552614" cy="2035576"/>
            </a:xfrm>
          </p:grpSpPr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B9542EA0-5FDC-C920-81FF-D3BB24E42E2F}"/>
                  </a:ext>
                </a:extLst>
              </p:cNvPr>
              <p:cNvGrpSpPr/>
              <p:nvPr/>
            </p:nvGrpSpPr>
            <p:grpSpPr>
              <a:xfrm>
                <a:off x="12503149" y="6813550"/>
                <a:ext cx="2120901" cy="1187595"/>
                <a:chOff x="15709900" y="8448674"/>
                <a:chExt cx="3507335" cy="1885182"/>
              </a:xfrm>
            </p:grpSpPr>
            <p:pic>
              <p:nvPicPr>
                <p:cNvPr id="83" name="图片 82">
                  <a:extLst>
                    <a:ext uri="{FF2B5EF4-FFF2-40B4-BE49-F238E27FC236}">
                      <a16:creationId xmlns:a16="http://schemas.microsoft.com/office/drawing/2014/main" id="{9BC0BC31-211C-7AAE-B9FE-709109BA0D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775"/>
                <a:stretch>
                  <a:fillRect/>
                </a:stretch>
              </p:blipFill>
              <p:spPr>
                <a:xfrm>
                  <a:off x="15796172" y="8525270"/>
                  <a:ext cx="3421063" cy="1808586"/>
                </a:xfrm>
                <a:prstGeom prst="rect">
                  <a:avLst/>
                </a:prstGeom>
              </p:spPr>
            </p:pic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765D5711-CDF9-0152-73B8-AA9FD6B64E8E}"/>
                    </a:ext>
                  </a:extLst>
                </p:cNvPr>
                <p:cNvSpPr/>
                <p:nvPr/>
              </p:nvSpPr>
              <p:spPr>
                <a:xfrm>
                  <a:off x="15709900" y="8448674"/>
                  <a:ext cx="86271" cy="1885182"/>
                </a:xfrm>
                <a:prstGeom prst="rect">
                  <a:avLst/>
                </a:prstGeom>
                <a:solidFill>
                  <a:srgbClr val="0C0C0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A0B0C077-B62D-D61D-E6AB-F60C2C186472}"/>
                    </a:ext>
                  </a:extLst>
                </p:cNvPr>
                <p:cNvSpPr/>
                <p:nvPr/>
              </p:nvSpPr>
              <p:spPr>
                <a:xfrm>
                  <a:off x="15796171" y="8448674"/>
                  <a:ext cx="3421063" cy="76595"/>
                </a:xfrm>
                <a:prstGeom prst="rect">
                  <a:avLst/>
                </a:prstGeom>
                <a:solidFill>
                  <a:srgbClr val="0C0C0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6FF6C02C-24D5-CD3C-49BA-91A8DD4BD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81049" y="6568659"/>
                <a:ext cx="3552614" cy="2035576"/>
              </a:xfrm>
              <a:prstGeom prst="rect">
                <a:avLst/>
              </a:prstGeom>
            </p:spPr>
          </p:pic>
        </p:grpSp>
      </p:grp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00A7D476-DD72-ABFB-C7D2-536FB37B4C25}"/>
              </a:ext>
            </a:extLst>
          </p:cNvPr>
          <p:cNvCxnSpPr>
            <a:cxnSpLocks/>
            <a:stCxn id="74" idx="1"/>
          </p:cNvCxnSpPr>
          <p:nvPr/>
        </p:nvCxnSpPr>
        <p:spPr>
          <a:xfrm rot="10800000">
            <a:off x="11193227" y="5287138"/>
            <a:ext cx="1636155" cy="2220986"/>
          </a:xfrm>
          <a:prstGeom prst="curvedConnector2">
            <a:avLst/>
          </a:prstGeom>
          <a:ln w="285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D4876EF-D543-1CCB-56C4-4F308F48B9FA}"/>
              </a:ext>
            </a:extLst>
          </p:cNvPr>
          <p:cNvGrpSpPr/>
          <p:nvPr/>
        </p:nvGrpSpPr>
        <p:grpSpPr>
          <a:xfrm>
            <a:off x="13948717" y="1946647"/>
            <a:ext cx="2876295" cy="3205070"/>
            <a:chOff x="-48545" y="-1099126"/>
            <a:chExt cx="2876295" cy="3205070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9EBE9E1B-0A48-B5AB-7CF6-AA32316B9B92}"/>
                </a:ext>
              </a:extLst>
            </p:cNvPr>
            <p:cNvGrpSpPr/>
            <p:nvPr/>
          </p:nvGrpSpPr>
          <p:grpSpPr>
            <a:xfrm>
              <a:off x="-48545" y="-1099126"/>
              <a:ext cx="2876295" cy="2835737"/>
              <a:chOff x="14967791" y="2230286"/>
              <a:chExt cx="4046395" cy="3989337"/>
            </a:xfrm>
          </p:grpSpPr>
          <p:pic>
            <p:nvPicPr>
              <p:cNvPr id="96" name="图片 95">
                <a:extLst>
                  <a:ext uri="{FF2B5EF4-FFF2-40B4-BE49-F238E27FC236}">
                    <a16:creationId xmlns:a16="http://schemas.microsoft.com/office/drawing/2014/main" id="{03500999-2924-56C1-3F80-BDCFA72E72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67791" y="2230286"/>
                <a:ext cx="2451712" cy="2451712"/>
              </a:xfrm>
              <a:prstGeom prst="rect">
                <a:avLst/>
              </a:prstGeom>
            </p:spPr>
          </p:pic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2BEC0D36-1065-D318-277D-C0E2C0C37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67067" y="3972504"/>
                <a:ext cx="2247119" cy="2247119"/>
              </a:xfrm>
              <a:prstGeom prst="rect">
                <a:avLst/>
              </a:prstGeom>
            </p:spPr>
          </p:pic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D83BEED-3312-C7B4-1577-3E9D6C260D04}"/>
                </a:ext>
              </a:extLst>
            </p:cNvPr>
            <p:cNvSpPr txBox="1"/>
            <p:nvPr/>
          </p:nvSpPr>
          <p:spPr>
            <a:xfrm>
              <a:off x="274209" y="1736612"/>
              <a:ext cx="2214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工业相机</a:t>
              </a:r>
              <a:endParaRPr lang="zh-CN" altLang="en-US" sz="7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8" name="连接符: 肘形 24">
            <a:extLst>
              <a:ext uri="{FF2B5EF4-FFF2-40B4-BE49-F238E27FC236}">
                <a16:creationId xmlns:a16="http://schemas.microsoft.com/office/drawing/2014/main" id="{779E34B0-05F9-06FD-642E-F7209C5E1E15}"/>
              </a:ext>
            </a:extLst>
          </p:cNvPr>
          <p:cNvCxnSpPr>
            <a:cxnSpLocks/>
          </p:cNvCxnSpPr>
          <p:nvPr/>
        </p:nvCxnSpPr>
        <p:spPr>
          <a:xfrm>
            <a:off x="12006978" y="3549182"/>
            <a:ext cx="168207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9B0C0D8-25C7-00C7-2B1B-B97D0863002D}"/>
              </a:ext>
            </a:extLst>
          </p:cNvPr>
          <p:cNvSpPr txBox="1"/>
          <p:nvPr/>
        </p:nvSpPr>
        <p:spPr>
          <a:xfrm>
            <a:off x="11819755" y="3043605"/>
            <a:ext cx="22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USB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</a:t>
            </a:r>
            <a:endParaRPr lang="zh-CN" altLang="en-US" sz="7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B40CDE3-9196-EDF4-B753-CADE554003B8}"/>
              </a:ext>
            </a:extLst>
          </p:cNvPr>
          <p:cNvSpPr txBox="1"/>
          <p:nvPr/>
        </p:nvSpPr>
        <p:spPr>
          <a:xfrm>
            <a:off x="11819755" y="3632167"/>
            <a:ext cx="22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数据传输</a:t>
            </a:r>
            <a:endParaRPr lang="zh-CN" altLang="en-US" sz="7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25AA468D-872A-7D7C-02E4-A75DE2044BFF}"/>
              </a:ext>
            </a:extLst>
          </p:cNvPr>
          <p:cNvGrpSpPr/>
          <p:nvPr/>
        </p:nvGrpSpPr>
        <p:grpSpPr>
          <a:xfrm>
            <a:off x="10465337" y="7019234"/>
            <a:ext cx="1855920" cy="1385386"/>
            <a:chOff x="12004310" y="2795270"/>
            <a:chExt cx="2214775" cy="1653260"/>
          </a:xfrm>
        </p:grpSpPr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5EAF0BD8-2F01-35D7-C0BF-8ADD4EE2D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6" t="29832" r="49829" b="33310"/>
            <a:stretch>
              <a:fillRect/>
            </a:stretch>
          </p:blipFill>
          <p:spPr>
            <a:xfrm rot="5400000">
              <a:off x="12478880" y="2590514"/>
              <a:ext cx="1177234" cy="1586745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B30A0AD-17C1-7795-840E-E718D3B50A2F}"/>
                </a:ext>
              </a:extLst>
            </p:cNvPr>
            <p:cNvSpPr txBox="1"/>
            <p:nvPr/>
          </p:nvSpPr>
          <p:spPr>
            <a:xfrm>
              <a:off x="12004310" y="4079198"/>
              <a:ext cx="2214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无线网卡</a:t>
              </a:r>
              <a:endParaRPr lang="zh-CN" altLang="en-US" sz="7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0134067-8652-B44C-A390-67C4A1A288B5}"/>
              </a:ext>
            </a:extLst>
          </p:cNvPr>
          <p:cNvSpPr txBox="1"/>
          <p:nvPr/>
        </p:nvSpPr>
        <p:spPr>
          <a:xfrm>
            <a:off x="11733763" y="6442389"/>
            <a:ext cx="12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WIFI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传输</a:t>
            </a:r>
            <a:endParaRPr lang="zh-CN" altLang="en-US" sz="7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2" name="图片 4">
            <a:extLst>
              <a:ext uri="{FF2B5EF4-FFF2-40B4-BE49-F238E27FC236}">
                <a16:creationId xmlns:a16="http://schemas.microsoft.com/office/drawing/2014/main" id="{FFF685EB-04BE-1047-B363-CF3A8016D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80" t="16886" r="7815" b="7406"/>
          <a:stretch>
            <a:fillRect/>
          </a:stretch>
        </p:blipFill>
        <p:spPr bwMode="auto">
          <a:xfrm>
            <a:off x="1519412" y="1736290"/>
            <a:ext cx="1784273" cy="16352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1CC1761D-82A0-9A3F-57A8-178F2E452EE8}"/>
              </a:ext>
            </a:extLst>
          </p:cNvPr>
          <p:cNvSpPr txBox="1"/>
          <p:nvPr/>
        </p:nvSpPr>
        <p:spPr>
          <a:xfrm>
            <a:off x="1364546" y="5344561"/>
            <a:ext cx="2148375" cy="508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algn="ctr">
              <a:defRPr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激光雷达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6C4F8F23-D1F3-C577-BBD7-D1A5115BDEFE}"/>
              </a:ext>
            </a:extLst>
          </p:cNvPr>
          <p:cNvSpPr/>
          <p:nvPr/>
        </p:nvSpPr>
        <p:spPr>
          <a:xfrm>
            <a:off x="1327964" y="1467594"/>
            <a:ext cx="4630544" cy="4354915"/>
          </a:xfrm>
          <a:prstGeom prst="roundRect">
            <a:avLst>
              <a:gd name="adj" fmla="val 13271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28C7F60F-06A8-2DF3-8B55-9F78FCF8CA5F}"/>
              </a:ext>
            </a:extLst>
          </p:cNvPr>
          <p:cNvSpPr txBox="1"/>
          <p:nvPr/>
        </p:nvSpPr>
        <p:spPr>
          <a:xfrm>
            <a:off x="4703120" y="1681098"/>
            <a:ext cx="1044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同网段</a:t>
            </a:r>
            <a:endParaRPr lang="zh-CN" altLang="en-US" sz="800" b="1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DAF0D5-2D49-5256-0BCF-A885D5BF69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4" t="14076" r="12800" b="16266"/>
          <a:stretch>
            <a:fillRect/>
          </a:stretch>
        </p:blipFill>
        <p:spPr>
          <a:xfrm>
            <a:off x="4115063" y="2716743"/>
            <a:ext cx="1784273" cy="1707357"/>
          </a:xfrm>
          <a:prstGeom prst="rect">
            <a:avLst/>
          </a:prstGeom>
        </p:spPr>
      </p:pic>
      <p:cxnSp>
        <p:nvCxnSpPr>
          <p:cNvPr id="9" name="连接符: 肘形 24">
            <a:extLst>
              <a:ext uri="{FF2B5EF4-FFF2-40B4-BE49-F238E27FC236}">
                <a16:creationId xmlns:a16="http://schemas.microsoft.com/office/drawing/2014/main" id="{11C20356-89F3-7F8A-18A1-D70A51460108}"/>
              </a:ext>
            </a:extLst>
          </p:cNvPr>
          <p:cNvCxnSpPr>
            <a:cxnSpLocks/>
            <a:stCxn id="52" idx="3"/>
            <a:endCxn id="7" idx="1"/>
          </p:cNvCxnSpPr>
          <p:nvPr/>
        </p:nvCxnSpPr>
        <p:spPr>
          <a:xfrm>
            <a:off x="3303685" y="2553939"/>
            <a:ext cx="811378" cy="101648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24">
            <a:extLst>
              <a:ext uri="{FF2B5EF4-FFF2-40B4-BE49-F238E27FC236}">
                <a16:creationId xmlns:a16="http://schemas.microsoft.com/office/drawing/2014/main" id="{74E2CA90-7194-9342-B22B-AD903A36A27E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3303685" y="3570422"/>
            <a:ext cx="811378" cy="90210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4">
            <a:extLst>
              <a:ext uri="{FF2B5EF4-FFF2-40B4-BE49-F238E27FC236}">
                <a16:creationId xmlns:a16="http://schemas.microsoft.com/office/drawing/2014/main" id="{6362BD74-558A-E8B0-5BE0-AE92B9FD8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80" t="16886" r="7815" b="7406"/>
          <a:stretch>
            <a:fillRect/>
          </a:stretch>
        </p:blipFill>
        <p:spPr bwMode="auto">
          <a:xfrm>
            <a:off x="1519412" y="3654878"/>
            <a:ext cx="1784273" cy="16352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46BCF07-D3B2-20D0-A0BB-002E1D477D58}"/>
              </a:ext>
            </a:extLst>
          </p:cNvPr>
          <p:cNvSpPr txBox="1"/>
          <p:nvPr/>
        </p:nvSpPr>
        <p:spPr>
          <a:xfrm>
            <a:off x="4267700" y="4424100"/>
            <a:ext cx="1414904" cy="508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algn="ctr">
              <a:defRPr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交换机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EB6C5F-BA59-D6D2-CC7A-6A43CCD21C51}"/>
              </a:ext>
            </a:extLst>
          </p:cNvPr>
          <p:cNvSpPr txBox="1"/>
          <p:nvPr/>
        </p:nvSpPr>
        <p:spPr>
          <a:xfrm>
            <a:off x="2495166" y="6692558"/>
            <a:ext cx="80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800">
                <a:ea typeface="微软雅黑" panose="020B0503020204020204" pitchFamily="34" charset="-122"/>
              </a:rPr>
              <a:t>供电</a:t>
            </a:r>
          </a:p>
        </p:txBody>
      </p:sp>
    </p:spTree>
    <p:extLst>
      <p:ext uri="{BB962C8B-B14F-4D97-AF65-F5344CB8AC3E}">
        <p14:creationId xmlns:p14="http://schemas.microsoft.com/office/powerpoint/2010/main" val="19760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0C9D-E9C0-13FB-4B79-9E47A0CC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7086928-BE1F-4232-1DA5-B14974C6A28B}"/>
              </a:ext>
            </a:extLst>
          </p:cNvPr>
          <p:cNvCxnSpPr>
            <a:cxnSpLocks/>
          </p:cNvCxnSpPr>
          <p:nvPr/>
        </p:nvCxnSpPr>
        <p:spPr>
          <a:xfrm>
            <a:off x="1498600" y="3113647"/>
            <a:ext cx="14685059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CAE3054-24F1-8F54-23A8-65F8200375E4}"/>
              </a:ext>
            </a:extLst>
          </p:cNvPr>
          <p:cNvCxnSpPr>
            <a:cxnSpLocks/>
          </p:cNvCxnSpPr>
          <p:nvPr/>
        </p:nvCxnSpPr>
        <p:spPr>
          <a:xfrm flipV="1">
            <a:off x="2329115" y="3113647"/>
            <a:ext cx="2203742" cy="495430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B8B580D-5801-782E-424F-9DFF3BD2E3DD}"/>
              </a:ext>
            </a:extLst>
          </p:cNvPr>
          <p:cNvCxnSpPr>
            <a:cxnSpLocks/>
          </p:cNvCxnSpPr>
          <p:nvPr/>
        </p:nvCxnSpPr>
        <p:spPr>
          <a:xfrm flipV="1">
            <a:off x="4035370" y="3113647"/>
            <a:ext cx="2203742" cy="4954308"/>
          </a:xfrm>
          <a:prstGeom prst="straightConnector1">
            <a:avLst/>
          </a:prstGeom>
          <a:ln w="19050">
            <a:prstDash val="dash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5E18316-829E-FC0C-2755-CA0ACA78B48E}"/>
              </a:ext>
            </a:extLst>
          </p:cNvPr>
          <p:cNvSpPr txBox="1"/>
          <p:nvPr/>
        </p:nvSpPr>
        <p:spPr>
          <a:xfrm>
            <a:off x="1714552" y="5057144"/>
            <a:ext cx="1905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同步报文</a:t>
            </a:r>
            <a:endParaRPr lang="zh-CN" altLang="en-US" sz="240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CB24C3-7937-D610-56AE-A0BE35165918}"/>
              </a:ext>
            </a:extLst>
          </p:cNvPr>
          <p:cNvSpPr txBox="1"/>
          <p:nvPr/>
        </p:nvSpPr>
        <p:spPr>
          <a:xfrm>
            <a:off x="5099234" y="5057144"/>
            <a:ext cx="2625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跟进报文</a:t>
            </a:r>
            <a:endParaRPr lang="zh-CN" altLang="en-US" sz="240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F3087DA-D262-50A9-D3CA-5413C5329396}"/>
              </a:ext>
            </a:extLst>
          </p:cNvPr>
          <p:cNvCxnSpPr>
            <a:cxnSpLocks/>
          </p:cNvCxnSpPr>
          <p:nvPr/>
        </p:nvCxnSpPr>
        <p:spPr>
          <a:xfrm>
            <a:off x="9030793" y="3113647"/>
            <a:ext cx="2203742" cy="495430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FCD52A3-2D27-8BBC-15AF-294C8E667C87}"/>
              </a:ext>
            </a:extLst>
          </p:cNvPr>
          <p:cNvCxnSpPr>
            <a:cxnSpLocks/>
          </p:cNvCxnSpPr>
          <p:nvPr/>
        </p:nvCxnSpPr>
        <p:spPr>
          <a:xfrm flipV="1">
            <a:off x="12132888" y="3113647"/>
            <a:ext cx="2203742" cy="4954308"/>
          </a:xfrm>
          <a:prstGeom prst="straightConnector1">
            <a:avLst/>
          </a:prstGeom>
          <a:ln w="19050">
            <a:prstDash val="dash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429987F-2B87-A637-7D14-651E2A5BACFF}"/>
              </a:ext>
            </a:extLst>
          </p:cNvPr>
          <p:cNvSpPr txBox="1"/>
          <p:nvPr/>
        </p:nvSpPr>
        <p:spPr>
          <a:xfrm>
            <a:off x="10017633" y="5057144"/>
            <a:ext cx="2572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延迟请求</a:t>
            </a:r>
            <a:endParaRPr lang="zh-CN" altLang="en-US" sz="240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673561-2417-65B9-B637-6F30419F24CF}"/>
              </a:ext>
            </a:extLst>
          </p:cNvPr>
          <p:cNvSpPr txBox="1"/>
          <p:nvPr/>
        </p:nvSpPr>
        <p:spPr>
          <a:xfrm>
            <a:off x="13197241" y="5057144"/>
            <a:ext cx="299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延迟响应</a:t>
            </a:r>
            <a:endParaRPr lang="zh-CN" altLang="en-US" sz="240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0B1E6C3-0B6C-45AA-827A-87C54FF07492}"/>
              </a:ext>
            </a:extLst>
          </p:cNvPr>
          <p:cNvCxnSpPr>
            <a:cxnSpLocks/>
          </p:cNvCxnSpPr>
          <p:nvPr/>
        </p:nvCxnSpPr>
        <p:spPr>
          <a:xfrm>
            <a:off x="1498600" y="8067955"/>
            <a:ext cx="14685059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999B7FA-8A53-25EC-54BB-EB676299AEE4}"/>
              </a:ext>
            </a:extLst>
          </p:cNvPr>
          <p:cNvSpPr txBox="1"/>
          <p:nvPr/>
        </p:nvSpPr>
        <p:spPr>
          <a:xfrm>
            <a:off x="1813259" y="8124762"/>
            <a:ext cx="1031714" cy="66329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ts val="132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800" b="1">
              <a:solidFill>
                <a:srgbClr val="2F559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FE0E62-AFB7-5BBD-59B0-108188356A3B}"/>
              </a:ext>
            </a:extLst>
          </p:cNvPr>
          <p:cNvSpPr txBox="1"/>
          <p:nvPr/>
        </p:nvSpPr>
        <p:spPr>
          <a:xfrm>
            <a:off x="4012495" y="2409507"/>
            <a:ext cx="1031714" cy="66329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ts val="132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800" b="1">
              <a:solidFill>
                <a:srgbClr val="2F559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2A8D65-DFBE-B8CC-6398-1971343811B8}"/>
              </a:ext>
            </a:extLst>
          </p:cNvPr>
          <p:cNvSpPr txBox="1"/>
          <p:nvPr/>
        </p:nvSpPr>
        <p:spPr>
          <a:xfrm>
            <a:off x="8514934" y="2409507"/>
            <a:ext cx="1031714" cy="66329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ts val="132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800" b="1">
              <a:solidFill>
                <a:srgbClr val="2F559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907032-65EB-19C4-437C-13BEF932786C}"/>
              </a:ext>
            </a:extLst>
          </p:cNvPr>
          <p:cNvSpPr txBox="1"/>
          <p:nvPr/>
        </p:nvSpPr>
        <p:spPr>
          <a:xfrm>
            <a:off x="10737048" y="8124762"/>
            <a:ext cx="1031714" cy="66329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ts val="132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2800" b="1">
              <a:solidFill>
                <a:srgbClr val="2F559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5DDA26-E9CB-BB35-603F-6A8B37F10965}"/>
              </a:ext>
            </a:extLst>
          </p:cNvPr>
          <p:cNvSpPr txBox="1"/>
          <p:nvPr/>
        </p:nvSpPr>
        <p:spPr>
          <a:xfrm>
            <a:off x="14236372" y="7427944"/>
            <a:ext cx="299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主时钟时间</a:t>
            </a:r>
            <a:endParaRPr lang="zh-CN" altLang="en-US" sz="2400" b="1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D5668E-DC99-73A6-2317-97BCE48322BE}"/>
              </a:ext>
            </a:extLst>
          </p:cNvPr>
          <p:cNvSpPr txBox="1"/>
          <p:nvPr/>
        </p:nvSpPr>
        <p:spPr>
          <a:xfrm>
            <a:off x="14236372" y="2409507"/>
            <a:ext cx="299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从时钟时间</a:t>
            </a:r>
            <a:endParaRPr lang="zh-CN" altLang="en-US" sz="2400" b="1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62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6D98-7B1B-2D20-C23D-20966A28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40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4506-3AA5-D083-0D76-2CACC1F4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710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D53D-BC72-01C8-BCD4-4157539E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42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0803-2493-5466-0589-5CDA6D5B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45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D065-2A52-1C7A-7F89-2C2EBEE9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52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BAE4-7D55-DC74-8B0D-6EA2C240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7886E71D-3F4D-272D-2BC2-33D8C134AB10}"/>
              </a:ext>
            </a:extLst>
          </p:cNvPr>
          <p:cNvSpPr/>
          <p:nvPr/>
        </p:nvSpPr>
        <p:spPr>
          <a:xfrm>
            <a:off x="9000331" y="4781273"/>
            <a:ext cx="1782813" cy="1782813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818B5385-BF61-D24A-95D7-C1986DF68E29}"/>
              </a:ext>
            </a:extLst>
          </p:cNvPr>
          <p:cNvSpPr/>
          <p:nvPr/>
        </p:nvSpPr>
        <p:spPr>
          <a:xfrm>
            <a:off x="7327491" y="5618679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连接符: 肘形 24">
            <a:extLst>
              <a:ext uri="{FF2B5EF4-FFF2-40B4-BE49-F238E27FC236}">
                <a16:creationId xmlns:a16="http://schemas.microsoft.com/office/drawing/2014/main" id="{0A51DA4B-6FCE-129B-50BA-4D17BEEC1F00}"/>
              </a:ext>
            </a:extLst>
          </p:cNvPr>
          <p:cNvCxnSpPr>
            <a:cxnSpLocks/>
          </p:cNvCxnSpPr>
          <p:nvPr/>
        </p:nvCxnSpPr>
        <p:spPr>
          <a:xfrm>
            <a:off x="7542690" y="5672680"/>
            <a:ext cx="136762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5A8438D6-16AD-EB3C-328B-3296AE7C71F7}"/>
              </a:ext>
            </a:extLst>
          </p:cNvPr>
          <p:cNvSpPr/>
          <p:nvPr/>
        </p:nvSpPr>
        <p:spPr>
          <a:xfrm>
            <a:off x="9837737" y="5618679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9DEC70C-629F-5048-3B03-94B263037C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61" y="5086866"/>
          <a:ext cx="738629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228600" progId="Equation.DSMT4">
                  <p:embed/>
                </p:oleObj>
              </mc:Choice>
              <mc:Fallback>
                <p:oleObj name="Equation" r:id="rId2" imgW="31716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9DEC70C-629F-5048-3B03-94B263037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04061" y="5086866"/>
                        <a:ext cx="738629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E235190-8CD5-E61C-A14B-A3C368667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4756" y="5224689"/>
          <a:ext cx="569228" cy="393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228600" progId="Equation.DSMT4">
                  <p:embed/>
                </p:oleObj>
              </mc:Choice>
              <mc:Fallback>
                <p:oleObj name="Equation" r:id="rId4" imgW="33012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E235190-8CD5-E61C-A14B-A3C3686676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14756" y="5224689"/>
                        <a:ext cx="569228" cy="393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7357FD8-610C-1242-0AE8-D33EC5B368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7724" y="5205929"/>
          <a:ext cx="3540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77480" progId="Equation.DSMT4">
                  <p:embed/>
                </p:oleObj>
              </mc:Choice>
              <mc:Fallback>
                <p:oleObj name="Equation" r:id="rId6" imgW="152280" imgH="1774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17357FD8-610C-1242-0AE8-D33EC5B36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37724" y="5205929"/>
                        <a:ext cx="354013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395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6B8E-7DE7-0F1D-0729-8DE396D8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E1C3D74D-37EF-02F6-4AFC-D8E226EAF4A7}"/>
              </a:ext>
            </a:extLst>
          </p:cNvPr>
          <p:cNvSpPr/>
          <p:nvPr/>
        </p:nvSpPr>
        <p:spPr>
          <a:xfrm>
            <a:off x="9562560" y="4508474"/>
            <a:ext cx="1782813" cy="1782813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8504B716-6280-7B42-C099-A9AC24EEAB51}"/>
              </a:ext>
            </a:extLst>
          </p:cNvPr>
          <p:cNvSpPr/>
          <p:nvPr/>
        </p:nvSpPr>
        <p:spPr>
          <a:xfrm>
            <a:off x="10399966" y="5345880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353B61C0-91AA-FAD2-9775-ABB843560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4887" y="4941113"/>
          <a:ext cx="7461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241200" progId="Equation.DSMT4">
                  <p:embed/>
                </p:oleObj>
              </mc:Choice>
              <mc:Fallback>
                <p:oleObj name="Equation" r:id="rId2" imgW="431640" imgH="24120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353B61C0-91AA-FAD2-9775-ABB843560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4887" y="4941113"/>
                        <a:ext cx="74612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39A40F4E-6A26-744A-C036-50B1D5574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9953" y="4933130"/>
          <a:ext cx="3540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77480" progId="Equation.DSMT4">
                  <p:embed/>
                </p:oleObj>
              </mc:Choice>
              <mc:Fallback>
                <p:oleObj name="Equation" r:id="rId4" imgW="152280" imgH="17748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39A40F4E-6A26-744A-C036-50B1D5574F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99953" y="4933130"/>
                        <a:ext cx="354013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流程图: 接点 63">
            <a:extLst>
              <a:ext uri="{FF2B5EF4-FFF2-40B4-BE49-F238E27FC236}">
                <a16:creationId xmlns:a16="http://schemas.microsoft.com/office/drawing/2014/main" id="{902444D7-0D3B-5CFB-B5F4-CA8BC8E28B86}"/>
              </a:ext>
            </a:extLst>
          </p:cNvPr>
          <p:cNvSpPr/>
          <p:nvPr/>
        </p:nvSpPr>
        <p:spPr>
          <a:xfrm>
            <a:off x="6749827" y="4769200"/>
            <a:ext cx="1261360" cy="1261360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接点 64">
            <a:extLst>
              <a:ext uri="{FF2B5EF4-FFF2-40B4-BE49-F238E27FC236}">
                <a16:creationId xmlns:a16="http://schemas.microsoft.com/office/drawing/2014/main" id="{635A4A89-21E8-0F9C-2439-29DDDDB623CA}"/>
              </a:ext>
            </a:extLst>
          </p:cNvPr>
          <p:cNvSpPr/>
          <p:nvPr/>
        </p:nvSpPr>
        <p:spPr>
          <a:xfrm>
            <a:off x="7322854" y="5345880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D16A0DE6-462F-60EC-E103-C5DCEC158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9016" y="4947794"/>
          <a:ext cx="3825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64880" progId="Equation.DSMT4">
                  <p:embed/>
                </p:oleObj>
              </mc:Choice>
              <mc:Fallback>
                <p:oleObj name="Equation" r:id="rId6" imgW="164880" imgH="16488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D16A0DE6-462F-60EC-E103-C5DCEC158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09016" y="4947794"/>
                        <a:ext cx="382587" cy="382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" name="连接符: 肘形 24">
            <a:extLst>
              <a:ext uri="{FF2B5EF4-FFF2-40B4-BE49-F238E27FC236}">
                <a16:creationId xmlns:a16="http://schemas.microsoft.com/office/drawing/2014/main" id="{9486A92D-614B-7572-60C3-3DA2285F95C6}"/>
              </a:ext>
            </a:extLst>
          </p:cNvPr>
          <p:cNvCxnSpPr>
            <a:cxnSpLocks/>
          </p:cNvCxnSpPr>
          <p:nvPr/>
        </p:nvCxnSpPr>
        <p:spPr>
          <a:xfrm>
            <a:off x="8104919" y="5399880"/>
            <a:ext cx="1367627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47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DF21-2B7F-2370-C467-D21E9423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8C782D00-6316-8DDA-883D-6AD03E588574}"/>
              </a:ext>
            </a:extLst>
          </p:cNvPr>
          <p:cNvSpPr/>
          <p:nvPr/>
        </p:nvSpPr>
        <p:spPr>
          <a:xfrm>
            <a:off x="6638717" y="4138521"/>
            <a:ext cx="1261360" cy="1261360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253DC10B-E44A-5298-AFBF-D131F7142BC0}"/>
              </a:ext>
            </a:extLst>
          </p:cNvPr>
          <p:cNvSpPr/>
          <p:nvPr/>
        </p:nvSpPr>
        <p:spPr>
          <a:xfrm>
            <a:off x="7211744" y="4715201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30AF1BCC-4A56-9545-5EFF-2A25E96BEA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5627" y="4288543"/>
          <a:ext cx="4699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040" imgH="190440" progId="Equation.DSMT4">
                  <p:embed/>
                </p:oleObj>
              </mc:Choice>
              <mc:Fallback>
                <p:oleObj name="Equation" r:id="rId2" imgW="203040" imgH="19044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30AF1BCC-4A56-9545-5EFF-2A25E96BE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5627" y="4288543"/>
                        <a:ext cx="469900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流程图: 接点 67">
            <a:extLst>
              <a:ext uri="{FF2B5EF4-FFF2-40B4-BE49-F238E27FC236}">
                <a16:creationId xmlns:a16="http://schemas.microsoft.com/office/drawing/2014/main" id="{77D03497-A41D-42C6-22EA-E7004C0DE9DA}"/>
              </a:ext>
            </a:extLst>
          </p:cNvPr>
          <p:cNvSpPr/>
          <p:nvPr/>
        </p:nvSpPr>
        <p:spPr>
          <a:xfrm>
            <a:off x="9954978" y="5092251"/>
            <a:ext cx="1782813" cy="1782813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接点 68">
            <a:extLst>
              <a:ext uri="{FF2B5EF4-FFF2-40B4-BE49-F238E27FC236}">
                <a16:creationId xmlns:a16="http://schemas.microsoft.com/office/drawing/2014/main" id="{A76D8C6E-8D31-2771-2762-0B34CB3E9999}"/>
              </a:ext>
            </a:extLst>
          </p:cNvPr>
          <p:cNvSpPr/>
          <p:nvPr/>
        </p:nvSpPr>
        <p:spPr>
          <a:xfrm>
            <a:off x="10792384" y="5929657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06B6ABE8-8447-1B1D-A45A-DDC662416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92371" y="5516907"/>
          <a:ext cx="3540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77480" progId="Equation.DSMT4">
                  <p:embed/>
                </p:oleObj>
              </mc:Choice>
              <mc:Fallback>
                <p:oleObj name="Equation" r:id="rId4" imgW="152280" imgH="17748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06B6ABE8-8447-1B1D-A45A-DDC662416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92371" y="5516907"/>
                        <a:ext cx="354013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流程图: 接点 78">
            <a:extLst>
              <a:ext uri="{FF2B5EF4-FFF2-40B4-BE49-F238E27FC236}">
                <a16:creationId xmlns:a16="http://schemas.microsoft.com/office/drawing/2014/main" id="{09A96C39-04E5-C1F6-B003-3754A694CAA2}"/>
              </a:ext>
            </a:extLst>
          </p:cNvPr>
          <p:cNvSpPr/>
          <p:nvPr/>
        </p:nvSpPr>
        <p:spPr>
          <a:xfrm>
            <a:off x="5618489" y="5302429"/>
            <a:ext cx="1261360" cy="1261360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流程图: 接点 79">
            <a:extLst>
              <a:ext uri="{FF2B5EF4-FFF2-40B4-BE49-F238E27FC236}">
                <a16:creationId xmlns:a16="http://schemas.microsoft.com/office/drawing/2014/main" id="{DC2F3A8C-3C20-9AF9-0A95-D03E5F04B621}"/>
              </a:ext>
            </a:extLst>
          </p:cNvPr>
          <p:cNvSpPr/>
          <p:nvPr/>
        </p:nvSpPr>
        <p:spPr>
          <a:xfrm>
            <a:off x="6191516" y="5879109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D78E439D-040C-7580-C5E6-D177F933F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7678" y="5481023"/>
          <a:ext cx="3825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64880" progId="Equation.DSMT4">
                  <p:embed/>
                </p:oleObj>
              </mc:Choice>
              <mc:Fallback>
                <p:oleObj name="Equation" r:id="rId6" imgW="164880" imgH="16488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D78E439D-040C-7580-C5E6-D177F933F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77678" y="5481023"/>
                        <a:ext cx="382587" cy="382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E95BC3C-F4CB-B61A-19B2-8FC5BA1A1BF6}"/>
              </a:ext>
            </a:extLst>
          </p:cNvPr>
          <p:cNvCxnSpPr>
            <a:cxnSpLocks/>
            <a:stCxn id="80" idx="7"/>
          </p:cNvCxnSpPr>
          <p:nvPr/>
        </p:nvCxnSpPr>
        <p:spPr>
          <a:xfrm flipV="1">
            <a:off x="6283700" y="4827799"/>
            <a:ext cx="926143" cy="1067126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11A25DE-0A32-A0F6-2EB7-3C5C61B7B595}"/>
              </a:ext>
            </a:extLst>
          </p:cNvPr>
          <p:cNvCxnSpPr>
            <a:cxnSpLocks/>
          </p:cNvCxnSpPr>
          <p:nvPr/>
        </p:nvCxnSpPr>
        <p:spPr>
          <a:xfrm flipV="1">
            <a:off x="5653362" y="5975868"/>
            <a:ext cx="560443" cy="65133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流程图: 接点 83">
            <a:extLst>
              <a:ext uri="{FF2B5EF4-FFF2-40B4-BE49-F238E27FC236}">
                <a16:creationId xmlns:a16="http://schemas.microsoft.com/office/drawing/2014/main" id="{90A88F99-AE99-DACB-70F9-F242364B288A}"/>
              </a:ext>
            </a:extLst>
          </p:cNvPr>
          <p:cNvSpPr/>
          <p:nvPr/>
        </p:nvSpPr>
        <p:spPr>
          <a:xfrm>
            <a:off x="8094402" y="4327861"/>
            <a:ext cx="1782813" cy="1782813"/>
          </a:xfrm>
          <a:prstGeom prst="flowChartConnector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954B6609-7B60-4FC4-44DC-10D7E5D788F3}"/>
              </a:ext>
            </a:extLst>
          </p:cNvPr>
          <p:cNvSpPr/>
          <p:nvPr/>
        </p:nvSpPr>
        <p:spPr>
          <a:xfrm>
            <a:off x="8931808" y="5165267"/>
            <a:ext cx="108000" cy="1080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8FBA1199-5C0A-EAAC-668C-BE16942AB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3492" y="4723236"/>
          <a:ext cx="471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03040" progId="Equation.DSMT4">
                  <p:embed/>
                </p:oleObj>
              </mc:Choice>
              <mc:Fallback>
                <p:oleObj name="Equation" r:id="rId8" imgW="203040" imgH="20304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8FBA1199-5C0A-EAAC-668C-BE16942AB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73492" y="4723236"/>
                        <a:ext cx="471488" cy="471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7" name="连接符: 肘形 24">
            <a:extLst>
              <a:ext uri="{FF2B5EF4-FFF2-40B4-BE49-F238E27FC236}">
                <a16:creationId xmlns:a16="http://schemas.microsoft.com/office/drawing/2014/main" id="{05D7415A-712D-B79C-DEB0-7EAA22D42E8D}"/>
              </a:ext>
            </a:extLst>
          </p:cNvPr>
          <p:cNvCxnSpPr>
            <a:cxnSpLocks/>
          </p:cNvCxnSpPr>
          <p:nvPr/>
        </p:nvCxnSpPr>
        <p:spPr>
          <a:xfrm>
            <a:off x="7359359" y="4780997"/>
            <a:ext cx="1536105" cy="4137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DB3AA76D-88B3-AE47-D25E-8C8457685A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2001" y="4945437"/>
          <a:ext cx="5492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160" imgH="241200" progId="Equation.DSMT4">
                  <p:embed/>
                </p:oleObj>
              </mc:Choice>
              <mc:Fallback>
                <p:oleObj name="Equation" r:id="rId10" imgW="317160" imgH="241200" progId="Equation.DSMT4">
                  <p:embed/>
                  <p:pic>
                    <p:nvPicPr>
                      <p:cNvPr id="89" name="对象 88">
                        <a:extLst>
                          <a:ext uri="{FF2B5EF4-FFF2-40B4-BE49-F238E27FC236}">
                            <a16:creationId xmlns:a16="http://schemas.microsoft.com/office/drawing/2014/main" id="{DB3AA76D-88B3-AE47-D25E-8C8457685A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42001" y="4945437"/>
                        <a:ext cx="54927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DE13C1C4-D6CA-3CBE-D6DB-A2244D796206}"/>
              </a:ext>
            </a:extLst>
          </p:cNvPr>
          <p:cNvCxnSpPr>
            <a:cxnSpLocks/>
          </p:cNvCxnSpPr>
          <p:nvPr/>
        </p:nvCxnSpPr>
        <p:spPr>
          <a:xfrm flipH="1" flipV="1">
            <a:off x="9060564" y="5245605"/>
            <a:ext cx="1731820" cy="71543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865B0CB-27E9-CA70-AEAE-F89A87DA9D5A}"/>
              </a:ext>
            </a:extLst>
          </p:cNvPr>
          <p:cNvCxnSpPr>
            <a:cxnSpLocks/>
          </p:cNvCxnSpPr>
          <p:nvPr/>
        </p:nvCxnSpPr>
        <p:spPr>
          <a:xfrm flipH="1" flipV="1">
            <a:off x="10900384" y="6002749"/>
            <a:ext cx="1109170" cy="45821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4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57A49134-879B-4950-903A-E0877778C2CF}"/>
              </a:ext>
            </a:extLst>
          </p:cNvPr>
          <p:cNvCxnSpPr>
            <a:cxnSpLocks/>
            <a:stCxn id="9" idx="3"/>
            <a:endCxn id="45" idx="1"/>
          </p:cNvCxnSpPr>
          <p:nvPr/>
        </p:nvCxnSpPr>
        <p:spPr>
          <a:xfrm flipV="1">
            <a:off x="6953332" y="4570756"/>
            <a:ext cx="2347241" cy="1255724"/>
          </a:xfrm>
          <a:prstGeom prst="curvedConnector3">
            <a:avLst>
              <a:gd name="adj1" fmla="val 524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89D29D5-69C1-131A-FA40-0038E1086A44}"/>
              </a:ext>
            </a:extLst>
          </p:cNvPr>
          <p:cNvSpPr/>
          <p:nvPr/>
        </p:nvSpPr>
        <p:spPr>
          <a:xfrm>
            <a:off x="3782422" y="6285726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98865-6707-93E5-1F6C-9F5B782B5424}"/>
              </a:ext>
            </a:extLst>
          </p:cNvPr>
          <p:cNvSpPr/>
          <p:nvPr/>
        </p:nvSpPr>
        <p:spPr>
          <a:xfrm>
            <a:off x="3782423" y="5041981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IMU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C77BBA-8AB6-7113-AD89-1249974EED5B}"/>
              </a:ext>
            </a:extLst>
          </p:cNvPr>
          <p:cNvSpPr/>
          <p:nvPr/>
        </p:nvSpPr>
        <p:spPr>
          <a:xfrm>
            <a:off x="3782422" y="5663853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GNSS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522F82-014C-511B-FCF1-99C41446F2F4}"/>
              </a:ext>
            </a:extLst>
          </p:cNvPr>
          <p:cNvSpPr/>
          <p:nvPr/>
        </p:nvSpPr>
        <p:spPr>
          <a:xfrm>
            <a:off x="3782422" y="4408132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激光</a:t>
            </a:r>
          </a:p>
        </p:txBody>
      </p:sp>
      <p:sp>
        <p:nvSpPr>
          <p:cNvPr id="8" name="十字形 7">
            <a:extLst>
              <a:ext uri="{FF2B5EF4-FFF2-40B4-BE49-F238E27FC236}">
                <a16:creationId xmlns:a16="http://schemas.microsoft.com/office/drawing/2014/main" id="{EF4ACD1C-ED31-8B97-9FEA-2FD21DC6B4A5}"/>
              </a:ext>
            </a:extLst>
          </p:cNvPr>
          <p:cNvSpPr/>
          <p:nvPr/>
        </p:nvSpPr>
        <p:spPr>
          <a:xfrm>
            <a:off x="4329590" y="5453919"/>
            <a:ext cx="121701" cy="123762"/>
          </a:xfrm>
          <a:prstGeom prst="plus">
            <a:avLst>
              <a:gd name="adj" fmla="val 4818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AB51C6-F1B0-8117-EAEC-2C051BA7108E}"/>
              </a:ext>
            </a:extLst>
          </p:cNvPr>
          <p:cNvSpPr/>
          <p:nvPr/>
        </p:nvSpPr>
        <p:spPr>
          <a:xfrm>
            <a:off x="5738222" y="5663853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吊钩轨迹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6C23DE08-FBD7-DC55-2C05-73380D4AB372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997532" y="5204608"/>
            <a:ext cx="740690" cy="621872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506F346-6D40-EB7C-DA0D-61BA72A8AAF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4997529" y="5826480"/>
            <a:ext cx="740692" cy="621874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1EEEB411-74DE-F851-C7E1-A7D16DAF364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4997531" y="5826482"/>
            <a:ext cx="740691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F797EC2-3253-8F78-26F0-1F422AE7BAC6}"/>
              </a:ext>
            </a:extLst>
          </p:cNvPr>
          <p:cNvSpPr/>
          <p:nvPr/>
        </p:nvSpPr>
        <p:spPr>
          <a:xfrm>
            <a:off x="7452722" y="5663851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吊物轨迹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302A022-D31E-6DC1-5563-E50E73CF61B0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6953332" y="5826481"/>
            <a:ext cx="499391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57B3EF9F-31EA-4A7D-371A-D74837BCCD7A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 flipV="1">
            <a:off x="4997530" y="6448352"/>
            <a:ext cx="2455192" cy="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748CF44B-0379-509E-2488-7B17171013F9}"/>
              </a:ext>
            </a:extLst>
          </p:cNvPr>
          <p:cNvSpPr/>
          <p:nvPr/>
        </p:nvSpPr>
        <p:spPr>
          <a:xfrm>
            <a:off x="7452722" y="6285724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吊物种类</a:t>
            </a:r>
          </a:p>
        </p:txBody>
      </p:sp>
      <p:sp>
        <p:nvSpPr>
          <p:cNvPr id="32" name="十字形 31">
            <a:extLst>
              <a:ext uri="{FF2B5EF4-FFF2-40B4-BE49-F238E27FC236}">
                <a16:creationId xmlns:a16="http://schemas.microsoft.com/office/drawing/2014/main" id="{0F102D47-2F46-EB76-B9DB-A79D46204296}"/>
              </a:ext>
            </a:extLst>
          </p:cNvPr>
          <p:cNvSpPr/>
          <p:nvPr/>
        </p:nvSpPr>
        <p:spPr>
          <a:xfrm>
            <a:off x="7999426" y="6075534"/>
            <a:ext cx="121701" cy="123762"/>
          </a:xfrm>
          <a:prstGeom prst="plus">
            <a:avLst>
              <a:gd name="adj" fmla="val 4818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B2AF0E8-3091-ECC7-604A-DDD89BAD34D3}"/>
              </a:ext>
            </a:extLst>
          </p:cNvPr>
          <p:cNvCxnSpPr>
            <a:cxnSpLocks/>
            <a:stCxn id="18" idx="3"/>
            <a:endCxn id="43" idx="1"/>
          </p:cNvCxnSpPr>
          <p:nvPr/>
        </p:nvCxnSpPr>
        <p:spPr>
          <a:xfrm>
            <a:off x="8667830" y="5826479"/>
            <a:ext cx="17919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D54C5B30-05CB-F8F4-6406-07CFF89CBAEB}"/>
              </a:ext>
            </a:extLst>
          </p:cNvPr>
          <p:cNvSpPr/>
          <p:nvPr/>
        </p:nvSpPr>
        <p:spPr>
          <a:xfrm>
            <a:off x="7452720" y="4408130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096C09B4-47F7-CAA8-E367-9285A72A8451}"/>
              </a:ext>
            </a:extLst>
          </p:cNvPr>
          <p:cNvCxnSpPr>
            <a:cxnSpLocks/>
            <a:stCxn id="7" idx="3"/>
            <a:endCxn id="41" idx="1"/>
          </p:cNvCxnSpPr>
          <p:nvPr/>
        </p:nvCxnSpPr>
        <p:spPr>
          <a:xfrm flipV="1">
            <a:off x="4997529" y="4570758"/>
            <a:ext cx="2455190" cy="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6C6964EE-49D9-178A-6A98-1314F59399B5}"/>
              </a:ext>
            </a:extLst>
          </p:cNvPr>
          <p:cNvSpPr/>
          <p:nvPr/>
        </p:nvSpPr>
        <p:spPr>
          <a:xfrm>
            <a:off x="9300573" y="4408128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避障</a:t>
            </a: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9AB54EA3-2DF3-F875-E458-8D843801FA29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 flipV="1">
            <a:off x="8667830" y="4570758"/>
            <a:ext cx="632743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30B7C495-D826-3D7D-E919-6EB951F4AAEF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 flipV="1">
            <a:off x="10515682" y="4234434"/>
            <a:ext cx="740691" cy="3363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6BE7710B-C7CC-E676-812A-2D040129035A}"/>
              </a:ext>
            </a:extLst>
          </p:cNvPr>
          <p:cNvSpPr/>
          <p:nvPr/>
        </p:nvSpPr>
        <p:spPr>
          <a:xfrm>
            <a:off x="11256372" y="4071806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静态避障</a:t>
            </a: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4EE126AA-4F6A-CDE4-8722-C821D3995811}"/>
              </a:ext>
            </a:extLst>
          </p:cNvPr>
          <p:cNvCxnSpPr>
            <a:cxnSpLocks/>
            <a:stCxn id="45" idx="3"/>
            <a:endCxn id="58" idx="1"/>
          </p:cNvCxnSpPr>
          <p:nvPr/>
        </p:nvCxnSpPr>
        <p:spPr>
          <a:xfrm>
            <a:off x="10515682" y="4570758"/>
            <a:ext cx="740691" cy="36761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FC940496-BD48-F402-BE4A-3AD1ABDC09F4}"/>
              </a:ext>
            </a:extLst>
          </p:cNvPr>
          <p:cNvSpPr/>
          <p:nvPr/>
        </p:nvSpPr>
        <p:spPr>
          <a:xfrm>
            <a:off x="11256372" y="4775746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动态避障</a:t>
            </a:r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665105F9-5348-E2DB-EE05-204E0A2D5207}"/>
              </a:ext>
            </a:extLst>
          </p:cNvPr>
          <p:cNvCxnSpPr>
            <a:cxnSpLocks/>
            <a:stCxn id="51" idx="3"/>
            <a:endCxn id="67" idx="1"/>
          </p:cNvCxnSpPr>
          <p:nvPr/>
        </p:nvCxnSpPr>
        <p:spPr>
          <a:xfrm flipV="1">
            <a:off x="12471481" y="3917032"/>
            <a:ext cx="471133" cy="3174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BFE53407-15A6-109A-E710-990B11D6BEC2}"/>
              </a:ext>
            </a:extLst>
          </p:cNvPr>
          <p:cNvSpPr/>
          <p:nvPr/>
        </p:nvSpPr>
        <p:spPr>
          <a:xfrm>
            <a:off x="12942614" y="3754403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既有建筑物</a:t>
            </a: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9C7363D5-8E52-0F8C-C3FE-5752A25AB791}"/>
              </a:ext>
            </a:extLst>
          </p:cNvPr>
          <p:cNvCxnSpPr>
            <a:cxnSpLocks/>
            <a:stCxn id="51" idx="3"/>
            <a:endCxn id="72" idx="1"/>
          </p:cNvCxnSpPr>
          <p:nvPr/>
        </p:nvCxnSpPr>
        <p:spPr>
          <a:xfrm>
            <a:off x="12471481" y="4234434"/>
            <a:ext cx="471133" cy="1410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FAFFC5F1-AC79-6A5F-D2FA-6E984F7C782D}"/>
              </a:ext>
            </a:extLst>
          </p:cNvPr>
          <p:cNvSpPr/>
          <p:nvPr/>
        </p:nvSpPr>
        <p:spPr>
          <a:xfrm>
            <a:off x="12942614" y="4212873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地面距离</a:t>
            </a:r>
          </a:p>
        </p:txBody>
      </p: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62DC679A-E818-C7D0-1919-98274B35AA3E}"/>
              </a:ext>
            </a:extLst>
          </p:cNvPr>
          <p:cNvCxnSpPr>
            <a:cxnSpLocks/>
            <a:stCxn id="58" idx="3"/>
            <a:endCxn id="77" idx="1"/>
          </p:cNvCxnSpPr>
          <p:nvPr/>
        </p:nvCxnSpPr>
        <p:spPr>
          <a:xfrm flipV="1">
            <a:off x="12471481" y="4839088"/>
            <a:ext cx="471133" cy="992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9AD94637-9FEC-C2C7-BFE1-D0D6ED86ADC6}"/>
              </a:ext>
            </a:extLst>
          </p:cNvPr>
          <p:cNvSpPr/>
          <p:nvPr/>
        </p:nvSpPr>
        <p:spPr>
          <a:xfrm>
            <a:off x="12942614" y="4676460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塔吊群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16F78E-73A2-F6F4-2F85-D76C0D083816}"/>
              </a:ext>
            </a:extLst>
          </p:cNvPr>
          <p:cNvSpPr txBox="1"/>
          <p:nvPr/>
        </p:nvSpPr>
        <p:spPr>
          <a:xfrm>
            <a:off x="8764263" y="5564868"/>
            <a:ext cx="15991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获取吊物起始点和终点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8977C2B-709C-A8CC-4089-3B280D0A3B07}"/>
              </a:ext>
            </a:extLst>
          </p:cNvPr>
          <p:cNvSpPr/>
          <p:nvPr/>
        </p:nvSpPr>
        <p:spPr>
          <a:xfrm>
            <a:off x="10459802" y="5663851"/>
            <a:ext cx="1750043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同步构件状态至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BIM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AFDD8C83-5B98-2E60-C0E7-5CC79FBD6E39}"/>
              </a:ext>
            </a:extLst>
          </p:cNvPr>
          <p:cNvCxnSpPr>
            <a:cxnSpLocks/>
            <a:stCxn id="24" idx="3"/>
            <a:endCxn id="43" idx="1"/>
          </p:cNvCxnSpPr>
          <p:nvPr/>
        </p:nvCxnSpPr>
        <p:spPr>
          <a:xfrm flipV="1">
            <a:off x="8667830" y="5826481"/>
            <a:ext cx="1791970" cy="6218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5503EEA5-B37C-EF10-CA22-F41BF4B714B3}"/>
              </a:ext>
            </a:extLst>
          </p:cNvPr>
          <p:cNvSpPr/>
          <p:nvPr/>
        </p:nvSpPr>
        <p:spPr>
          <a:xfrm>
            <a:off x="7186123" y="2756634"/>
            <a:ext cx="3596155" cy="6538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吊钩可视化数字孪生方案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02F718B-6F5A-F897-CFAD-048A1D692126}"/>
              </a:ext>
            </a:extLst>
          </p:cNvPr>
          <p:cNvSpPr/>
          <p:nvPr/>
        </p:nvSpPr>
        <p:spPr>
          <a:xfrm>
            <a:off x="12942614" y="5137968"/>
            <a:ext cx="1215109" cy="325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其他吊物</a:t>
            </a: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00F831DB-F7E4-372F-B7AF-6A2C8402D975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12471481" y="4938374"/>
            <a:ext cx="471133" cy="3622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A3DC5B5E-6F0B-6799-46A3-AE609B04CB2C}"/>
              </a:ext>
            </a:extLst>
          </p:cNvPr>
          <p:cNvSpPr txBox="1"/>
          <p:nvPr/>
        </p:nvSpPr>
        <p:spPr>
          <a:xfrm>
            <a:off x="3782421" y="7529470"/>
            <a:ext cx="10855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0" indent="-285740">
              <a:buFont typeface="Arial" panose="020B0604020202020204" pitchFamily="34" charset="0"/>
              <a:buChar char="•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搭建一套吊钩可视化的数字孪生平台，包含吊钩吊物状态、效率统计、直播画面、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BIM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施工进度展示等内容；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89A93A-9C79-F234-4A49-97576656D49B}"/>
              </a:ext>
            </a:extLst>
          </p:cNvPr>
          <p:cNvSpPr txBox="1"/>
          <p:nvPr/>
        </p:nvSpPr>
        <p:spPr>
          <a:xfrm>
            <a:off x="4979321" y="5601339"/>
            <a:ext cx="595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GVINS</a:t>
            </a:r>
            <a:endParaRPr lang="zh-CN" altLang="en-US" sz="11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46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A915-173A-5421-2277-B573EBD6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15A1F81-A626-0404-5DC0-342B04A06A8B}"/>
              </a:ext>
            </a:extLst>
          </p:cNvPr>
          <p:cNvCxnSpPr>
            <a:cxnSpLocks/>
          </p:cNvCxnSpPr>
          <p:nvPr/>
        </p:nvCxnSpPr>
        <p:spPr>
          <a:xfrm>
            <a:off x="1754360" y="1586411"/>
            <a:ext cx="118769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D07400A-7B2F-E808-C47D-B54D1FF89FFC}"/>
              </a:ext>
            </a:extLst>
          </p:cNvPr>
          <p:cNvSpPr/>
          <p:nvPr/>
        </p:nvSpPr>
        <p:spPr>
          <a:xfrm>
            <a:off x="2730942" y="1166060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73C08C-CFCA-0D6A-20A2-8E621486CD99}"/>
              </a:ext>
            </a:extLst>
          </p:cNvPr>
          <p:cNvSpPr/>
          <p:nvPr/>
        </p:nvSpPr>
        <p:spPr>
          <a:xfrm>
            <a:off x="11926490" y="1166058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60541B-9A08-D3E7-1DC7-DCE9B156D6F0}"/>
              </a:ext>
            </a:extLst>
          </p:cNvPr>
          <p:cNvSpPr/>
          <p:nvPr/>
        </p:nvSpPr>
        <p:spPr>
          <a:xfrm>
            <a:off x="7566026" y="1166058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A317898-6992-D83A-FDF9-5497FD4B225C}"/>
              </a:ext>
            </a:extLst>
          </p:cNvPr>
          <p:cNvSpPr/>
          <p:nvPr/>
        </p:nvSpPr>
        <p:spPr>
          <a:xfrm>
            <a:off x="1843184" y="2305201"/>
            <a:ext cx="3075291" cy="594060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研究一：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基于多传感器融合的吊装轨迹生成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2E3AD8A-2EB5-4499-BB7B-619E62161975}"/>
              </a:ext>
            </a:extLst>
          </p:cNvPr>
          <p:cNvSpPr/>
          <p:nvPr/>
        </p:nvSpPr>
        <p:spPr>
          <a:xfrm>
            <a:off x="1843186" y="4091128"/>
            <a:ext cx="3075291" cy="5940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研究二：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基于三维点云的吊装环境感知方法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996B2F-E854-F290-DB95-A5444F94BC73}"/>
              </a:ext>
            </a:extLst>
          </p:cNvPr>
          <p:cNvSpPr/>
          <p:nvPr/>
        </p:nvSpPr>
        <p:spPr>
          <a:xfrm>
            <a:off x="1843184" y="5826448"/>
            <a:ext cx="3075292" cy="594059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研究三：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基于相对运动趋势的碰撞风险评估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A03CB7-E292-9FBB-17B2-AB1A1F173AF4}"/>
              </a:ext>
            </a:extLst>
          </p:cNvPr>
          <p:cNvSpPr/>
          <p:nvPr/>
        </p:nvSpPr>
        <p:spPr>
          <a:xfrm>
            <a:off x="6680409" y="2002374"/>
            <a:ext cx="1001927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特征点提取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B1CF8C-14C6-E496-38E5-D1B0EC66B5AC}"/>
              </a:ext>
            </a:extLst>
          </p:cNvPr>
          <p:cNvSpPr/>
          <p:nvPr/>
        </p:nvSpPr>
        <p:spPr>
          <a:xfrm>
            <a:off x="6680407" y="2469288"/>
            <a:ext cx="1001928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44CD4E-798A-5BDD-AE77-9C59E2FCC876}"/>
              </a:ext>
            </a:extLst>
          </p:cNvPr>
          <p:cNvSpPr/>
          <p:nvPr/>
        </p:nvSpPr>
        <p:spPr>
          <a:xfrm>
            <a:off x="6680407" y="2947150"/>
            <a:ext cx="1001928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噪声过滤</a:t>
            </a:r>
          </a:p>
        </p:txBody>
      </p:sp>
      <p:cxnSp>
        <p:nvCxnSpPr>
          <p:cNvPr id="23" name="连接符: 肘形 10">
            <a:extLst>
              <a:ext uri="{FF2B5EF4-FFF2-40B4-BE49-F238E27FC236}">
                <a16:creationId xmlns:a16="http://schemas.microsoft.com/office/drawing/2014/main" id="{8BF4B4EF-96DF-8B0F-64D8-EFD86E1C8FF8}"/>
              </a:ext>
            </a:extLst>
          </p:cNvPr>
          <p:cNvCxnSpPr>
            <a:cxnSpLocks/>
            <a:stCxn id="20" idx="3"/>
            <a:endCxn id="50" idx="1"/>
          </p:cNvCxnSpPr>
          <p:nvPr/>
        </p:nvCxnSpPr>
        <p:spPr>
          <a:xfrm>
            <a:off x="7682336" y="2128374"/>
            <a:ext cx="656174" cy="23185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10">
            <a:extLst>
              <a:ext uri="{FF2B5EF4-FFF2-40B4-BE49-F238E27FC236}">
                <a16:creationId xmlns:a16="http://schemas.microsoft.com/office/drawing/2014/main" id="{81A86F24-1F2B-F51A-CFC6-430B9124580D}"/>
              </a:ext>
            </a:extLst>
          </p:cNvPr>
          <p:cNvCxnSpPr>
            <a:cxnSpLocks/>
            <a:stCxn id="21" idx="3"/>
            <a:endCxn id="50" idx="1"/>
          </p:cNvCxnSpPr>
          <p:nvPr/>
        </p:nvCxnSpPr>
        <p:spPr>
          <a:xfrm flipV="1">
            <a:off x="7682335" y="2360228"/>
            <a:ext cx="656175" cy="23506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10">
            <a:extLst>
              <a:ext uri="{FF2B5EF4-FFF2-40B4-BE49-F238E27FC236}">
                <a16:creationId xmlns:a16="http://schemas.microsoft.com/office/drawing/2014/main" id="{548F8685-9771-17F3-6641-2E1F81616E12}"/>
              </a:ext>
            </a:extLst>
          </p:cNvPr>
          <p:cNvCxnSpPr>
            <a:cxnSpLocks/>
            <a:stCxn id="22" idx="3"/>
            <a:endCxn id="49" idx="1"/>
          </p:cNvCxnSpPr>
          <p:nvPr/>
        </p:nvCxnSpPr>
        <p:spPr>
          <a:xfrm flipV="1">
            <a:off x="7682335" y="2835924"/>
            <a:ext cx="656175" cy="23722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E70D45E-FA67-6002-29A8-1FEF81FBFA73}"/>
              </a:ext>
            </a:extLst>
          </p:cNvPr>
          <p:cNvSpPr/>
          <p:nvPr/>
        </p:nvSpPr>
        <p:spPr>
          <a:xfrm>
            <a:off x="8338510" y="2709924"/>
            <a:ext cx="1156190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全局坐标位姿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67311B-A337-FCF6-9991-BAE9430CDD35}"/>
              </a:ext>
            </a:extLst>
          </p:cNvPr>
          <p:cNvSpPr/>
          <p:nvPr/>
        </p:nvSpPr>
        <p:spPr>
          <a:xfrm>
            <a:off x="8338510" y="2234228"/>
            <a:ext cx="1156190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局部坐标位姿</a:t>
            </a:r>
          </a:p>
        </p:txBody>
      </p:sp>
      <p:cxnSp>
        <p:nvCxnSpPr>
          <p:cNvPr id="51" name="连接符: 肘形 10">
            <a:extLst>
              <a:ext uri="{FF2B5EF4-FFF2-40B4-BE49-F238E27FC236}">
                <a16:creationId xmlns:a16="http://schemas.microsoft.com/office/drawing/2014/main" id="{1B33FADC-160B-3A65-CE2B-9A4E4DD5FD0B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9494700" y="2360228"/>
            <a:ext cx="534548" cy="2350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10">
            <a:extLst>
              <a:ext uri="{FF2B5EF4-FFF2-40B4-BE49-F238E27FC236}">
                <a16:creationId xmlns:a16="http://schemas.microsoft.com/office/drawing/2014/main" id="{72953AFD-201E-3AA1-F330-1AC3B18756D8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9494700" y="2595288"/>
            <a:ext cx="534548" cy="2406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1DAA6F73-9FBF-BE97-8D99-17279C682DAC}"/>
              </a:ext>
            </a:extLst>
          </p:cNvPr>
          <p:cNvSpPr/>
          <p:nvPr/>
        </p:nvSpPr>
        <p:spPr>
          <a:xfrm>
            <a:off x="10029248" y="1991426"/>
            <a:ext cx="252000" cy="12077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滑动窗口优化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46C9A75-C638-A915-7F7C-2BB724C4FDA7}"/>
              </a:ext>
            </a:extLst>
          </p:cNvPr>
          <p:cNvSpPr/>
          <p:nvPr/>
        </p:nvSpPr>
        <p:spPr>
          <a:xfrm>
            <a:off x="5560274" y="2002374"/>
            <a:ext cx="666345" cy="2520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E293C9E6-0302-2B4E-7CFD-13DEB03A764F}"/>
              </a:ext>
            </a:extLst>
          </p:cNvPr>
          <p:cNvSpPr/>
          <p:nvPr/>
        </p:nvSpPr>
        <p:spPr>
          <a:xfrm>
            <a:off x="5557728" y="2469288"/>
            <a:ext cx="666345" cy="2520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IMU</a:t>
            </a:r>
            <a:endParaRPr lang="zh-CN" altLang="en-US" sz="1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F3EAE47D-1EC5-7D09-8A53-9DA5BEED0B49}"/>
              </a:ext>
            </a:extLst>
          </p:cNvPr>
          <p:cNvSpPr/>
          <p:nvPr/>
        </p:nvSpPr>
        <p:spPr>
          <a:xfrm>
            <a:off x="5563821" y="2946443"/>
            <a:ext cx="666345" cy="2520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GNSS</a:t>
            </a:r>
            <a:endParaRPr lang="zh-CN" altLang="en-US" sz="1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9" name="连接符: 肘形 10">
            <a:extLst>
              <a:ext uri="{FF2B5EF4-FFF2-40B4-BE49-F238E27FC236}">
                <a16:creationId xmlns:a16="http://schemas.microsoft.com/office/drawing/2014/main" id="{2968575D-79BF-B992-63AD-6B87A61DE7D2}"/>
              </a:ext>
            </a:extLst>
          </p:cNvPr>
          <p:cNvCxnSpPr>
            <a:cxnSpLocks/>
            <a:stCxn id="60" idx="3"/>
            <a:endCxn id="20" idx="1"/>
          </p:cNvCxnSpPr>
          <p:nvPr/>
        </p:nvCxnSpPr>
        <p:spPr>
          <a:xfrm>
            <a:off x="6226619" y="2128374"/>
            <a:ext cx="4537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10">
            <a:extLst>
              <a:ext uri="{FF2B5EF4-FFF2-40B4-BE49-F238E27FC236}">
                <a16:creationId xmlns:a16="http://schemas.microsoft.com/office/drawing/2014/main" id="{B797640E-A4E4-EEBF-5E38-D81E4099C7CA}"/>
              </a:ext>
            </a:extLst>
          </p:cNvPr>
          <p:cNvCxnSpPr>
            <a:cxnSpLocks/>
            <a:stCxn id="61" idx="3"/>
            <a:endCxn id="21" idx="1"/>
          </p:cNvCxnSpPr>
          <p:nvPr/>
        </p:nvCxnSpPr>
        <p:spPr>
          <a:xfrm>
            <a:off x="6224073" y="2595288"/>
            <a:ext cx="4563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10">
            <a:extLst>
              <a:ext uri="{FF2B5EF4-FFF2-40B4-BE49-F238E27FC236}">
                <a16:creationId xmlns:a16="http://schemas.microsoft.com/office/drawing/2014/main" id="{6F79D7A4-57DC-71CE-1AC9-3F0B243D16C0}"/>
              </a:ext>
            </a:extLst>
          </p:cNvPr>
          <p:cNvCxnSpPr>
            <a:cxnSpLocks/>
            <a:stCxn id="62" idx="3"/>
            <a:endCxn id="22" idx="1"/>
          </p:cNvCxnSpPr>
          <p:nvPr/>
        </p:nvCxnSpPr>
        <p:spPr>
          <a:xfrm>
            <a:off x="6230166" y="3072443"/>
            <a:ext cx="450241" cy="7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52F87F95-7B7A-6B89-B449-C536F0094FBF}"/>
              </a:ext>
            </a:extLst>
          </p:cNvPr>
          <p:cNvSpPr/>
          <p:nvPr/>
        </p:nvSpPr>
        <p:spPr>
          <a:xfrm>
            <a:off x="10616902" y="1991426"/>
            <a:ext cx="252000" cy="12077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融合轨迹估计</a:t>
            </a:r>
          </a:p>
        </p:txBody>
      </p:sp>
      <p:cxnSp>
        <p:nvCxnSpPr>
          <p:cNvPr id="115" name="连接符: 肘形 10">
            <a:extLst>
              <a:ext uri="{FF2B5EF4-FFF2-40B4-BE49-F238E27FC236}">
                <a16:creationId xmlns:a16="http://schemas.microsoft.com/office/drawing/2014/main" id="{727B9CE9-1F9C-92E1-5B0C-02C029BC68FA}"/>
              </a:ext>
            </a:extLst>
          </p:cNvPr>
          <p:cNvCxnSpPr>
            <a:cxnSpLocks/>
            <a:stCxn id="53" idx="3"/>
            <a:endCxn id="114" idx="1"/>
          </p:cNvCxnSpPr>
          <p:nvPr/>
        </p:nvCxnSpPr>
        <p:spPr>
          <a:xfrm>
            <a:off x="10281248" y="2595288"/>
            <a:ext cx="3356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45F0E7A4-FCD0-5B93-80F8-BC824F725732}"/>
              </a:ext>
            </a:extLst>
          </p:cNvPr>
          <p:cNvSpPr/>
          <p:nvPr/>
        </p:nvSpPr>
        <p:spPr>
          <a:xfrm>
            <a:off x="6105334" y="3827678"/>
            <a:ext cx="252000" cy="11283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联合标定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342F3865-0EB6-E237-A2BC-76ECB318DAB5}"/>
              </a:ext>
            </a:extLst>
          </p:cNvPr>
          <p:cNvSpPr/>
          <p:nvPr/>
        </p:nvSpPr>
        <p:spPr>
          <a:xfrm>
            <a:off x="7203153" y="3827678"/>
            <a:ext cx="252000" cy="11283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点云拼接</a:t>
            </a:r>
          </a:p>
        </p:txBody>
      </p:sp>
      <p:cxnSp>
        <p:nvCxnSpPr>
          <p:cNvPr id="153" name="连接符: 肘形 10">
            <a:extLst>
              <a:ext uri="{FF2B5EF4-FFF2-40B4-BE49-F238E27FC236}">
                <a16:creationId xmlns:a16="http://schemas.microsoft.com/office/drawing/2014/main" id="{8CABF45B-0123-56B0-77C6-A5097630225E}"/>
              </a:ext>
            </a:extLst>
          </p:cNvPr>
          <p:cNvCxnSpPr>
            <a:cxnSpLocks/>
            <a:stCxn id="120" idx="3"/>
            <a:endCxn id="1352" idx="1"/>
          </p:cNvCxnSpPr>
          <p:nvPr/>
        </p:nvCxnSpPr>
        <p:spPr>
          <a:xfrm flipV="1">
            <a:off x="6357334" y="4391415"/>
            <a:ext cx="295484" cy="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0">
            <a:extLst>
              <a:ext uri="{FF2B5EF4-FFF2-40B4-BE49-F238E27FC236}">
                <a16:creationId xmlns:a16="http://schemas.microsoft.com/office/drawing/2014/main" id="{A9077171-96AB-CF95-1CCE-BC44287639AE}"/>
              </a:ext>
            </a:extLst>
          </p:cNvPr>
          <p:cNvCxnSpPr>
            <a:cxnSpLocks/>
            <a:stCxn id="152" idx="3"/>
            <a:endCxn id="176" idx="1"/>
          </p:cNvCxnSpPr>
          <p:nvPr/>
        </p:nvCxnSpPr>
        <p:spPr>
          <a:xfrm>
            <a:off x="7455153" y="4391842"/>
            <a:ext cx="3025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F88E3C1E-7092-8D2E-AC50-DAF5384B8C84}"/>
              </a:ext>
            </a:extLst>
          </p:cNvPr>
          <p:cNvSpPr/>
          <p:nvPr/>
        </p:nvSpPr>
        <p:spPr>
          <a:xfrm>
            <a:off x="5556084" y="3829966"/>
            <a:ext cx="252000" cy="1125612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激光设备</a:t>
            </a:r>
          </a:p>
        </p:txBody>
      </p:sp>
      <p:cxnSp>
        <p:nvCxnSpPr>
          <p:cNvPr id="166" name="连接符: 肘形 10">
            <a:extLst>
              <a:ext uri="{FF2B5EF4-FFF2-40B4-BE49-F238E27FC236}">
                <a16:creationId xmlns:a16="http://schemas.microsoft.com/office/drawing/2014/main" id="{E6EED7DC-58BC-DEE7-49CB-F0158E7A8A53}"/>
              </a:ext>
            </a:extLst>
          </p:cNvPr>
          <p:cNvCxnSpPr>
            <a:cxnSpLocks/>
            <a:stCxn id="165" idx="3"/>
            <a:endCxn id="120" idx="1"/>
          </p:cNvCxnSpPr>
          <p:nvPr/>
        </p:nvCxnSpPr>
        <p:spPr>
          <a:xfrm flipV="1">
            <a:off x="5808084" y="4391842"/>
            <a:ext cx="297250" cy="9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7E3372D9-6A42-ABE7-8361-07AB385BEEC8}"/>
              </a:ext>
            </a:extLst>
          </p:cNvPr>
          <p:cNvSpPr/>
          <p:nvPr/>
        </p:nvSpPr>
        <p:spPr>
          <a:xfrm>
            <a:off x="7757752" y="3827678"/>
            <a:ext cx="252000" cy="1128328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完整点云</a:t>
            </a:r>
          </a:p>
        </p:txBody>
      </p:sp>
      <p:sp>
        <p:nvSpPr>
          <p:cNvPr id="1064" name="矩形 1063">
            <a:extLst>
              <a:ext uri="{FF2B5EF4-FFF2-40B4-BE49-F238E27FC236}">
                <a16:creationId xmlns:a16="http://schemas.microsoft.com/office/drawing/2014/main" id="{31896889-77FD-B81E-2CB4-5F4B9C58EC66}"/>
              </a:ext>
            </a:extLst>
          </p:cNvPr>
          <p:cNvSpPr/>
          <p:nvPr/>
        </p:nvSpPr>
        <p:spPr>
          <a:xfrm>
            <a:off x="10616902" y="3823027"/>
            <a:ext cx="252000" cy="113026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吊装环境感知</a:t>
            </a:r>
          </a:p>
        </p:txBody>
      </p:sp>
      <p:cxnSp>
        <p:nvCxnSpPr>
          <p:cNvPr id="1065" name="连接符: 肘形 10">
            <a:extLst>
              <a:ext uri="{FF2B5EF4-FFF2-40B4-BE49-F238E27FC236}">
                <a16:creationId xmlns:a16="http://schemas.microsoft.com/office/drawing/2014/main" id="{602BA6BB-96A5-5B42-9970-B5036C16541E}"/>
              </a:ext>
            </a:extLst>
          </p:cNvPr>
          <p:cNvCxnSpPr>
            <a:cxnSpLocks/>
            <a:stCxn id="30" idx="3"/>
            <a:endCxn id="1064" idx="1"/>
          </p:cNvCxnSpPr>
          <p:nvPr/>
        </p:nvCxnSpPr>
        <p:spPr>
          <a:xfrm flipV="1">
            <a:off x="10171521" y="4388158"/>
            <a:ext cx="445381" cy="23066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连接符: 肘形 10">
            <a:extLst>
              <a:ext uri="{FF2B5EF4-FFF2-40B4-BE49-F238E27FC236}">
                <a16:creationId xmlns:a16="http://schemas.microsoft.com/office/drawing/2014/main" id="{F899AE6E-3BA0-B9AE-B5CE-43AC90985F05}"/>
              </a:ext>
            </a:extLst>
          </p:cNvPr>
          <p:cNvCxnSpPr>
            <a:cxnSpLocks/>
            <a:stCxn id="176" idx="3"/>
            <a:endCxn id="1073" idx="1"/>
          </p:cNvCxnSpPr>
          <p:nvPr/>
        </p:nvCxnSpPr>
        <p:spPr>
          <a:xfrm flipV="1">
            <a:off x="8009752" y="4389517"/>
            <a:ext cx="298335" cy="2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矩形 1072">
            <a:extLst>
              <a:ext uri="{FF2B5EF4-FFF2-40B4-BE49-F238E27FC236}">
                <a16:creationId xmlns:a16="http://schemas.microsoft.com/office/drawing/2014/main" id="{DCDA9D4B-C905-AF6D-32AA-D630A320AF2E}"/>
              </a:ext>
            </a:extLst>
          </p:cNvPr>
          <p:cNvSpPr/>
          <p:nvPr/>
        </p:nvSpPr>
        <p:spPr>
          <a:xfrm>
            <a:off x="8308087" y="3823027"/>
            <a:ext cx="252000" cy="113298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障碍物检测</a:t>
            </a:r>
          </a:p>
        </p:txBody>
      </p:sp>
      <p:cxnSp>
        <p:nvCxnSpPr>
          <p:cNvPr id="1140" name="连接符: 肘形 10">
            <a:extLst>
              <a:ext uri="{FF2B5EF4-FFF2-40B4-BE49-F238E27FC236}">
                <a16:creationId xmlns:a16="http://schemas.microsoft.com/office/drawing/2014/main" id="{9AA7E070-99DE-31D4-1482-2823DF79480A}"/>
              </a:ext>
            </a:extLst>
          </p:cNvPr>
          <p:cNvCxnSpPr>
            <a:cxnSpLocks/>
            <a:stCxn id="33" idx="3"/>
            <a:endCxn id="1064" idx="1"/>
          </p:cNvCxnSpPr>
          <p:nvPr/>
        </p:nvCxnSpPr>
        <p:spPr>
          <a:xfrm>
            <a:off x="10171520" y="4146146"/>
            <a:ext cx="445382" cy="2420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矩形: 圆角 1405">
            <a:extLst>
              <a:ext uri="{FF2B5EF4-FFF2-40B4-BE49-F238E27FC236}">
                <a16:creationId xmlns:a16="http://schemas.microsoft.com/office/drawing/2014/main" id="{E18536A4-CB49-E5D0-F3C1-5B1599821A13}"/>
              </a:ext>
            </a:extLst>
          </p:cNvPr>
          <p:cNvSpPr/>
          <p:nvPr/>
        </p:nvSpPr>
        <p:spPr>
          <a:xfrm>
            <a:off x="5314950" y="1810231"/>
            <a:ext cx="5814522" cy="1584000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7" name="矩形: 圆角 1406">
            <a:extLst>
              <a:ext uri="{FF2B5EF4-FFF2-40B4-BE49-F238E27FC236}">
                <a16:creationId xmlns:a16="http://schemas.microsoft.com/office/drawing/2014/main" id="{9FF4D0E4-4BF8-C82A-53D1-1880DF93F489}"/>
              </a:ext>
            </a:extLst>
          </p:cNvPr>
          <p:cNvSpPr/>
          <p:nvPr/>
        </p:nvSpPr>
        <p:spPr>
          <a:xfrm>
            <a:off x="5314950" y="3575881"/>
            <a:ext cx="5814522" cy="1584000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8" name="矩形: 圆角 1407">
            <a:extLst>
              <a:ext uri="{FF2B5EF4-FFF2-40B4-BE49-F238E27FC236}">
                <a16:creationId xmlns:a16="http://schemas.microsoft.com/office/drawing/2014/main" id="{07120463-D0DB-2EF6-05BE-783D66F329FE}"/>
              </a:ext>
            </a:extLst>
          </p:cNvPr>
          <p:cNvSpPr/>
          <p:nvPr/>
        </p:nvSpPr>
        <p:spPr>
          <a:xfrm>
            <a:off x="5314950" y="5337671"/>
            <a:ext cx="5814522" cy="1584000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0" name="矩形: 圆角 1409">
            <a:extLst>
              <a:ext uri="{FF2B5EF4-FFF2-40B4-BE49-F238E27FC236}">
                <a16:creationId xmlns:a16="http://schemas.microsoft.com/office/drawing/2014/main" id="{07802886-A3DD-3348-D314-1116B95006D1}"/>
              </a:ext>
            </a:extLst>
          </p:cNvPr>
          <p:cNvSpPr/>
          <p:nvPr/>
        </p:nvSpPr>
        <p:spPr>
          <a:xfrm>
            <a:off x="11526926" y="1810231"/>
            <a:ext cx="2014238" cy="1583998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SLAM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多传感器融合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基于概率的状态估计</a:t>
            </a:r>
          </a:p>
        </p:txBody>
      </p:sp>
      <p:sp>
        <p:nvSpPr>
          <p:cNvPr id="1415" name="矩形: 圆角 1414">
            <a:extLst>
              <a:ext uri="{FF2B5EF4-FFF2-40B4-BE49-F238E27FC236}">
                <a16:creationId xmlns:a16="http://schemas.microsoft.com/office/drawing/2014/main" id="{D4592340-360A-A99F-C1BA-0C6195A4FF4F}"/>
              </a:ext>
            </a:extLst>
          </p:cNvPr>
          <p:cNvSpPr/>
          <p:nvPr/>
        </p:nvSpPr>
        <p:spPr>
          <a:xfrm>
            <a:off x="11526926" y="3575882"/>
            <a:ext cx="2014238" cy="1583999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点云特征提取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点云畸变校正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6" name="矩形: 圆角 1415">
            <a:extLst>
              <a:ext uri="{FF2B5EF4-FFF2-40B4-BE49-F238E27FC236}">
                <a16:creationId xmlns:a16="http://schemas.microsoft.com/office/drawing/2014/main" id="{DA996661-F393-D9AA-E905-4CA37145F6DD}"/>
              </a:ext>
            </a:extLst>
          </p:cNvPr>
          <p:cNvSpPr/>
          <p:nvPr/>
        </p:nvSpPr>
        <p:spPr>
          <a:xfrm>
            <a:off x="11526926" y="5337672"/>
            <a:ext cx="2014238" cy="1583999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包络曲面构建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点云聚类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卡尔曼滤波器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BF97954-97BF-BBE3-D2CD-F6148AAC90F1}"/>
              </a:ext>
            </a:extLst>
          </p:cNvPr>
          <p:cNvSpPr/>
          <p:nvPr/>
        </p:nvSpPr>
        <p:spPr>
          <a:xfrm>
            <a:off x="9110341" y="4497134"/>
            <a:ext cx="1061180" cy="243371"/>
          </a:xfrm>
          <a:prstGeom prst="roundRect">
            <a:avLst>
              <a:gd name="adj" fmla="val 25213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动态障碍物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C5076B0-8347-455F-88E3-76BA09679FE1}"/>
              </a:ext>
            </a:extLst>
          </p:cNvPr>
          <p:cNvSpPr/>
          <p:nvPr/>
        </p:nvSpPr>
        <p:spPr>
          <a:xfrm>
            <a:off x="9110340" y="4024460"/>
            <a:ext cx="1061180" cy="243371"/>
          </a:xfrm>
          <a:prstGeom prst="roundRect">
            <a:avLst>
              <a:gd name="adj" fmla="val 2717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静态障碍物</a:t>
            </a:r>
          </a:p>
        </p:txBody>
      </p:sp>
      <p:cxnSp>
        <p:nvCxnSpPr>
          <p:cNvPr id="34" name="连接符: 肘形 10">
            <a:extLst>
              <a:ext uri="{FF2B5EF4-FFF2-40B4-BE49-F238E27FC236}">
                <a16:creationId xmlns:a16="http://schemas.microsoft.com/office/drawing/2014/main" id="{03D8D45E-E4DB-2102-E11E-8033FF562AA0}"/>
              </a:ext>
            </a:extLst>
          </p:cNvPr>
          <p:cNvCxnSpPr>
            <a:cxnSpLocks/>
            <a:stCxn id="1073" idx="3"/>
            <a:endCxn id="33" idx="1"/>
          </p:cNvCxnSpPr>
          <p:nvPr/>
        </p:nvCxnSpPr>
        <p:spPr>
          <a:xfrm flipV="1">
            <a:off x="8560087" y="4146146"/>
            <a:ext cx="550253" cy="2433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10">
            <a:extLst>
              <a:ext uri="{FF2B5EF4-FFF2-40B4-BE49-F238E27FC236}">
                <a16:creationId xmlns:a16="http://schemas.microsoft.com/office/drawing/2014/main" id="{7F7B6F47-3C11-DDA9-8C5F-3AD1AF9879DB}"/>
              </a:ext>
            </a:extLst>
          </p:cNvPr>
          <p:cNvCxnSpPr>
            <a:cxnSpLocks/>
            <a:stCxn id="1073" idx="3"/>
            <a:endCxn id="30" idx="1"/>
          </p:cNvCxnSpPr>
          <p:nvPr/>
        </p:nvCxnSpPr>
        <p:spPr>
          <a:xfrm>
            <a:off x="8560087" y="4389517"/>
            <a:ext cx="550254" cy="2293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矩形 1351">
            <a:extLst>
              <a:ext uri="{FF2B5EF4-FFF2-40B4-BE49-F238E27FC236}">
                <a16:creationId xmlns:a16="http://schemas.microsoft.com/office/drawing/2014/main" id="{EECBF3AE-1F06-D3FB-0341-06BD275A2515}"/>
              </a:ext>
            </a:extLst>
          </p:cNvPr>
          <p:cNvSpPr/>
          <p:nvPr/>
        </p:nvSpPr>
        <p:spPr>
          <a:xfrm>
            <a:off x="6652818" y="3827251"/>
            <a:ext cx="252000" cy="11283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畸变校正</a:t>
            </a:r>
          </a:p>
        </p:txBody>
      </p:sp>
      <p:cxnSp>
        <p:nvCxnSpPr>
          <p:cNvPr id="1355" name="连接符: 肘形 10">
            <a:extLst>
              <a:ext uri="{FF2B5EF4-FFF2-40B4-BE49-F238E27FC236}">
                <a16:creationId xmlns:a16="http://schemas.microsoft.com/office/drawing/2014/main" id="{7D4C376E-A375-F26E-2C25-8395D72A1FB3}"/>
              </a:ext>
            </a:extLst>
          </p:cNvPr>
          <p:cNvCxnSpPr>
            <a:cxnSpLocks/>
            <a:stCxn id="1352" idx="3"/>
            <a:endCxn id="152" idx="1"/>
          </p:cNvCxnSpPr>
          <p:nvPr/>
        </p:nvCxnSpPr>
        <p:spPr>
          <a:xfrm>
            <a:off x="6904818" y="4391415"/>
            <a:ext cx="298335" cy="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9E455AB-682E-2265-828E-7756D78FD8C3}"/>
              </a:ext>
            </a:extLst>
          </p:cNvPr>
          <p:cNvSpPr/>
          <p:nvPr/>
        </p:nvSpPr>
        <p:spPr>
          <a:xfrm>
            <a:off x="5556084" y="5455818"/>
            <a:ext cx="1065072" cy="240581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吊钩轨迹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BB52618-9B35-BDF5-7E57-C0FF3B2782E3}"/>
              </a:ext>
            </a:extLst>
          </p:cNvPr>
          <p:cNvSpPr/>
          <p:nvPr/>
        </p:nvSpPr>
        <p:spPr>
          <a:xfrm>
            <a:off x="5556084" y="6589803"/>
            <a:ext cx="1035426" cy="2520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静态障碍物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98F243C-4F24-996C-A017-8A8490ED15B8}"/>
              </a:ext>
            </a:extLst>
          </p:cNvPr>
          <p:cNvSpPr/>
          <p:nvPr/>
        </p:nvSpPr>
        <p:spPr>
          <a:xfrm>
            <a:off x="8173581" y="6595088"/>
            <a:ext cx="1902624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最小距离计算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A93EFE6-945A-8255-C092-B336D5D41217}"/>
              </a:ext>
            </a:extLst>
          </p:cNvPr>
          <p:cNvSpPr/>
          <p:nvPr/>
        </p:nvSpPr>
        <p:spPr>
          <a:xfrm>
            <a:off x="6808357" y="6594964"/>
            <a:ext cx="1107307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禁行区域生成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C3055AA-EB47-D585-4F61-30F594F74F08}"/>
              </a:ext>
            </a:extLst>
          </p:cNvPr>
          <p:cNvSpPr/>
          <p:nvPr/>
        </p:nvSpPr>
        <p:spPr>
          <a:xfrm>
            <a:off x="10615258" y="5453655"/>
            <a:ext cx="252000" cy="138468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碰撞风险评估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F6DFB03-AAD2-FA7D-474E-30CCCEF14C4F}"/>
              </a:ext>
            </a:extLst>
          </p:cNvPr>
          <p:cNvSpPr/>
          <p:nvPr/>
        </p:nvSpPr>
        <p:spPr>
          <a:xfrm>
            <a:off x="5556084" y="6016463"/>
            <a:ext cx="1065071" cy="2520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动态障碍物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CA8798F-9053-D061-B066-8B42D12E7103}"/>
              </a:ext>
            </a:extLst>
          </p:cNvPr>
          <p:cNvSpPr/>
          <p:nvPr/>
        </p:nvSpPr>
        <p:spPr>
          <a:xfrm>
            <a:off x="6808357" y="5454422"/>
            <a:ext cx="1107308" cy="243371"/>
          </a:xfrm>
          <a:prstGeom prst="roundRect">
            <a:avLst>
              <a:gd name="adj" fmla="val 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吊物轨迹推算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5E1858B9-C4CF-9870-45BB-AB10F784892E}"/>
              </a:ext>
            </a:extLst>
          </p:cNvPr>
          <p:cNvSpPr/>
          <p:nvPr/>
        </p:nvSpPr>
        <p:spPr>
          <a:xfrm>
            <a:off x="8176565" y="5455816"/>
            <a:ext cx="252000" cy="940128"/>
          </a:xfrm>
          <a:prstGeom prst="roundRect">
            <a:avLst>
              <a:gd name="adj" fmla="val 2717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状态向量</a:t>
            </a:r>
          </a:p>
        </p:txBody>
      </p:sp>
      <p:cxnSp>
        <p:nvCxnSpPr>
          <p:cNvPr id="74" name="连接符: 肘形 10">
            <a:extLst>
              <a:ext uri="{FF2B5EF4-FFF2-40B4-BE49-F238E27FC236}">
                <a16:creationId xmlns:a16="http://schemas.microsoft.com/office/drawing/2014/main" id="{ADBD935D-A994-4DA3-E533-C322FAB7EA38}"/>
              </a:ext>
            </a:extLst>
          </p:cNvPr>
          <p:cNvCxnSpPr>
            <a:cxnSpLocks/>
            <a:stCxn id="66" idx="3"/>
            <a:endCxn id="72" idx="1"/>
          </p:cNvCxnSpPr>
          <p:nvPr/>
        </p:nvCxnSpPr>
        <p:spPr>
          <a:xfrm flipV="1">
            <a:off x="6621156" y="5576108"/>
            <a:ext cx="18720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10">
            <a:extLst>
              <a:ext uri="{FF2B5EF4-FFF2-40B4-BE49-F238E27FC236}">
                <a16:creationId xmlns:a16="http://schemas.microsoft.com/office/drawing/2014/main" id="{6AD5C18F-B0BF-CB27-9D09-2443284F4D9E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7915665" y="5576108"/>
            <a:ext cx="260900" cy="3497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10">
            <a:extLst>
              <a:ext uri="{FF2B5EF4-FFF2-40B4-BE49-F238E27FC236}">
                <a16:creationId xmlns:a16="http://schemas.microsoft.com/office/drawing/2014/main" id="{040E4E02-65FC-E2EE-4EF1-4BB94C457BB0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591510" y="6715803"/>
            <a:ext cx="216847" cy="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BC9AACE3-82C3-7E8F-0321-83C7A6CEC2BA}"/>
              </a:ext>
            </a:extLst>
          </p:cNvPr>
          <p:cNvSpPr/>
          <p:nvPr/>
        </p:nvSpPr>
        <p:spPr>
          <a:xfrm>
            <a:off x="6808358" y="6019954"/>
            <a:ext cx="1107307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物体轨迹跟踪</a:t>
            </a:r>
          </a:p>
        </p:txBody>
      </p:sp>
      <p:cxnSp>
        <p:nvCxnSpPr>
          <p:cNvPr id="78" name="连接符: 肘形 10">
            <a:extLst>
              <a:ext uri="{FF2B5EF4-FFF2-40B4-BE49-F238E27FC236}">
                <a16:creationId xmlns:a16="http://schemas.microsoft.com/office/drawing/2014/main" id="{4940044B-423E-A4DD-8E6F-E045EF7A2164}"/>
              </a:ext>
            </a:extLst>
          </p:cNvPr>
          <p:cNvCxnSpPr>
            <a:cxnSpLocks/>
            <a:stCxn id="71" idx="3"/>
            <a:endCxn id="77" idx="1"/>
          </p:cNvCxnSpPr>
          <p:nvPr/>
        </p:nvCxnSpPr>
        <p:spPr>
          <a:xfrm flipV="1">
            <a:off x="6621155" y="6141640"/>
            <a:ext cx="187203" cy="8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10">
            <a:extLst>
              <a:ext uri="{FF2B5EF4-FFF2-40B4-BE49-F238E27FC236}">
                <a16:creationId xmlns:a16="http://schemas.microsoft.com/office/drawing/2014/main" id="{4407B2EB-66DE-52FB-DFD8-1CE685CDB3E9}"/>
              </a:ext>
            </a:extLst>
          </p:cNvPr>
          <p:cNvCxnSpPr>
            <a:cxnSpLocks/>
            <a:stCxn id="77" idx="3"/>
            <a:endCxn id="73" idx="1"/>
          </p:cNvCxnSpPr>
          <p:nvPr/>
        </p:nvCxnSpPr>
        <p:spPr>
          <a:xfrm flipV="1">
            <a:off x="7915665" y="5925880"/>
            <a:ext cx="260900" cy="215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AE0EC00C-09DE-B012-2653-C9D514AAEF05}"/>
              </a:ext>
            </a:extLst>
          </p:cNvPr>
          <p:cNvSpPr/>
          <p:nvPr/>
        </p:nvSpPr>
        <p:spPr>
          <a:xfrm>
            <a:off x="9250320" y="5455815"/>
            <a:ext cx="252000" cy="9422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轨迹预测</a:t>
            </a:r>
          </a:p>
        </p:txBody>
      </p:sp>
      <p:cxnSp>
        <p:nvCxnSpPr>
          <p:cNvPr id="83" name="连接符: 肘形 10">
            <a:extLst>
              <a:ext uri="{FF2B5EF4-FFF2-40B4-BE49-F238E27FC236}">
                <a16:creationId xmlns:a16="http://schemas.microsoft.com/office/drawing/2014/main" id="{4A20F973-5C24-F7F4-1196-1BFD760CDC1C}"/>
              </a:ext>
            </a:extLst>
          </p:cNvPr>
          <p:cNvCxnSpPr>
            <a:cxnSpLocks/>
            <a:stCxn id="73" idx="3"/>
            <a:endCxn id="88" idx="1"/>
          </p:cNvCxnSpPr>
          <p:nvPr/>
        </p:nvCxnSpPr>
        <p:spPr>
          <a:xfrm>
            <a:off x="8428565" y="5925880"/>
            <a:ext cx="286509" cy="10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10">
            <a:extLst>
              <a:ext uri="{FF2B5EF4-FFF2-40B4-BE49-F238E27FC236}">
                <a16:creationId xmlns:a16="http://schemas.microsoft.com/office/drawing/2014/main" id="{E0334E92-E537-4B9E-33C9-C679D3862E75}"/>
              </a:ext>
            </a:extLst>
          </p:cNvPr>
          <p:cNvCxnSpPr>
            <a:cxnSpLocks/>
            <a:stCxn id="69" idx="3"/>
            <a:endCxn id="68" idx="1"/>
          </p:cNvCxnSpPr>
          <p:nvPr/>
        </p:nvCxnSpPr>
        <p:spPr>
          <a:xfrm>
            <a:off x="7915664" y="6716650"/>
            <a:ext cx="257917" cy="1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10">
            <a:extLst>
              <a:ext uri="{FF2B5EF4-FFF2-40B4-BE49-F238E27FC236}">
                <a16:creationId xmlns:a16="http://schemas.microsoft.com/office/drawing/2014/main" id="{93A83038-1A9F-B375-1260-A49DB37EA734}"/>
              </a:ext>
            </a:extLst>
          </p:cNvPr>
          <p:cNvCxnSpPr>
            <a:cxnSpLocks/>
            <a:stCxn id="73" idx="2"/>
            <a:endCxn id="68" idx="0"/>
          </p:cNvCxnSpPr>
          <p:nvPr/>
        </p:nvCxnSpPr>
        <p:spPr>
          <a:xfrm rot="16200000" flipH="1">
            <a:off x="8614157" y="6084352"/>
            <a:ext cx="199144" cy="822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10">
            <a:extLst>
              <a:ext uri="{FF2B5EF4-FFF2-40B4-BE49-F238E27FC236}">
                <a16:creationId xmlns:a16="http://schemas.microsoft.com/office/drawing/2014/main" id="{8E3510E9-8241-30BD-888F-8277FE119319}"/>
              </a:ext>
            </a:extLst>
          </p:cNvPr>
          <p:cNvCxnSpPr>
            <a:cxnSpLocks/>
            <a:stCxn id="68" idx="3"/>
            <a:endCxn id="70" idx="1"/>
          </p:cNvCxnSpPr>
          <p:nvPr/>
        </p:nvCxnSpPr>
        <p:spPr>
          <a:xfrm flipV="1">
            <a:off x="10076205" y="6145995"/>
            <a:ext cx="539053" cy="570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38D758E0-BDEE-26F7-3773-110865CD172E}"/>
              </a:ext>
            </a:extLst>
          </p:cNvPr>
          <p:cNvSpPr/>
          <p:nvPr/>
        </p:nvSpPr>
        <p:spPr>
          <a:xfrm>
            <a:off x="8715074" y="5455815"/>
            <a:ext cx="252000" cy="94228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卡尔曼滤波</a:t>
            </a:r>
          </a:p>
        </p:txBody>
      </p:sp>
      <p:cxnSp>
        <p:nvCxnSpPr>
          <p:cNvPr id="89" name="连接符: 肘形 10">
            <a:extLst>
              <a:ext uri="{FF2B5EF4-FFF2-40B4-BE49-F238E27FC236}">
                <a16:creationId xmlns:a16="http://schemas.microsoft.com/office/drawing/2014/main" id="{53B64837-7EDC-BCF9-ED28-C21A7DAA61EB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 flipV="1">
            <a:off x="9502320" y="5924798"/>
            <a:ext cx="321885" cy="21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A316C599-BB9A-D13C-35B5-05F22D94B361}"/>
              </a:ext>
            </a:extLst>
          </p:cNvPr>
          <p:cNvSpPr/>
          <p:nvPr/>
        </p:nvSpPr>
        <p:spPr>
          <a:xfrm>
            <a:off x="9824205" y="5453655"/>
            <a:ext cx="252000" cy="942286"/>
          </a:xfrm>
          <a:prstGeom prst="roundRect">
            <a:avLst>
              <a:gd name="adj" fmla="val 2338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运动趋势</a:t>
            </a:r>
          </a:p>
        </p:txBody>
      </p:sp>
      <p:cxnSp>
        <p:nvCxnSpPr>
          <p:cNvPr id="92" name="连接符: 肘形 10">
            <a:extLst>
              <a:ext uri="{FF2B5EF4-FFF2-40B4-BE49-F238E27FC236}">
                <a16:creationId xmlns:a16="http://schemas.microsoft.com/office/drawing/2014/main" id="{D77412AD-610D-174F-49DC-C5E627EEE3E3}"/>
              </a:ext>
            </a:extLst>
          </p:cNvPr>
          <p:cNvCxnSpPr>
            <a:cxnSpLocks/>
            <a:stCxn id="88" idx="3"/>
            <a:endCxn id="81" idx="1"/>
          </p:cNvCxnSpPr>
          <p:nvPr/>
        </p:nvCxnSpPr>
        <p:spPr>
          <a:xfrm>
            <a:off x="8967074" y="5926958"/>
            <a:ext cx="2832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10">
            <a:extLst>
              <a:ext uri="{FF2B5EF4-FFF2-40B4-BE49-F238E27FC236}">
                <a16:creationId xmlns:a16="http://schemas.microsoft.com/office/drawing/2014/main" id="{E4C71589-8591-7FA2-8ADE-8CFCD59DF149}"/>
              </a:ext>
            </a:extLst>
          </p:cNvPr>
          <p:cNvCxnSpPr>
            <a:cxnSpLocks/>
            <a:stCxn id="90" idx="3"/>
            <a:endCxn id="70" idx="1"/>
          </p:cNvCxnSpPr>
          <p:nvPr/>
        </p:nvCxnSpPr>
        <p:spPr>
          <a:xfrm>
            <a:off x="10076205" y="5924798"/>
            <a:ext cx="539053" cy="2211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790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9918C8-5F28-23E1-2460-7ED5202F88AB}"/>
              </a:ext>
            </a:extLst>
          </p:cNvPr>
          <p:cNvCxnSpPr>
            <a:cxnSpLocks/>
          </p:cNvCxnSpPr>
          <p:nvPr/>
        </p:nvCxnSpPr>
        <p:spPr>
          <a:xfrm>
            <a:off x="1754360" y="1586411"/>
            <a:ext cx="115298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7C508007-A2D8-CD96-10D3-4962C132A9F7}"/>
              </a:ext>
            </a:extLst>
          </p:cNvPr>
          <p:cNvSpPr/>
          <p:nvPr/>
        </p:nvSpPr>
        <p:spPr>
          <a:xfrm>
            <a:off x="2730942" y="1200633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9F648D-A4E9-5748-5664-C09E052FC892}"/>
              </a:ext>
            </a:extLst>
          </p:cNvPr>
          <p:cNvSpPr/>
          <p:nvPr/>
        </p:nvSpPr>
        <p:spPr>
          <a:xfrm>
            <a:off x="11401209" y="1200631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7B18B6-6FEE-55DE-78D4-7C7D32345B0C}"/>
              </a:ext>
            </a:extLst>
          </p:cNvPr>
          <p:cNvSpPr/>
          <p:nvPr/>
        </p:nvSpPr>
        <p:spPr>
          <a:xfrm>
            <a:off x="7369853" y="1200631"/>
            <a:ext cx="1215109" cy="3252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EAB50EF-390C-D63B-609E-ED05DD8CE10D}"/>
              </a:ext>
            </a:extLst>
          </p:cNvPr>
          <p:cNvSpPr/>
          <p:nvPr/>
        </p:nvSpPr>
        <p:spPr>
          <a:xfrm>
            <a:off x="1843186" y="2231760"/>
            <a:ext cx="3075291" cy="594060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研究一：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基于多传感器融合的吊装轨迹生成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B443273-E7B6-7884-4E4B-EF1BE4A2469A}"/>
              </a:ext>
            </a:extLst>
          </p:cNvPr>
          <p:cNvSpPr/>
          <p:nvPr/>
        </p:nvSpPr>
        <p:spPr>
          <a:xfrm>
            <a:off x="1843186" y="3981571"/>
            <a:ext cx="3075291" cy="5940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研究二：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基于三维点云的吊装构件避障方法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7450C4-4919-47B6-63F2-184A3517692E}"/>
              </a:ext>
            </a:extLst>
          </p:cNvPr>
          <p:cNvSpPr/>
          <p:nvPr/>
        </p:nvSpPr>
        <p:spPr>
          <a:xfrm>
            <a:off x="1843184" y="5807152"/>
            <a:ext cx="3075292" cy="594059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研究三：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基于视觉识别的吊装构件定位跟踪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6AD3FA-5C2A-3214-0918-7215B19E898F}"/>
              </a:ext>
            </a:extLst>
          </p:cNvPr>
          <p:cNvSpPr/>
          <p:nvPr/>
        </p:nvSpPr>
        <p:spPr>
          <a:xfrm>
            <a:off x="6487571" y="1995330"/>
            <a:ext cx="1001927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特征点提取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53A28E-BFE8-E7F1-3A5E-817E981D3C74}"/>
              </a:ext>
            </a:extLst>
          </p:cNvPr>
          <p:cNvSpPr/>
          <p:nvPr/>
        </p:nvSpPr>
        <p:spPr>
          <a:xfrm>
            <a:off x="6487569" y="2462244"/>
            <a:ext cx="1001928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B2675A-FDAD-AAD9-2BC9-7AA448443A36}"/>
              </a:ext>
            </a:extLst>
          </p:cNvPr>
          <p:cNvSpPr/>
          <p:nvPr/>
        </p:nvSpPr>
        <p:spPr>
          <a:xfrm>
            <a:off x="6487569" y="2940106"/>
            <a:ext cx="1001928" cy="252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噪声过滤</a:t>
            </a:r>
          </a:p>
        </p:txBody>
      </p:sp>
      <p:cxnSp>
        <p:nvCxnSpPr>
          <p:cNvPr id="23" name="连接符: 肘形 10">
            <a:extLst>
              <a:ext uri="{FF2B5EF4-FFF2-40B4-BE49-F238E27FC236}">
                <a16:creationId xmlns:a16="http://schemas.microsoft.com/office/drawing/2014/main" id="{56D1E54C-CE24-B517-F0C3-F1147E66D5E9}"/>
              </a:ext>
            </a:extLst>
          </p:cNvPr>
          <p:cNvCxnSpPr>
            <a:cxnSpLocks/>
            <a:stCxn id="20" idx="3"/>
            <a:endCxn id="50" idx="1"/>
          </p:cNvCxnSpPr>
          <p:nvPr/>
        </p:nvCxnSpPr>
        <p:spPr>
          <a:xfrm>
            <a:off x="7489498" y="2121330"/>
            <a:ext cx="481982" cy="23185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10">
            <a:extLst>
              <a:ext uri="{FF2B5EF4-FFF2-40B4-BE49-F238E27FC236}">
                <a16:creationId xmlns:a16="http://schemas.microsoft.com/office/drawing/2014/main" id="{846A67A3-2B8A-8D60-A42D-4E9FEEE54F46}"/>
              </a:ext>
            </a:extLst>
          </p:cNvPr>
          <p:cNvCxnSpPr>
            <a:cxnSpLocks/>
            <a:stCxn id="21" idx="3"/>
            <a:endCxn id="50" idx="1"/>
          </p:cNvCxnSpPr>
          <p:nvPr/>
        </p:nvCxnSpPr>
        <p:spPr>
          <a:xfrm flipV="1">
            <a:off x="7489497" y="2353184"/>
            <a:ext cx="481983" cy="23506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10">
            <a:extLst>
              <a:ext uri="{FF2B5EF4-FFF2-40B4-BE49-F238E27FC236}">
                <a16:creationId xmlns:a16="http://schemas.microsoft.com/office/drawing/2014/main" id="{705F97B9-9EA7-26A7-2284-C33691E2C6DD}"/>
              </a:ext>
            </a:extLst>
          </p:cNvPr>
          <p:cNvCxnSpPr>
            <a:cxnSpLocks/>
            <a:stCxn id="22" idx="3"/>
            <a:endCxn id="49" idx="1"/>
          </p:cNvCxnSpPr>
          <p:nvPr/>
        </p:nvCxnSpPr>
        <p:spPr>
          <a:xfrm flipV="1">
            <a:off x="7489497" y="2828880"/>
            <a:ext cx="481983" cy="23722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46D46E5F-826A-6395-C0A6-3EA9AAD07C55}"/>
              </a:ext>
            </a:extLst>
          </p:cNvPr>
          <p:cNvSpPr/>
          <p:nvPr/>
        </p:nvSpPr>
        <p:spPr>
          <a:xfrm>
            <a:off x="7971480" y="2702880"/>
            <a:ext cx="1156190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全局坐标位姿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11B940C4-DD2D-B0EA-C494-7A0957597B46}"/>
              </a:ext>
            </a:extLst>
          </p:cNvPr>
          <p:cNvSpPr/>
          <p:nvPr/>
        </p:nvSpPr>
        <p:spPr>
          <a:xfrm>
            <a:off x="7971480" y="2227184"/>
            <a:ext cx="1156190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局部坐标位姿</a:t>
            </a:r>
          </a:p>
        </p:txBody>
      </p:sp>
      <p:cxnSp>
        <p:nvCxnSpPr>
          <p:cNvPr id="51" name="连接符: 肘形 10">
            <a:extLst>
              <a:ext uri="{FF2B5EF4-FFF2-40B4-BE49-F238E27FC236}">
                <a16:creationId xmlns:a16="http://schemas.microsoft.com/office/drawing/2014/main" id="{22726E26-A759-770B-92FB-153F92782CE8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9127670" y="2353184"/>
            <a:ext cx="534548" cy="2350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10">
            <a:extLst>
              <a:ext uri="{FF2B5EF4-FFF2-40B4-BE49-F238E27FC236}">
                <a16:creationId xmlns:a16="http://schemas.microsoft.com/office/drawing/2014/main" id="{8CCD6C2E-DFFC-DA26-B660-7AC038DF178A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9127670" y="2588244"/>
            <a:ext cx="534548" cy="2406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C9BE30D-1FE9-8F27-6EA8-DFB7873A19A4}"/>
              </a:ext>
            </a:extLst>
          </p:cNvPr>
          <p:cNvSpPr/>
          <p:nvPr/>
        </p:nvSpPr>
        <p:spPr>
          <a:xfrm>
            <a:off x="9662218" y="1984382"/>
            <a:ext cx="252000" cy="12077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滑动窗口优化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96AD3FA-5C2A-3214-0918-7215B19E898F}"/>
              </a:ext>
            </a:extLst>
          </p:cNvPr>
          <p:cNvSpPr/>
          <p:nvPr/>
        </p:nvSpPr>
        <p:spPr>
          <a:xfrm>
            <a:off x="5367436" y="1995330"/>
            <a:ext cx="666345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4153A28E-BFE8-E7F1-3A5E-817E981D3C74}"/>
              </a:ext>
            </a:extLst>
          </p:cNvPr>
          <p:cNvSpPr/>
          <p:nvPr/>
        </p:nvSpPr>
        <p:spPr>
          <a:xfrm>
            <a:off x="5364890" y="2462244"/>
            <a:ext cx="666345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IMU</a:t>
            </a:r>
            <a:endParaRPr lang="zh-CN" altLang="en-US" sz="1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AB2675A-FDAD-AAD9-2BC9-7AA448443A36}"/>
              </a:ext>
            </a:extLst>
          </p:cNvPr>
          <p:cNvSpPr/>
          <p:nvPr/>
        </p:nvSpPr>
        <p:spPr>
          <a:xfrm>
            <a:off x="5370983" y="2939399"/>
            <a:ext cx="666345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GNSS</a:t>
            </a:r>
            <a:endParaRPr lang="zh-CN" altLang="en-US" sz="1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9" name="连接符: 肘形 10">
            <a:extLst>
              <a:ext uri="{FF2B5EF4-FFF2-40B4-BE49-F238E27FC236}">
                <a16:creationId xmlns:a16="http://schemas.microsoft.com/office/drawing/2014/main" id="{1BAD8235-148E-4004-EAAC-4E7ABF231521}"/>
              </a:ext>
            </a:extLst>
          </p:cNvPr>
          <p:cNvCxnSpPr>
            <a:cxnSpLocks/>
            <a:stCxn id="60" idx="3"/>
            <a:endCxn id="20" idx="1"/>
          </p:cNvCxnSpPr>
          <p:nvPr/>
        </p:nvCxnSpPr>
        <p:spPr>
          <a:xfrm>
            <a:off x="6033781" y="2121330"/>
            <a:ext cx="4537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10">
            <a:extLst>
              <a:ext uri="{FF2B5EF4-FFF2-40B4-BE49-F238E27FC236}">
                <a16:creationId xmlns:a16="http://schemas.microsoft.com/office/drawing/2014/main" id="{D4997293-8C24-5B73-D1C4-58EF18338BDB}"/>
              </a:ext>
            </a:extLst>
          </p:cNvPr>
          <p:cNvCxnSpPr>
            <a:cxnSpLocks/>
            <a:stCxn id="61" idx="3"/>
            <a:endCxn id="21" idx="1"/>
          </p:cNvCxnSpPr>
          <p:nvPr/>
        </p:nvCxnSpPr>
        <p:spPr>
          <a:xfrm>
            <a:off x="6031235" y="2588244"/>
            <a:ext cx="4563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10">
            <a:extLst>
              <a:ext uri="{FF2B5EF4-FFF2-40B4-BE49-F238E27FC236}">
                <a16:creationId xmlns:a16="http://schemas.microsoft.com/office/drawing/2014/main" id="{9465AE17-1F76-2A61-4A0E-9A3E016AC8DC}"/>
              </a:ext>
            </a:extLst>
          </p:cNvPr>
          <p:cNvCxnSpPr>
            <a:cxnSpLocks/>
            <a:stCxn id="62" idx="3"/>
            <a:endCxn id="22" idx="1"/>
          </p:cNvCxnSpPr>
          <p:nvPr/>
        </p:nvCxnSpPr>
        <p:spPr>
          <a:xfrm>
            <a:off x="6037328" y="3065399"/>
            <a:ext cx="450241" cy="7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2C73983E-E5ED-2583-70E5-03558F366612}"/>
              </a:ext>
            </a:extLst>
          </p:cNvPr>
          <p:cNvSpPr/>
          <p:nvPr/>
        </p:nvSpPr>
        <p:spPr>
          <a:xfrm>
            <a:off x="10249872" y="1984382"/>
            <a:ext cx="252000" cy="12077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融合轨迹估计</a:t>
            </a:r>
          </a:p>
        </p:txBody>
      </p:sp>
      <p:cxnSp>
        <p:nvCxnSpPr>
          <p:cNvPr id="115" name="连接符: 肘形 10">
            <a:extLst>
              <a:ext uri="{FF2B5EF4-FFF2-40B4-BE49-F238E27FC236}">
                <a16:creationId xmlns:a16="http://schemas.microsoft.com/office/drawing/2014/main" id="{6A9D2DC6-E5A2-BD35-D801-961F8FE3CB62}"/>
              </a:ext>
            </a:extLst>
          </p:cNvPr>
          <p:cNvCxnSpPr>
            <a:cxnSpLocks/>
            <a:stCxn id="53" idx="3"/>
            <a:endCxn id="114" idx="1"/>
          </p:cNvCxnSpPr>
          <p:nvPr/>
        </p:nvCxnSpPr>
        <p:spPr>
          <a:xfrm>
            <a:off x="9914218" y="2588244"/>
            <a:ext cx="3356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6976F1CC-8065-506F-A9D9-26871E635FEF}"/>
              </a:ext>
            </a:extLst>
          </p:cNvPr>
          <p:cNvSpPr/>
          <p:nvPr/>
        </p:nvSpPr>
        <p:spPr>
          <a:xfrm>
            <a:off x="5879040" y="3781116"/>
            <a:ext cx="252000" cy="11283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联合标定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627995FB-16B7-74FA-E52B-C2B77257A9BE}"/>
              </a:ext>
            </a:extLst>
          </p:cNvPr>
          <p:cNvSpPr/>
          <p:nvPr/>
        </p:nvSpPr>
        <p:spPr>
          <a:xfrm>
            <a:off x="6391155" y="3781116"/>
            <a:ext cx="252000" cy="11283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点云拼接</a:t>
            </a:r>
          </a:p>
        </p:txBody>
      </p:sp>
      <p:cxnSp>
        <p:nvCxnSpPr>
          <p:cNvPr id="153" name="连接符: 肘形 10">
            <a:extLst>
              <a:ext uri="{FF2B5EF4-FFF2-40B4-BE49-F238E27FC236}">
                <a16:creationId xmlns:a16="http://schemas.microsoft.com/office/drawing/2014/main" id="{504657B6-46D2-681F-B011-F01883FCC4C0}"/>
              </a:ext>
            </a:extLst>
          </p:cNvPr>
          <p:cNvCxnSpPr>
            <a:cxnSpLocks/>
            <a:stCxn id="120" idx="3"/>
            <a:endCxn id="152" idx="1"/>
          </p:cNvCxnSpPr>
          <p:nvPr/>
        </p:nvCxnSpPr>
        <p:spPr>
          <a:xfrm>
            <a:off x="6131040" y="4345280"/>
            <a:ext cx="2601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0">
            <a:extLst>
              <a:ext uri="{FF2B5EF4-FFF2-40B4-BE49-F238E27FC236}">
                <a16:creationId xmlns:a16="http://schemas.microsoft.com/office/drawing/2014/main" id="{2AE39040-8F8F-C3B2-E650-BFDDB2D705BD}"/>
              </a:ext>
            </a:extLst>
          </p:cNvPr>
          <p:cNvCxnSpPr>
            <a:cxnSpLocks/>
            <a:stCxn id="152" idx="3"/>
            <a:endCxn id="176" idx="1"/>
          </p:cNvCxnSpPr>
          <p:nvPr/>
        </p:nvCxnSpPr>
        <p:spPr>
          <a:xfrm>
            <a:off x="6643155" y="4345280"/>
            <a:ext cx="2601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016950B9-A504-957B-FADF-FE1EECD60C44}"/>
              </a:ext>
            </a:extLst>
          </p:cNvPr>
          <p:cNvSpPr/>
          <p:nvPr/>
        </p:nvSpPr>
        <p:spPr>
          <a:xfrm>
            <a:off x="5372304" y="3783404"/>
            <a:ext cx="252000" cy="1125612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激光设备</a:t>
            </a:r>
          </a:p>
        </p:txBody>
      </p:sp>
      <p:cxnSp>
        <p:nvCxnSpPr>
          <p:cNvPr id="166" name="连接符: 肘形 10">
            <a:extLst>
              <a:ext uri="{FF2B5EF4-FFF2-40B4-BE49-F238E27FC236}">
                <a16:creationId xmlns:a16="http://schemas.microsoft.com/office/drawing/2014/main" id="{40CD59B1-EB04-C3AE-3CEF-4037A65308A0}"/>
              </a:ext>
            </a:extLst>
          </p:cNvPr>
          <p:cNvCxnSpPr>
            <a:cxnSpLocks/>
            <a:stCxn id="165" idx="3"/>
            <a:endCxn id="120" idx="1"/>
          </p:cNvCxnSpPr>
          <p:nvPr/>
        </p:nvCxnSpPr>
        <p:spPr>
          <a:xfrm flipV="1">
            <a:off x="5624304" y="4345280"/>
            <a:ext cx="254736" cy="9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B7C0DED6-BDA9-C296-64C3-EE9FE6245EFE}"/>
              </a:ext>
            </a:extLst>
          </p:cNvPr>
          <p:cNvSpPr/>
          <p:nvPr/>
        </p:nvSpPr>
        <p:spPr>
          <a:xfrm>
            <a:off x="6903270" y="3781116"/>
            <a:ext cx="252000" cy="1128328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完整点云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C6A5461-FDFA-CF19-870C-C27F394DA6EA}"/>
              </a:ext>
            </a:extLst>
          </p:cNvPr>
          <p:cNvSpPr/>
          <p:nvPr/>
        </p:nvSpPr>
        <p:spPr>
          <a:xfrm>
            <a:off x="8058286" y="4450572"/>
            <a:ext cx="512115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C22C5394-9195-014B-C2EA-2F4530985B59}"/>
              </a:ext>
            </a:extLst>
          </p:cNvPr>
          <p:cNvSpPr/>
          <p:nvPr/>
        </p:nvSpPr>
        <p:spPr>
          <a:xfrm>
            <a:off x="8788797" y="4450571"/>
            <a:ext cx="1184445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物体轨迹预测</a:t>
            </a:r>
          </a:p>
        </p:txBody>
      </p:sp>
      <p:sp>
        <p:nvSpPr>
          <p:cNvPr id="1064" name="矩形 1063">
            <a:extLst>
              <a:ext uri="{FF2B5EF4-FFF2-40B4-BE49-F238E27FC236}">
                <a16:creationId xmlns:a16="http://schemas.microsoft.com/office/drawing/2014/main" id="{FF990640-7BEB-5130-8BE6-5B37A7403553}"/>
              </a:ext>
            </a:extLst>
          </p:cNvPr>
          <p:cNvSpPr/>
          <p:nvPr/>
        </p:nvSpPr>
        <p:spPr>
          <a:xfrm>
            <a:off x="10249872" y="3776465"/>
            <a:ext cx="252000" cy="113026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碰撞风险评估</a:t>
            </a:r>
          </a:p>
        </p:txBody>
      </p:sp>
      <p:cxnSp>
        <p:nvCxnSpPr>
          <p:cNvPr id="1065" name="连接符: 肘形 10">
            <a:extLst>
              <a:ext uri="{FF2B5EF4-FFF2-40B4-BE49-F238E27FC236}">
                <a16:creationId xmlns:a16="http://schemas.microsoft.com/office/drawing/2014/main" id="{37FC4014-1A9D-C657-E426-ACFEE8CFC122}"/>
              </a:ext>
            </a:extLst>
          </p:cNvPr>
          <p:cNvCxnSpPr>
            <a:cxnSpLocks/>
            <a:stCxn id="1062" idx="3"/>
            <a:endCxn id="1064" idx="1"/>
          </p:cNvCxnSpPr>
          <p:nvPr/>
        </p:nvCxnSpPr>
        <p:spPr>
          <a:xfrm flipV="1">
            <a:off x="9973242" y="4341596"/>
            <a:ext cx="276630" cy="2306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连接符: 肘形 10">
            <a:extLst>
              <a:ext uri="{FF2B5EF4-FFF2-40B4-BE49-F238E27FC236}">
                <a16:creationId xmlns:a16="http://schemas.microsoft.com/office/drawing/2014/main" id="{29CFE04A-E42A-1FCD-0E07-0C06C1DA7633}"/>
              </a:ext>
            </a:extLst>
          </p:cNvPr>
          <p:cNvCxnSpPr>
            <a:cxnSpLocks/>
            <a:stCxn id="176" idx="3"/>
            <a:endCxn id="1073" idx="1"/>
          </p:cNvCxnSpPr>
          <p:nvPr/>
        </p:nvCxnSpPr>
        <p:spPr>
          <a:xfrm flipV="1">
            <a:off x="7155270" y="4342955"/>
            <a:ext cx="264901" cy="2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矩形 1072">
            <a:extLst>
              <a:ext uri="{FF2B5EF4-FFF2-40B4-BE49-F238E27FC236}">
                <a16:creationId xmlns:a16="http://schemas.microsoft.com/office/drawing/2014/main" id="{3D039531-30B6-340D-716E-1BE85443780E}"/>
              </a:ext>
            </a:extLst>
          </p:cNvPr>
          <p:cNvSpPr/>
          <p:nvPr/>
        </p:nvSpPr>
        <p:spPr>
          <a:xfrm>
            <a:off x="7420171" y="3776465"/>
            <a:ext cx="252000" cy="113298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障碍物检测</a:t>
            </a:r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65D34017-E374-5F3D-E6CA-C361D5C87BE5}"/>
              </a:ext>
            </a:extLst>
          </p:cNvPr>
          <p:cNvSpPr/>
          <p:nvPr/>
        </p:nvSpPr>
        <p:spPr>
          <a:xfrm>
            <a:off x="8788796" y="3977898"/>
            <a:ext cx="1184445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禁行区域生成</a:t>
            </a:r>
          </a:p>
        </p:txBody>
      </p:sp>
      <p:cxnSp>
        <p:nvCxnSpPr>
          <p:cNvPr id="1104" name="连接符: 肘形 10">
            <a:extLst>
              <a:ext uri="{FF2B5EF4-FFF2-40B4-BE49-F238E27FC236}">
                <a16:creationId xmlns:a16="http://schemas.microsoft.com/office/drawing/2014/main" id="{7AFB9568-6CB3-1808-0D8E-00400F2F7332}"/>
              </a:ext>
            </a:extLst>
          </p:cNvPr>
          <p:cNvCxnSpPr>
            <a:cxnSpLocks/>
            <a:stCxn id="1110" idx="3"/>
            <a:endCxn id="1103" idx="1"/>
          </p:cNvCxnSpPr>
          <p:nvPr/>
        </p:nvCxnSpPr>
        <p:spPr>
          <a:xfrm>
            <a:off x="8570401" y="4099584"/>
            <a:ext cx="2183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0" name="矩形 1109">
            <a:extLst>
              <a:ext uri="{FF2B5EF4-FFF2-40B4-BE49-F238E27FC236}">
                <a16:creationId xmlns:a16="http://schemas.microsoft.com/office/drawing/2014/main" id="{75A02374-B4ED-4C90-74A5-16729EE8A21B}"/>
              </a:ext>
            </a:extLst>
          </p:cNvPr>
          <p:cNvSpPr/>
          <p:nvPr/>
        </p:nvSpPr>
        <p:spPr>
          <a:xfrm>
            <a:off x="8058286" y="3977898"/>
            <a:ext cx="512115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</a:t>
            </a:r>
          </a:p>
        </p:txBody>
      </p:sp>
      <p:cxnSp>
        <p:nvCxnSpPr>
          <p:cNvPr id="1118" name="连接符: 肘形 10">
            <a:extLst>
              <a:ext uri="{FF2B5EF4-FFF2-40B4-BE49-F238E27FC236}">
                <a16:creationId xmlns:a16="http://schemas.microsoft.com/office/drawing/2014/main" id="{E145D65F-D3A6-ED7E-2B3F-2E193A34F820}"/>
              </a:ext>
            </a:extLst>
          </p:cNvPr>
          <p:cNvCxnSpPr>
            <a:cxnSpLocks/>
            <a:stCxn id="1073" idx="3"/>
            <a:endCxn id="1110" idx="1"/>
          </p:cNvCxnSpPr>
          <p:nvPr/>
        </p:nvCxnSpPr>
        <p:spPr>
          <a:xfrm flipV="1">
            <a:off x="7672171" y="4099584"/>
            <a:ext cx="386115" cy="2433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连接符: 肘形 10">
            <a:extLst>
              <a:ext uri="{FF2B5EF4-FFF2-40B4-BE49-F238E27FC236}">
                <a16:creationId xmlns:a16="http://schemas.microsoft.com/office/drawing/2014/main" id="{ED9FACA7-4375-FD0C-E84F-962D19E14403}"/>
              </a:ext>
            </a:extLst>
          </p:cNvPr>
          <p:cNvCxnSpPr>
            <a:cxnSpLocks/>
            <a:stCxn id="1073" idx="3"/>
            <a:endCxn id="188" idx="1"/>
          </p:cNvCxnSpPr>
          <p:nvPr/>
        </p:nvCxnSpPr>
        <p:spPr>
          <a:xfrm>
            <a:off x="7672171" y="4342955"/>
            <a:ext cx="386115" cy="2293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连接符: 肘形 10">
            <a:extLst>
              <a:ext uri="{FF2B5EF4-FFF2-40B4-BE49-F238E27FC236}">
                <a16:creationId xmlns:a16="http://schemas.microsoft.com/office/drawing/2014/main" id="{FA88AF12-519A-40AB-C688-DFF25ACECC4E}"/>
              </a:ext>
            </a:extLst>
          </p:cNvPr>
          <p:cNvCxnSpPr>
            <a:cxnSpLocks/>
            <a:stCxn id="188" idx="3"/>
            <a:endCxn id="1062" idx="1"/>
          </p:cNvCxnSpPr>
          <p:nvPr/>
        </p:nvCxnSpPr>
        <p:spPr>
          <a:xfrm flipV="1">
            <a:off x="8570401" y="4572257"/>
            <a:ext cx="21839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连接符: 肘形 10">
            <a:extLst>
              <a:ext uri="{FF2B5EF4-FFF2-40B4-BE49-F238E27FC236}">
                <a16:creationId xmlns:a16="http://schemas.microsoft.com/office/drawing/2014/main" id="{3AC23A03-A754-CF9A-512E-244B8FE86EC5}"/>
              </a:ext>
            </a:extLst>
          </p:cNvPr>
          <p:cNvCxnSpPr>
            <a:cxnSpLocks/>
            <a:stCxn id="1103" idx="3"/>
            <a:endCxn id="1064" idx="1"/>
          </p:cNvCxnSpPr>
          <p:nvPr/>
        </p:nvCxnSpPr>
        <p:spPr>
          <a:xfrm>
            <a:off x="9973241" y="4099584"/>
            <a:ext cx="276631" cy="2420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5" name="矩形: 圆角 1264">
            <a:extLst>
              <a:ext uri="{FF2B5EF4-FFF2-40B4-BE49-F238E27FC236}">
                <a16:creationId xmlns:a16="http://schemas.microsoft.com/office/drawing/2014/main" id="{BEC832DC-3C88-E532-6AAA-4D908A5479C2}"/>
              </a:ext>
            </a:extLst>
          </p:cNvPr>
          <p:cNvSpPr/>
          <p:nvPr/>
        </p:nvSpPr>
        <p:spPr>
          <a:xfrm>
            <a:off x="5367436" y="5699585"/>
            <a:ext cx="866801" cy="240581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吊钩轨迹</a:t>
            </a:r>
          </a:p>
        </p:txBody>
      </p:sp>
      <p:sp>
        <p:nvSpPr>
          <p:cNvPr id="1266" name="矩形 1265">
            <a:extLst>
              <a:ext uri="{FF2B5EF4-FFF2-40B4-BE49-F238E27FC236}">
                <a16:creationId xmlns:a16="http://schemas.microsoft.com/office/drawing/2014/main" id="{6270404A-D401-9B69-9AFC-8858754E2C09}"/>
              </a:ext>
            </a:extLst>
          </p:cNvPr>
          <p:cNvSpPr/>
          <p:nvPr/>
        </p:nvSpPr>
        <p:spPr>
          <a:xfrm>
            <a:off x="6475150" y="5699585"/>
            <a:ext cx="1141116" cy="24058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吊物轨迹推算</a:t>
            </a:r>
          </a:p>
        </p:txBody>
      </p:sp>
      <p:cxnSp>
        <p:nvCxnSpPr>
          <p:cNvPr id="1267" name="连接符: 肘形 10">
            <a:extLst>
              <a:ext uri="{FF2B5EF4-FFF2-40B4-BE49-F238E27FC236}">
                <a16:creationId xmlns:a16="http://schemas.microsoft.com/office/drawing/2014/main" id="{025B3DCC-7A9C-1B5F-F961-85758095DAF5}"/>
              </a:ext>
            </a:extLst>
          </p:cNvPr>
          <p:cNvCxnSpPr>
            <a:cxnSpLocks/>
            <a:stCxn id="1265" idx="3"/>
            <a:endCxn id="1266" idx="1"/>
          </p:cNvCxnSpPr>
          <p:nvPr/>
        </p:nvCxnSpPr>
        <p:spPr>
          <a:xfrm>
            <a:off x="6234237" y="5819876"/>
            <a:ext cx="2409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1" name="矩形: 圆角 1270">
            <a:extLst>
              <a:ext uri="{FF2B5EF4-FFF2-40B4-BE49-F238E27FC236}">
                <a16:creationId xmlns:a16="http://schemas.microsoft.com/office/drawing/2014/main" id="{EFD7E0A0-211E-D7AE-4B54-A389D367347D}"/>
              </a:ext>
            </a:extLst>
          </p:cNvPr>
          <p:cNvSpPr/>
          <p:nvPr/>
        </p:nvSpPr>
        <p:spPr>
          <a:xfrm>
            <a:off x="5367436" y="6256179"/>
            <a:ext cx="866801" cy="252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</a:p>
        </p:txBody>
      </p:sp>
      <p:cxnSp>
        <p:nvCxnSpPr>
          <p:cNvPr id="1272" name="连接符: 肘形 10">
            <a:extLst>
              <a:ext uri="{FF2B5EF4-FFF2-40B4-BE49-F238E27FC236}">
                <a16:creationId xmlns:a16="http://schemas.microsoft.com/office/drawing/2014/main" id="{C45ED8B9-381E-2074-1A99-C9E38857592C}"/>
              </a:ext>
            </a:extLst>
          </p:cNvPr>
          <p:cNvCxnSpPr>
            <a:cxnSpLocks/>
            <a:stCxn id="1271" idx="3"/>
            <a:endCxn id="1274" idx="1"/>
          </p:cNvCxnSpPr>
          <p:nvPr/>
        </p:nvCxnSpPr>
        <p:spPr>
          <a:xfrm>
            <a:off x="6234237" y="6382179"/>
            <a:ext cx="240913" cy="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4" name="矩形 1273">
            <a:extLst>
              <a:ext uri="{FF2B5EF4-FFF2-40B4-BE49-F238E27FC236}">
                <a16:creationId xmlns:a16="http://schemas.microsoft.com/office/drawing/2014/main" id="{E11896C9-8755-D8DC-24D2-68BD1F469915}"/>
              </a:ext>
            </a:extLst>
          </p:cNvPr>
          <p:cNvSpPr/>
          <p:nvPr/>
        </p:nvSpPr>
        <p:spPr>
          <a:xfrm>
            <a:off x="6475150" y="6262819"/>
            <a:ext cx="1141116" cy="24058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吊物类别识别</a:t>
            </a:r>
          </a:p>
        </p:txBody>
      </p:sp>
      <p:cxnSp>
        <p:nvCxnSpPr>
          <p:cNvPr id="1282" name="连接符: 肘形 10">
            <a:extLst>
              <a:ext uri="{FF2B5EF4-FFF2-40B4-BE49-F238E27FC236}">
                <a16:creationId xmlns:a16="http://schemas.microsoft.com/office/drawing/2014/main" id="{86D123AB-A0BF-0B14-15DB-1FAD2A45C4EE}"/>
              </a:ext>
            </a:extLst>
          </p:cNvPr>
          <p:cNvCxnSpPr>
            <a:cxnSpLocks/>
            <a:stCxn id="1266" idx="3"/>
            <a:endCxn id="1306" idx="1"/>
          </p:cNvCxnSpPr>
          <p:nvPr/>
        </p:nvCxnSpPr>
        <p:spPr>
          <a:xfrm>
            <a:off x="7616266" y="5819876"/>
            <a:ext cx="296244" cy="275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连接符: 肘形 10">
            <a:extLst>
              <a:ext uri="{FF2B5EF4-FFF2-40B4-BE49-F238E27FC236}">
                <a16:creationId xmlns:a16="http://schemas.microsoft.com/office/drawing/2014/main" id="{9735606A-8282-1F0D-C5AF-1FFC27E25291}"/>
              </a:ext>
            </a:extLst>
          </p:cNvPr>
          <p:cNvCxnSpPr>
            <a:cxnSpLocks/>
            <a:stCxn id="1274" idx="3"/>
            <a:endCxn id="1306" idx="1"/>
          </p:cNvCxnSpPr>
          <p:nvPr/>
        </p:nvCxnSpPr>
        <p:spPr>
          <a:xfrm flipV="1">
            <a:off x="7616266" y="6095597"/>
            <a:ext cx="296244" cy="2875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" name="矩形 1300">
            <a:extLst>
              <a:ext uri="{FF2B5EF4-FFF2-40B4-BE49-F238E27FC236}">
                <a16:creationId xmlns:a16="http://schemas.microsoft.com/office/drawing/2014/main" id="{BD79D630-82DA-D121-B894-B0844EDD8CD6}"/>
              </a:ext>
            </a:extLst>
          </p:cNvPr>
          <p:cNvSpPr/>
          <p:nvPr/>
        </p:nvSpPr>
        <p:spPr>
          <a:xfrm>
            <a:off x="8436752" y="5511236"/>
            <a:ext cx="252000" cy="116872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物料库存更新</a:t>
            </a:r>
          </a:p>
        </p:txBody>
      </p:sp>
      <p:sp>
        <p:nvSpPr>
          <p:cNvPr id="1302" name="矩形 1301">
            <a:extLst>
              <a:ext uri="{FF2B5EF4-FFF2-40B4-BE49-F238E27FC236}">
                <a16:creationId xmlns:a16="http://schemas.microsoft.com/office/drawing/2014/main" id="{011283A7-DB9F-A4A8-CA7A-1F3C2CA5D51B}"/>
              </a:ext>
            </a:extLst>
          </p:cNvPr>
          <p:cNvSpPr/>
          <p:nvPr/>
        </p:nvSpPr>
        <p:spPr>
          <a:xfrm>
            <a:off x="8960995" y="6256180"/>
            <a:ext cx="1540877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施工进度同步</a:t>
            </a:r>
          </a:p>
        </p:txBody>
      </p:sp>
      <p:sp>
        <p:nvSpPr>
          <p:cNvPr id="1303" name="矩形 1302">
            <a:extLst>
              <a:ext uri="{FF2B5EF4-FFF2-40B4-BE49-F238E27FC236}">
                <a16:creationId xmlns:a16="http://schemas.microsoft.com/office/drawing/2014/main" id="{0D7D2839-A121-1910-7A9B-41F4ACC568FB}"/>
              </a:ext>
            </a:extLst>
          </p:cNvPr>
          <p:cNvSpPr/>
          <p:nvPr/>
        </p:nvSpPr>
        <p:spPr>
          <a:xfrm>
            <a:off x="8960994" y="5696795"/>
            <a:ext cx="1540877" cy="2433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吊装效率评估</a:t>
            </a:r>
          </a:p>
        </p:txBody>
      </p:sp>
      <p:cxnSp>
        <p:nvCxnSpPr>
          <p:cNvPr id="1304" name="连接符: 肘形 10">
            <a:extLst>
              <a:ext uri="{FF2B5EF4-FFF2-40B4-BE49-F238E27FC236}">
                <a16:creationId xmlns:a16="http://schemas.microsoft.com/office/drawing/2014/main" id="{41F8C14E-252B-FF7B-F80C-3BD3F192453D}"/>
              </a:ext>
            </a:extLst>
          </p:cNvPr>
          <p:cNvCxnSpPr>
            <a:cxnSpLocks/>
            <a:stCxn id="1301" idx="3"/>
            <a:endCxn id="1303" idx="1"/>
          </p:cNvCxnSpPr>
          <p:nvPr/>
        </p:nvCxnSpPr>
        <p:spPr>
          <a:xfrm flipV="1">
            <a:off x="8688752" y="5818481"/>
            <a:ext cx="272242" cy="27711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连接符: 肘形 10">
            <a:extLst>
              <a:ext uri="{FF2B5EF4-FFF2-40B4-BE49-F238E27FC236}">
                <a16:creationId xmlns:a16="http://schemas.microsoft.com/office/drawing/2014/main" id="{E1FE0838-6F8A-5E8E-F0A2-B99B09D73CBE}"/>
              </a:ext>
            </a:extLst>
          </p:cNvPr>
          <p:cNvCxnSpPr>
            <a:cxnSpLocks/>
            <a:stCxn id="1301" idx="3"/>
            <a:endCxn id="1302" idx="1"/>
          </p:cNvCxnSpPr>
          <p:nvPr/>
        </p:nvCxnSpPr>
        <p:spPr>
          <a:xfrm>
            <a:off x="8688752" y="6095598"/>
            <a:ext cx="272243" cy="28226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6" name="矩形 1305">
            <a:extLst>
              <a:ext uri="{FF2B5EF4-FFF2-40B4-BE49-F238E27FC236}">
                <a16:creationId xmlns:a16="http://schemas.microsoft.com/office/drawing/2014/main" id="{EA6B0127-A3F1-F23B-B711-A3EF930ADE07}"/>
              </a:ext>
            </a:extLst>
          </p:cNvPr>
          <p:cNvSpPr/>
          <p:nvPr/>
        </p:nvSpPr>
        <p:spPr>
          <a:xfrm>
            <a:off x="7912510" y="5511235"/>
            <a:ext cx="252000" cy="116872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吊物状态跟踪</a:t>
            </a:r>
          </a:p>
        </p:txBody>
      </p:sp>
      <p:cxnSp>
        <p:nvCxnSpPr>
          <p:cNvPr id="1309" name="连接符: 肘形 10">
            <a:extLst>
              <a:ext uri="{FF2B5EF4-FFF2-40B4-BE49-F238E27FC236}">
                <a16:creationId xmlns:a16="http://schemas.microsoft.com/office/drawing/2014/main" id="{18612D04-56C6-6E14-CF63-BE81EB4ACB72}"/>
              </a:ext>
            </a:extLst>
          </p:cNvPr>
          <p:cNvCxnSpPr>
            <a:cxnSpLocks/>
            <a:stCxn id="1306" idx="3"/>
            <a:endCxn id="1301" idx="1"/>
          </p:cNvCxnSpPr>
          <p:nvPr/>
        </p:nvCxnSpPr>
        <p:spPr>
          <a:xfrm>
            <a:off x="8164510" y="6095597"/>
            <a:ext cx="27224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矩形: 圆角 1405">
            <a:extLst>
              <a:ext uri="{FF2B5EF4-FFF2-40B4-BE49-F238E27FC236}">
                <a16:creationId xmlns:a16="http://schemas.microsoft.com/office/drawing/2014/main" id="{98AC86BF-3BE1-8ACA-11BD-B82A9B873203}"/>
              </a:ext>
            </a:extLst>
          </p:cNvPr>
          <p:cNvSpPr/>
          <p:nvPr/>
        </p:nvSpPr>
        <p:spPr>
          <a:xfrm>
            <a:off x="5214900" y="1810232"/>
            <a:ext cx="5445942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7" name="矩形: 圆角 1406">
            <a:extLst>
              <a:ext uri="{FF2B5EF4-FFF2-40B4-BE49-F238E27FC236}">
                <a16:creationId xmlns:a16="http://schemas.microsoft.com/office/drawing/2014/main" id="{2C2AEB91-9CB2-7259-B98B-49F2DC8AF201}"/>
              </a:ext>
            </a:extLst>
          </p:cNvPr>
          <p:cNvSpPr/>
          <p:nvPr/>
        </p:nvSpPr>
        <p:spPr>
          <a:xfrm>
            <a:off x="5214900" y="3575882"/>
            <a:ext cx="5445942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8" name="矩形: 圆角 1407">
            <a:extLst>
              <a:ext uri="{FF2B5EF4-FFF2-40B4-BE49-F238E27FC236}">
                <a16:creationId xmlns:a16="http://schemas.microsoft.com/office/drawing/2014/main" id="{4A51DEF2-926D-0AA8-ECD4-7D8A8F83F9DB}"/>
              </a:ext>
            </a:extLst>
          </p:cNvPr>
          <p:cNvSpPr/>
          <p:nvPr/>
        </p:nvSpPr>
        <p:spPr>
          <a:xfrm>
            <a:off x="5214900" y="5337672"/>
            <a:ext cx="5445942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0" name="矩形: 圆角 1409">
            <a:extLst>
              <a:ext uri="{FF2B5EF4-FFF2-40B4-BE49-F238E27FC236}">
                <a16:creationId xmlns:a16="http://schemas.microsoft.com/office/drawing/2014/main" id="{080E0E80-5BDC-8017-89A9-DA9E7D03C047}"/>
              </a:ext>
            </a:extLst>
          </p:cNvPr>
          <p:cNvSpPr/>
          <p:nvPr/>
        </p:nvSpPr>
        <p:spPr>
          <a:xfrm>
            <a:off x="11058296" y="1810231"/>
            <a:ext cx="2014238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SLAM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多传感器融合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基于概率的状态估计</a:t>
            </a:r>
          </a:p>
        </p:txBody>
      </p:sp>
      <p:sp>
        <p:nvSpPr>
          <p:cNvPr id="1415" name="矩形: 圆角 1414">
            <a:extLst>
              <a:ext uri="{FF2B5EF4-FFF2-40B4-BE49-F238E27FC236}">
                <a16:creationId xmlns:a16="http://schemas.microsoft.com/office/drawing/2014/main" id="{C3836D09-FFD2-6243-5E45-068DEE42CB91}"/>
              </a:ext>
            </a:extLst>
          </p:cNvPr>
          <p:cNvSpPr/>
          <p:nvPr/>
        </p:nvSpPr>
        <p:spPr>
          <a:xfrm>
            <a:off x="11058296" y="3575882"/>
            <a:ext cx="2014238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点云特征提取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点云畸变校正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点云帧间差分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包络曲面构建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运动轨迹预测</a:t>
            </a:r>
          </a:p>
        </p:txBody>
      </p:sp>
      <p:sp>
        <p:nvSpPr>
          <p:cNvPr id="1416" name="矩形: 圆角 1415">
            <a:extLst>
              <a:ext uri="{FF2B5EF4-FFF2-40B4-BE49-F238E27FC236}">
                <a16:creationId xmlns:a16="http://schemas.microsoft.com/office/drawing/2014/main" id="{6ED6A32A-E55B-04E1-E992-9575541397D3}"/>
              </a:ext>
            </a:extLst>
          </p:cNvPr>
          <p:cNvSpPr/>
          <p:nvPr/>
        </p:nvSpPr>
        <p:spPr>
          <a:xfrm>
            <a:off x="11058296" y="5337672"/>
            <a:ext cx="2014238" cy="1533021"/>
          </a:xfrm>
          <a:prstGeom prst="round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计算机视觉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目标跟踪</a:t>
            </a: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深度估计</a:t>
            </a:r>
          </a:p>
        </p:txBody>
      </p:sp>
    </p:spTree>
    <p:extLst>
      <p:ext uri="{BB962C8B-B14F-4D97-AF65-F5344CB8AC3E}">
        <p14:creationId xmlns:p14="http://schemas.microsoft.com/office/powerpoint/2010/main" val="3717128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0D5023-CC17-5135-50B4-235C6B45B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257" y="2289439"/>
            <a:ext cx="527748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ECB019B1-382A-4266-B25C-5B523AA43C14-1" descr="wpp">
            <a:extLst>
              <a:ext uri="{FF2B5EF4-FFF2-40B4-BE49-F238E27FC236}">
                <a16:creationId xmlns:a16="http://schemas.microsoft.com/office/drawing/2014/main" id="{FC8A486D-E898-80B2-6E51-113867EE5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7" t="6114" r="4112" b="3834"/>
          <a:stretch>
            <a:fillRect/>
          </a:stretch>
        </p:blipFill>
        <p:spPr>
          <a:xfrm>
            <a:off x="9643270" y="3314964"/>
            <a:ext cx="3235325" cy="366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84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0F1F-FEC1-8359-2270-8DF2474D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7F29556-167C-97AF-4537-638CAE307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991" y="116409"/>
            <a:ext cx="14828012" cy="105669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359548B-9B47-E923-51AC-B9F6B3FF9717}"/>
              </a:ext>
            </a:extLst>
          </p:cNvPr>
          <p:cNvSpPr/>
          <p:nvPr/>
        </p:nvSpPr>
        <p:spPr>
          <a:xfrm>
            <a:off x="4500330" y="4117419"/>
            <a:ext cx="9000000" cy="1728000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吊 钩 定 位 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2F6881-E3A9-22D8-14BE-ECC6B5A59A30}"/>
              </a:ext>
            </a:extLst>
          </p:cNvPr>
          <p:cNvSpPr/>
          <p:nvPr/>
        </p:nvSpPr>
        <p:spPr>
          <a:xfrm>
            <a:off x="6520031" y="1039528"/>
            <a:ext cx="4298765" cy="2879234"/>
          </a:xfrm>
          <a:prstGeom prst="rect">
            <a:avLst/>
          </a:prstGeom>
          <a:solidFill>
            <a:schemeClr val="accent2">
              <a:lumMod val="40000"/>
              <a:lumOff val="60000"/>
              <a:alpha val="6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 缘 计 算 设 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E3788E-34FC-2003-3F96-6053B079F3B8}"/>
              </a:ext>
            </a:extLst>
          </p:cNvPr>
          <p:cNvSpPr/>
          <p:nvPr/>
        </p:nvSpPr>
        <p:spPr>
          <a:xfrm>
            <a:off x="6520030" y="6150543"/>
            <a:ext cx="4885907" cy="2695074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 池 群</a:t>
            </a:r>
          </a:p>
        </p:txBody>
      </p:sp>
      <p:sp>
        <p:nvSpPr>
          <p:cNvPr id="8" name="圆: 空心 7">
            <a:extLst>
              <a:ext uri="{FF2B5EF4-FFF2-40B4-BE49-F238E27FC236}">
                <a16:creationId xmlns:a16="http://schemas.microsoft.com/office/drawing/2014/main" id="{237DF14C-2051-BD34-818E-047B3C67158C}"/>
              </a:ext>
            </a:extLst>
          </p:cNvPr>
          <p:cNvSpPr/>
          <p:nvPr/>
        </p:nvSpPr>
        <p:spPr>
          <a:xfrm>
            <a:off x="4206240" y="187329"/>
            <a:ext cx="9616506" cy="9616506"/>
          </a:xfrm>
          <a:prstGeom prst="donut">
            <a:avLst>
              <a:gd name="adj" fmla="val 53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688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5347-0D02-E263-0EA2-4479B86E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8B6EA08-D1A7-66DD-1FE2-5A6615E77C8F}"/>
              </a:ext>
            </a:extLst>
          </p:cNvPr>
          <p:cNvGrpSpPr/>
          <p:nvPr/>
        </p:nvGrpSpPr>
        <p:grpSpPr>
          <a:xfrm>
            <a:off x="819819" y="258327"/>
            <a:ext cx="4776645" cy="2890276"/>
            <a:chOff x="5131734" y="2512949"/>
            <a:chExt cx="7844540" cy="503124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D831D64-EE73-5C6C-E9D9-F13F4FE6F6B8}"/>
                </a:ext>
              </a:extLst>
            </p:cNvPr>
            <p:cNvGrpSpPr/>
            <p:nvPr/>
          </p:nvGrpSpPr>
          <p:grpSpPr>
            <a:xfrm>
              <a:off x="5225549" y="2721038"/>
              <a:ext cx="7750725" cy="4817243"/>
              <a:chOff x="339188" y="333384"/>
              <a:chExt cx="8430162" cy="4700692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80C97639-8B54-5ADC-71E0-48B804EAB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8898" b="6256"/>
              <a:stretch/>
            </p:blipFill>
            <p:spPr>
              <a:xfrm>
                <a:off x="1873250" y="566606"/>
                <a:ext cx="5957367" cy="4162952"/>
              </a:xfrm>
              <a:prstGeom prst="rect">
                <a:avLst/>
              </a:prstGeom>
              <a:noFill/>
              <a:effectLst/>
            </p:spPr>
          </p:pic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F55DD10-83FF-C261-670C-8CE3B64A32F8}"/>
                  </a:ext>
                </a:extLst>
              </p:cNvPr>
              <p:cNvSpPr txBox="1"/>
              <p:nvPr/>
            </p:nvSpPr>
            <p:spPr>
              <a:xfrm>
                <a:off x="7270749" y="4670510"/>
                <a:ext cx="1498601" cy="363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</a:rPr>
                  <a:t>吊钩轨迹线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7069ABB-B003-1C98-8C33-94FC6C3BFEA9}"/>
                  </a:ext>
                </a:extLst>
              </p:cNvPr>
              <p:cNvSpPr txBox="1"/>
              <p:nvPr/>
            </p:nvSpPr>
            <p:spPr>
              <a:xfrm>
                <a:off x="474844" y="333384"/>
                <a:ext cx="1817507" cy="363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</a:rPr>
                  <a:t>障碍物运动线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B331D6-4124-743C-12A3-77A004600AD6}"/>
                  </a:ext>
                </a:extLst>
              </p:cNvPr>
              <p:cNvSpPr txBox="1"/>
              <p:nvPr/>
            </p:nvSpPr>
            <p:spPr>
              <a:xfrm>
                <a:off x="339188" y="1412886"/>
                <a:ext cx="2429414" cy="365676"/>
              </a:xfrm>
              <a:prstGeom prst="wedgeRoundRectCallout">
                <a:avLst>
                  <a:gd name="adj1" fmla="val 36810"/>
                  <a:gd name="adj2" fmla="val -92019"/>
                  <a:gd name="adj3" fmla="val 16667"/>
                </a:avLst>
              </a:prstGeom>
              <a:solidFill>
                <a:schemeClr val="bg1">
                  <a:lumMod val="95000"/>
                  <a:alpha val="6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障碍物碰撞安全范围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5721E4-5070-FC44-903F-770F0968B931}"/>
                  </a:ext>
                </a:extLst>
              </p:cNvPr>
              <p:cNvSpPr txBox="1"/>
              <p:nvPr/>
            </p:nvSpPr>
            <p:spPr>
              <a:xfrm>
                <a:off x="6301335" y="1600170"/>
                <a:ext cx="2205532" cy="365676"/>
              </a:xfrm>
              <a:prstGeom prst="wedgeRoundRectCallout">
                <a:avLst>
                  <a:gd name="adj1" fmla="val -35449"/>
                  <a:gd name="adj2" fmla="val 87929"/>
                  <a:gd name="adj3" fmla="val 16667"/>
                </a:avLst>
              </a:prstGeom>
              <a:solidFill>
                <a:schemeClr val="bg1">
                  <a:lumMod val="95000"/>
                  <a:alpha val="6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pPr algn="ctr"/>
                <a:r>
                  <a:rPr lang="zh-CN" altLang="en-US" sz="1400">
                    <a:solidFill>
                      <a:srgbClr val="FC0000"/>
                    </a:solidFill>
                  </a:rPr>
                  <a:t>吊钩碰撞安全范围</a:t>
                </a: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98DB289-4C78-AD2C-3C18-AD6A67DDB71E}"/>
                </a:ext>
              </a:extLst>
            </p:cNvPr>
            <p:cNvSpPr/>
            <p:nvPr/>
          </p:nvSpPr>
          <p:spPr>
            <a:xfrm>
              <a:off x="5131734" y="2512949"/>
              <a:ext cx="7844540" cy="503124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52149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43903</TotalTime>
  <Words>985</Words>
  <Application>Microsoft Office PowerPoint</Application>
  <PresentationFormat>自定义</PresentationFormat>
  <Paragraphs>248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宇凡 陈</dc:creator>
  <cp:lastModifiedBy>宇凡 陈</cp:lastModifiedBy>
  <cp:revision>56</cp:revision>
  <dcterms:created xsi:type="dcterms:W3CDTF">2024-09-29T01:09:23Z</dcterms:created>
  <dcterms:modified xsi:type="dcterms:W3CDTF">2026-03-31T13:26:18Z</dcterms:modified>
</cp:coreProperties>
</file>