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60" r:id="rId2"/>
    <p:sldId id="262" r:id="rId3"/>
    <p:sldId id="256" r:id="rId4"/>
    <p:sldId id="261" r:id="rId5"/>
    <p:sldId id="257" r:id="rId6"/>
    <p:sldId id="259" r:id="rId7"/>
  </p:sldIdLst>
  <p:sldSz cx="180006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274" autoAdjust="0"/>
    <p:restoredTop sz="89845" autoAdjust="0"/>
  </p:normalViewPr>
  <p:slideViewPr>
    <p:cSldViewPr snapToGrid="0">
      <p:cViewPr varScale="1">
        <p:scale>
          <a:sx n="93" d="100"/>
          <a:sy n="93" d="100"/>
        </p:scale>
        <p:origin x="100" y="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788DC-73BB-4358-8D4B-CD927D224D4B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857250" y="1143000"/>
            <a:ext cx="51435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8A6259-1F41-450E-B925-381B0A4B566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9816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382258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1pPr>
    <a:lvl2pPr marL="691128" algn="l" defTabSz="1382258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2pPr>
    <a:lvl3pPr marL="1382258" algn="l" defTabSz="1382258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3pPr>
    <a:lvl4pPr marL="2073387" algn="l" defTabSz="1382258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4pPr>
    <a:lvl5pPr marL="2764515" algn="l" defTabSz="1382258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5pPr>
    <a:lvl6pPr marL="3455645" algn="l" defTabSz="1382258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6pPr>
    <a:lvl7pPr marL="4146774" algn="l" defTabSz="1382258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7pPr>
    <a:lvl8pPr marL="4837904" algn="l" defTabSz="1382258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8pPr>
    <a:lvl9pPr marL="5529032" algn="l" defTabSz="1382258" rtl="0" eaLnBrk="1" latinLnBrk="0" hangingPunct="1">
      <a:defRPr sz="181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B315B4-6330-F3CE-C93D-37B331CA1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E859074-5131-D56F-ECCC-7CF4F67F8F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857250" y="1143000"/>
            <a:ext cx="51435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1B4812D-A1C0-5C70-90CF-F1BAAABFB6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第二部分写环境感知</a:t>
            </a:r>
            <a:endParaRPr lang="en-US" altLang="zh-CN"/>
          </a:p>
          <a:p>
            <a:r>
              <a:rPr lang="zh-CN" altLang="en-US"/>
              <a:t>第三部分写风险评估体系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zh-CN" altLang="en-US"/>
              <a:t>参考一些风险四色图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880BEC-54C2-3E6E-52E6-4FB4502317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8A6259-1F41-450E-B925-381B0A4B5666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47485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857250" y="1143000"/>
            <a:ext cx="51435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原创性：</a:t>
            </a:r>
            <a:r>
              <a:rPr lang="zh-CN" altLang="en-US" b="1"/>
              <a:t>智能塔吊是未来方向</a:t>
            </a:r>
            <a:r>
              <a:rPr lang="zh-CN" altLang="en-US"/>
              <a:t>，智能感知有很多方法，如放在塔臂、小车、吊钩，</a:t>
            </a:r>
            <a:r>
              <a:rPr lang="zh-CN" altLang="en-US" b="1"/>
              <a:t>我认为吊钩端一定要有自我感知的能力</a:t>
            </a:r>
            <a:r>
              <a:rPr lang="zh-CN" altLang="en-US"/>
              <a:t>，我做的就是把吊钩拥有自我感知能力，包括视觉、传感、激光建模、最终实现避障、吊物的自动化。最后我组了个可见的东西出来。</a:t>
            </a:r>
            <a:endParaRPr lang="en-US" altLang="zh-CN"/>
          </a:p>
          <a:p>
            <a:r>
              <a:rPr lang="zh-CN" altLang="en-US"/>
              <a:t>几个主要内容：</a:t>
            </a:r>
            <a:endParaRPr lang="en-US" altLang="zh-CN"/>
          </a:p>
          <a:p>
            <a:r>
              <a:rPr lang="en-US" altLang="zh-CN"/>
              <a:t>1.</a:t>
            </a:r>
            <a:r>
              <a:rPr lang="zh-CN" altLang="en-US"/>
              <a:t>多传感器融合</a:t>
            </a:r>
            <a:endParaRPr lang="en-US" altLang="zh-CN"/>
          </a:p>
          <a:p>
            <a:r>
              <a:rPr lang="en-US" altLang="zh-CN"/>
              <a:t>2.</a:t>
            </a:r>
            <a:r>
              <a:rPr lang="zh-CN" altLang="en-US"/>
              <a:t>避障（晃来晃去可能不清晰？怎么解决，调频率？）</a:t>
            </a:r>
            <a:endParaRPr lang="en-US" altLang="zh-CN"/>
          </a:p>
          <a:p>
            <a:r>
              <a:rPr lang="en-US" altLang="zh-CN"/>
              <a:t>3.</a:t>
            </a:r>
            <a:r>
              <a:rPr lang="zh-CN" altLang="en-US"/>
              <a:t>测试，先搭一个实验室模型，检测各种情况能否实现避障预警（各种情况：水平、垂直、空中障碍物，如女儿墙）；然后移步南校区实验室再实验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展示的时候把盒子做个剖面图，介绍每部分的信息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en-US" altLang="zh-CN"/>
              <a:t>1.</a:t>
            </a:r>
            <a:r>
              <a:rPr lang="zh-CN" altLang="en-US"/>
              <a:t>社会实习（半年）</a:t>
            </a:r>
            <a:endParaRPr lang="en-US" altLang="zh-CN"/>
          </a:p>
          <a:p>
            <a:r>
              <a:rPr lang="en-US" altLang="zh-CN"/>
              <a:t>2.</a:t>
            </a:r>
            <a:r>
              <a:rPr lang="zh-CN" altLang="en-US"/>
              <a:t>找工作提前定（上海国企建设单位（徐汇、浦东等区市城投））定个长远目标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最后答辩做个图：</a:t>
            </a:r>
            <a:endParaRPr lang="en-US" altLang="zh-CN"/>
          </a:p>
          <a:p>
            <a:r>
              <a:rPr lang="zh-CN" altLang="en-US"/>
              <a:t>硬件带过来，吊钩</a:t>
            </a:r>
            <a:r>
              <a:rPr lang="en-US" altLang="zh-CN"/>
              <a:t>3d</a:t>
            </a:r>
            <a:r>
              <a:rPr lang="zh-CN" altLang="en-US"/>
              <a:t>打印一下，什么东西都有，加上一个平台的展示（）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zh-CN" altLang="en-US"/>
              <a:t>自己做一个实验， 能不能完成避障的功能</a:t>
            </a: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8A6259-1F41-450E-B925-381B0A4B5666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08583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7BB15-9A81-2183-116E-1C6A52731D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AE859F7-7431-D6BD-4469-1EDDCE84B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857250" y="1143000"/>
            <a:ext cx="5143500" cy="3086100"/>
          </a:xfrm>
        </p:spPr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D470C1B-9C3A-9C85-22B0-1E9DABE307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第二部分写环境感知</a:t>
            </a:r>
            <a:endParaRPr lang="en-US" altLang="zh-CN"/>
          </a:p>
          <a:p>
            <a:r>
              <a:rPr lang="zh-CN" altLang="en-US"/>
              <a:t>第三部分写风险评估体系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zh-CN" altLang="en-US"/>
              <a:t>参考一些风险四色图</a:t>
            </a: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560BA3-AB9F-4A98-C6DE-C5FEFF7DC7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8A6259-1F41-450E-B925-381B0A4B5666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19231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857250" y="1143000"/>
            <a:ext cx="5143500" cy="30861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第二部分写环境感知</a:t>
            </a:r>
            <a:endParaRPr lang="en-US" altLang="zh-CN"/>
          </a:p>
          <a:p>
            <a:r>
              <a:rPr lang="zh-CN" altLang="en-US"/>
              <a:t>第三部分写风险评估体系</a:t>
            </a:r>
            <a:endParaRPr lang="en-US" altLang="zh-CN"/>
          </a:p>
          <a:p>
            <a:endParaRPr lang="en-US" altLang="zh-CN"/>
          </a:p>
          <a:p>
            <a:endParaRPr lang="en-US" altLang="zh-CN"/>
          </a:p>
          <a:p>
            <a:r>
              <a:rPr lang="zh-CN" altLang="en-US"/>
              <a:t>参考一些风险四色图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8A6259-1F41-450E-B925-381B0A4B5666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57229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83" y="1767462"/>
            <a:ext cx="13500497" cy="3759917"/>
          </a:xfrm>
        </p:spPr>
        <p:txBody>
          <a:bodyPr anchor="b"/>
          <a:lstStyle>
            <a:lvl1pPr algn="ctr">
              <a:defRPr sz="8858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5672376"/>
            <a:ext cx="13500497" cy="2607442"/>
          </a:xfrm>
        </p:spPr>
        <p:txBody>
          <a:bodyPr/>
          <a:lstStyle>
            <a:lvl1pPr marL="0" indent="0" algn="ctr">
              <a:buNone/>
              <a:defRPr sz="3543"/>
            </a:lvl1pPr>
            <a:lvl2pPr marL="675010" indent="0" algn="ctr">
              <a:buNone/>
              <a:defRPr sz="2953"/>
            </a:lvl2pPr>
            <a:lvl3pPr marL="1350020" indent="0" algn="ctr">
              <a:buNone/>
              <a:defRPr sz="2658"/>
            </a:lvl3pPr>
            <a:lvl4pPr marL="2025030" indent="0" algn="ctr">
              <a:buNone/>
              <a:defRPr sz="2362"/>
            </a:lvl4pPr>
            <a:lvl5pPr marL="2700040" indent="0" algn="ctr">
              <a:buNone/>
              <a:defRPr sz="2362"/>
            </a:lvl5pPr>
            <a:lvl6pPr marL="3375050" indent="0" algn="ctr">
              <a:buNone/>
              <a:defRPr sz="2362"/>
            </a:lvl6pPr>
            <a:lvl7pPr marL="4050060" indent="0" algn="ctr">
              <a:buNone/>
              <a:defRPr sz="2362"/>
            </a:lvl7pPr>
            <a:lvl8pPr marL="4725071" indent="0" algn="ctr">
              <a:buNone/>
              <a:defRPr sz="2362"/>
            </a:lvl8pPr>
            <a:lvl9pPr marL="5400081" indent="0" algn="ctr">
              <a:buNone/>
              <a:defRPr sz="2362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85673-1F5F-413C-9841-0FC8116FF9FD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E72D-BFE4-44AF-ADC5-9A7E46A645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15065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85673-1F5F-413C-9841-0FC8116FF9FD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E72D-BFE4-44AF-ADC5-9A7E46A645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4729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0" y="2692442"/>
            <a:ext cx="15525572" cy="4492401"/>
          </a:xfrm>
        </p:spPr>
        <p:txBody>
          <a:bodyPr anchor="b"/>
          <a:lstStyle>
            <a:lvl1pPr>
              <a:defRPr sz="8858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0" y="7227343"/>
            <a:ext cx="15525572" cy="2362447"/>
          </a:xfrm>
        </p:spPr>
        <p:txBody>
          <a:bodyPr/>
          <a:lstStyle>
            <a:lvl1pPr marL="0" indent="0">
              <a:buNone/>
              <a:defRPr sz="3543">
                <a:solidFill>
                  <a:schemeClr val="tx1">
                    <a:tint val="75000"/>
                  </a:schemeClr>
                </a:solidFill>
              </a:defRPr>
            </a:lvl1pPr>
            <a:lvl2pPr marL="675010" indent="0">
              <a:buNone/>
              <a:defRPr sz="2953">
                <a:solidFill>
                  <a:schemeClr val="tx1">
                    <a:tint val="75000"/>
                  </a:schemeClr>
                </a:solidFill>
              </a:defRPr>
            </a:lvl2pPr>
            <a:lvl3pPr marL="1350020" indent="0">
              <a:buNone/>
              <a:defRPr sz="2658">
                <a:solidFill>
                  <a:schemeClr val="tx1">
                    <a:tint val="75000"/>
                  </a:schemeClr>
                </a:solidFill>
              </a:defRPr>
            </a:lvl3pPr>
            <a:lvl4pPr marL="2025030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4pPr>
            <a:lvl5pPr marL="2700040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5pPr>
            <a:lvl6pPr marL="3375050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6pPr>
            <a:lvl7pPr marL="4050060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7pPr>
            <a:lvl8pPr marL="4725071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8pPr>
            <a:lvl9pPr marL="5400081" indent="0">
              <a:buNone/>
              <a:defRPr sz="236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85673-1F5F-413C-9841-0FC8116FF9FD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E72D-BFE4-44AF-ADC5-9A7E46A645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05312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2874937"/>
            <a:ext cx="7650282" cy="68523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2874937"/>
            <a:ext cx="7650282" cy="6852350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85673-1F5F-413C-9841-0FC8116FF9FD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E72D-BFE4-44AF-ADC5-9A7E46A645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726903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574988"/>
            <a:ext cx="15525572" cy="208745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1" y="2647443"/>
            <a:ext cx="7615123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1" y="3944914"/>
            <a:ext cx="7615123" cy="58023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6" y="2647443"/>
            <a:ext cx="7652626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6" y="3944914"/>
            <a:ext cx="7652626" cy="580237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85673-1F5F-413C-9841-0FC8116FF9FD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E72D-BFE4-44AF-ADC5-9A7E46A645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10748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85673-1F5F-413C-9841-0FC8116FF9FD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E72D-BFE4-44AF-ADC5-9A7E46A645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41222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85673-1F5F-413C-9841-0FC8116FF9FD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E72D-BFE4-44AF-ADC5-9A7E46A645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0398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1554966"/>
            <a:ext cx="9112836" cy="7674832"/>
          </a:xfrm>
        </p:spPr>
        <p:txBody>
          <a:bodyPr/>
          <a:lstStyle>
            <a:lvl1pPr>
              <a:defRPr sz="4724"/>
            </a:lvl1pPr>
            <a:lvl2pPr>
              <a:defRPr sz="4134"/>
            </a:lvl2pPr>
            <a:lvl3pPr>
              <a:defRPr sz="3543"/>
            </a:lvl3pPr>
            <a:lvl4pPr>
              <a:defRPr sz="2953"/>
            </a:lvl4pPr>
            <a:lvl5pPr>
              <a:defRPr sz="2953"/>
            </a:lvl5pPr>
            <a:lvl6pPr>
              <a:defRPr sz="2953"/>
            </a:lvl6pPr>
            <a:lvl7pPr>
              <a:defRPr sz="2953"/>
            </a:lvl7pPr>
            <a:lvl8pPr>
              <a:defRPr sz="2953"/>
            </a:lvl8pPr>
            <a:lvl9pPr>
              <a:defRPr sz="2953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85673-1F5F-413C-9841-0FC8116FF9FD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E72D-BFE4-44AF-ADC5-9A7E46A645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38708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1554966"/>
            <a:ext cx="9112836" cy="7674832"/>
          </a:xfrm>
        </p:spPr>
        <p:txBody>
          <a:bodyPr anchor="t"/>
          <a:lstStyle>
            <a:lvl1pPr marL="0" indent="0">
              <a:buNone/>
              <a:defRPr sz="4724"/>
            </a:lvl1pPr>
            <a:lvl2pPr marL="675010" indent="0">
              <a:buNone/>
              <a:defRPr sz="4134"/>
            </a:lvl2pPr>
            <a:lvl3pPr marL="1350020" indent="0">
              <a:buNone/>
              <a:defRPr sz="3543"/>
            </a:lvl3pPr>
            <a:lvl4pPr marL="2025030" indent="0">
              <a:buNone/>
              <a:defRPr sz="2953"/>
            </a:lvl4pPr>
            <a:lvl5pPr marL="2700040" indent="0">
              <a:buNone/>
              <a:defRPr sz="2953"/>
            </a:lvl5pPr>
            <a:lvl6pPr marL="3375050" indent="0">
              <a:buNone/>
              <a:defRPr sz="2953"/>
            </a:lvl6pPr>
            <a:lvl7pPr marL="4050060" indent="0">
              <a:buNone/>
              <a:defRPr sz="2953"/>
            </a:lvl7pPr>
            <a:lvl8pPr marL="4725071" indent="0">
              <a:buNone/>
              <a:defRPr sz="2953"/>
            </a:lvl8pPr>
            <a:lvl9pPr marL="5400081" indent="0">
              <a:buNone/>
              <a:defRPr sz="2953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85673-1F5F-413C-9841-0FC8116FF9FD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E72D-BFE4-44AF-ADC5-9A7E46A645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410413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85673-1F5F-413C-9841-0FC8116FF9FD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E72D-BFE4-44AF-ADC5-9A7E46A645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80069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4" y="574987"/>
            <a:ext cx="3881393" cy="91523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5" y="574987"/>
            <a:ext cx="11419171" cy="91523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085673-1F5F-413C-9841-0FC8116FF9FD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74E72D-BFE4-44AF-ADC5-9A7E46A645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9661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574988"/>
            <a:ext cx="15525572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2874937"/>
            <a:ext cx="15525572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085673-1F5F-413C-9841-0FC8116FF9FD}" type="datetimeFigureOut">
              <a:rPr lang="zh-CN" altLang="en-US" smtClean="0"/>
              <a:t>2026/2/28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0009781"/>
            <a:ext cx="607522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74E72D-BFE4-44AF-ADC5-9A7E46A645F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15010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350020" rtl="0" eaLnBrk="1" latinLnBrk="0" hangingPunct="1">
        <a:lnSpc>
          <a:spcPct val="90000"/>
        </a:lnSpc>
        <a:spcBef>
          <a:spcPct val="0"/>
        </a:spcBef>
        <a:buNone/>
        <a:defRPr sz="64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7505" indent="-337505" algn="l" defTabSz="135002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1pPr>
      <a:lvl2pPr marL="101251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68752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953" kern="1200">
          <a:solidFill>
            <a:schemeClr val="tx1"/>
          </a:solidFill>
          <a:latin typeface="+mn-lt"/>
          <a:ea typeface="+mn-ea"/>
          <a:cs typeface="+mn-cs"/>
        </a:defRPr>
      </a:lvl3pPr>
      <a:lvl4pPr marL="236253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303754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71255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38756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506257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73758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1pPr>
      <a:lvl2pPr marL="67501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2pPr>
      <a:lvl3pPr marL="135002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3pPr>
      <a:lvl4pPr marL="202503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270004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37505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05006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472507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40008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420C18-3942-8DCA-2450-73ACA2147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: 圆角 2">
            <a:extLst>
              <a:ext uri="{FF2B5EF4-FFF2-40B4-BE49-F238E27FC236}">
                <a16:creationId xmlns:a16="http://schemas.microsoft.com/office/drawing/2014/main" id="{5EB959C0-D846-A425-F9FF-7A90D2D4F40F}"/>
              </a:ext>
            </a:extLst>
          </p:cNvPr>
          <p:cNvSpPr/>
          <p:nvPr/>
        </p:nvSpPr>
        <p:spPr>
          <a:xfrm>
            <a:off x="4521513" y="390793"/>
            <a:ext cx="7950469" cy="59406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zh-CN" altLang="en-US" sz="1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研究一：</a:t>
            </a:r>
            <a:endParaRPr lang="en-US" altLang="zh-CN" sz="14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传感器系统构建与配准</a:t>
            </a: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E241EBEE-07C8-EA91-B479-6625D1900009}"/>
              </a:ext>
            </a:extLst>
          </p:cNvPr>
          <p:cNvSpPr/>
          <p:nvPr/>
        </p:nvSpPr>
        <p:spPr>
          <a:xfrm>
            <a:off x="4176747" y="171905"/>
            <a:ext cx="8640000" cy="3240000"/>
          </a:xfrm>
          <a:prstGeom prst="roundRect">
            <a:avLst>
              <a:gd name="adj" fmla="val 8291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endParaRPr lang="zh-CN" altLang="en-US" sz="14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2" name="Down Arrow 28">
            <a:extLst>
              <a:ext uri="{FF2B5EF4-FFF2-40B4-BE49-F238E27FC236}">
                <a16:creationId xmlns:a16="http://schemas.microsoft.com/office/drawing/2014/main" id="{16ECA912-B0C2-8271-E1A9-B9DE2761C125}"/>
              </a:ext>
            </a:extLst>
          </p:cNvPr>
          <p:cNvSpPr/>
          <p:nvPr/>
        </p:nvSpPr>
        <p:spPr>
          <a:xfrm rot="16200000">
            <a:off x="6206997" y="2074139"/>
            <a:ext cx="1726474" cy="307950"/>
          </a:xfrm>
          <a:prstGeom prst="downArrow">
            <a:avLst>
              <a:gd name="adj1" fmla="val 55681"/>
              <a:gd name="adj2" fmla="val 63100"/>
            </a:avLst>
          </a:prstGeom>
          <a:solidFill>
            <a:srgbClr val="C0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lIns="36000" tIns="36000" rIns="36000" bIns="0" rtlCol="0" anchor="ctr"/>
          <a:lstStyle/>
          <a:p>
            <a:pPr algn="ctr"/>
            <a:r>
              <a:rPr lang="zh-CN" altLang="en-US" sz="1050" b="1">
                <a:latin typeface="微软雅黑" panose="020B0503020204020204" pitchFamily="34" charset="-122"/>
                <a:ea typeface="微软雅黑" panose="020B0503020204020204" pitchFamily="34" charset="-122"/>
              </a:rPr>
              <a:t>硬件基础</a:t>
            </a:r>
            <a:endParaRPr lang="en-US" sz="105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3" name="Down Arrow 28">
            <a:extLst>
              <a:ext uri="{FF2B5EF4-FFF2-40B4-BE49-F238E27FC236}">
                <a16:creationId xmlns:a16="http://schemas.microsoft.com/office/drawing/2014/main" id="{296FA53A-CBA2-4331-8FED-088504027E05}"/>
              </a:ext>
            </a:extLst>
          </p:cNvPr>
          <p:cNvSpPr/>
          <p:nvPr/>
        </p:nvSpPr>
        <p:spPr>
          <a:xfrm rot="16200000">
            <a:off x="9054094" y="2074139"/>
            <a:ext cx="1726474" cy="307950"/>
          </a:xfrm>
          <a:prstGeom prst="downArrow">
            <a:avLst>
              <a:gd name="adj1" fmla="val 55681"/>
              <a:gd name="adj2" fmla="val 63100"/>
            </a:avLst>
          </a:prstGeom>
          <a:solidFill>
            <a:srgbClr val="C0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lIns="36000" tIns="36000" rIns="36000" bIns="0" rtlCol="0" anchor="ctr"/>
          <a:lstStyle/>
          <a:p>
            <a:pPr algn="ctr"/>
            <a:r>
              <a:rPr lang="zh-CN" altLang="en-US" sz="1050" b="1">
                <a:latin typeface="微软雅黑" panose="020B0503020204020204" pitchFamily="34" charset="-122"/>
                <a:ea typeface="微软雅黑" panose="020B0503020204020204" pitchFamily="34" charset="-122"/>
              </a:rPr>
              <a:t>空间参数</a:t>
            </a:r>
            <a:endParaRPr lang="en-US" sz="105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5" name="矩形: 圆角 104">
            <a:extLst>
              <a:ext uri="{FF2B5EF4-FFF2-40B4-BE49-F238E27FC236}">
                <a16:creationId xmlns:a16="http://schemas.microsoft.com/office/drawing/2014/main" id="{859DF0B2-4F6B-E28B-EDCC-DCCF018100CA}"/>
              </a:ext>
            </a:extLst>
          </p:cNvPr>
          <p:cNvSpPr/>
          <p:nvPr/>
        </p:nvSpPr>
        <p:spPr>
          <a:xfrm>
            <a:off x="4521513" y="3919487"/>
            <a:ext cx="7950469" cy="59406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zh-CN" altLang="en-US" sz="1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研究二：</a:t>
            </a:r>
            <a:endParaRPr lang="en-US" altLang="zh-CN" sz="14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基于融合点云的定位与空间危险区域检测方法</a:t>
            </a:r>
          </a:p>
        </p:txBody>
      </p:sp>
      <p:sp>
        <p:nvSpPr>
          <p:cNvPr id="106" name="矩形 105">
            <a:extLst>
              <a:ext uri="{FF2B5EF4-FFF2-40B4-BE49-F238E27FC236}">
                <a16:creationId xmlns:a16="http://schemas.microsoft.com/office/drawing/2014/main" id="{034EE16F-AC8B-F33F-4434-70AC4E76379E}"/>
              </a:ext>
            </a:extLst>
          </p:cNvPr>
          <p:cNvSpPr/>
          <p:nvPr/>
        </p:nvSpPr>
        <p:spPr>
          <a:xfrm>
            <a:off x="4707720" y="5153150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点云数据特征分析</a:t>
            </a:r>
          </a:p>
        </p:txBody>
      </p:sp>
      <p:sp>
        <p:nvSpPr>
          <p:cNvPr id="107" name="矩形 106">
            <a:extLst>
              <a:ext uri="{FF2B5EF4-FFF2-40B4-BE49-F238E27FC236}">
                <a16:creationId xmlns:a16="http://schemas.microsoft.com/office/drawing/2014/main" id="{A03AFF50-97C2-FADD-F953-0D436F2740F6}"/>
              </a:ext>
            </a:extLst>
          </p:cNvPr>
          <p:cNvSpPr/>
          <p:nvPr/>
        </p:nvSpPr>
        <p:spPr>
          <a:xfrm>
            <a:off x="4707720" y="6288105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点云实时融合与发布</a:t>
            </a:r>
          </a:p>
        </p:txBody>
      </p:sp>
      <p:sp>
        <p:nvSpPr>
          <p:cNvPr id="108" name="矩形: 圆角 107">
            <a:extLst>
              <a:ext uri="{FF2B5EF4-FFF2-40B4-BE49-F238E27FC236}">
                <a16:creationId xmlns:a16="http://schemas.microsoft.com/office/drawing/2014/main" id="{7A91093A-17BE-F500-5199-A045095FC950}"/>
              </a:ext>
            </a:extLst>
          </p:cNvPr>
          <p:cNvSpPr/>
          <p:nvPr/>
        </p:nvSpPr>
        <p:spPr>
          <a:xfrm>
            <a:off x="4176747" y="3700599"/>
            <a:ext cx="8640000" cy="3240000"/>
          </a:xfrm>
          <a:prstGeom prst="roundRect">
            <a:avLst>
              <a:gd name="adj" fmla="val 8291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endParaRPr lang="zh-CN" altLang="en-US" sz="14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9" name="矩形: 圆角 108">
            <a:extLst>
              <a:ext uri="{FF2B5EF4-FFF2-40B4-BE49-F238E27FC236}">
                <a16:creationId xmlns:a16="http://schemas.microsoft.com/office/drawing/2014/main" id="{07F4B4E6-6924-BC6C-0831-28A71FBAEFDF}"/>
              </a:ext>
            </a:extLst>
          </p:cNvPr>
          <p:cNvSpPr/>
          <p:nvPr/>
        </p:nvSpPr>
        <p:spPr>
          <a:xfrm>
            <a:off x="4521514" y="4696148"/>
            <a:ext cx="2250343" cy="205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endParaRPr lang="zh-CN" altLang="en-US" sz="14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AD2AC2D4-7E1A-18B1-76FB-D7D9157B0BE1}"/>
              </a:ext>
            </a:extLst>
          </p:cNvPr>
          <p:cNvSpPr/>
          <p:nvPr/>
        </p:nvSpPr>
        <p:spPr>
          <a:xfrm>
            <a:off x="4665916" y="4760329"/>
            <a:ext cx="1961538" cy="252000"/>
          </a:xfrm>
          <a:prstGeom prst="rect">
            <a:avLst/>
          </a:prstGeom>
          <a:noFill/>
          <a:ln w="158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点云实时融合方法</a:t>
            </a:r>
          </a:p>
        </p:txBody>
      </p:sp>
      <p:sp>
        <p:nvSpPr>
          <p:cNvPr id="111" name="矩形 110">
            <a:extLst>
              <a:ext uri="{FF2B5EF4-FFF2-40B4-BE49-F238E27FC236}">
                <a16:creationId xmlns:a16="http://schemas.microsoft.com/office/drawing/2014/main" id="{A55A1143-760F-44C0-2973-5E92B08BB033}"/>
              </a:ext>
            </a:extLst>
          </p:cNvPr>
          <p:cNvSpPr/>
          <p:nvPr/>
        </p:nvSpPr>
        <p:spPr>
          <a:xfrm>
            <a:off x="4707720" y="5716395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外参矩阵与坐标统一</a:t>
            </a:r>
          </a:p>
        </p:txBody>
      </p:sp>
      <p:cxnSp>
        <p:nvCxnSpPr>
          <p:cNvPr id="112" name="连接符: 肘形 10">
            <a:extLst>
              <a:ext uri="{FF2B5EF4-FFF2-40B4-BE49-F238E27FC236}">
                <a16:creationId xmlns:a16="http://schemas.microsoft.com/office/drawing/2014/main" id="{A53EF091-2801-F791-EFE5-66048A2403E0}"/>
              </a:ext>
            </a:extLst>
          </p:cNvPr>
          <p:cNvCxnSpPr>
            <a:cxnSpLocks/>
            <a:stCxn id="106" idx="2"/>
            <a:endCxn id="111" idx="0"/>
          </p:cNvCxnSpPr>
          <p:nvPr/>
        </p:nvCxnSpPr>
        <p:spPr>
          <a:xfrm>
            <a:off x="5643720" y="5405150"/>
            <a:ext cx="0" cy="3112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连接符: 肘形 10">
            <a:extLst>
              <a:ext uri="{FF2B5EF4-FFF2-40B4-BE49-F238E27FC236}">
                <a16:creationId xmlns:a16="http://schemas.microsoft.com/office/drawing/2014/main" id="{BDCA36AE-8D66-0F31-EB52-9535D9149A96}"/>
              </a:ext>
            </a:extLst>
          </p:cNvPr>
          <p:cNvCxnSpPr>
            <a:cxnSpLocks/>
            <a:stCxn id="111" idx="2"/>
            <a:endCxn id="107" idx="0"/>
          </p:cNvCxnSpPr>
          <p:nvPr/>
        </p:nvCxnSpPr>
        <p:spPr>
          <a:xfrm>
            <a:off x="5643720" y="5968395"/>
            <a:ext cx="0" cy="3197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矩形 115">
            <a:extLst>
              <a:ext uri="{FF2B5EF4-FFF2-40B4-BE49-F238E27FC236}">
                <a16:creationId xmlns:a16="http://schemas.microsoft.com/office/drawing/2014/main" id="{EC8355BA-1E07-CC08-3BE5-B88E1F4BC462}"/>
              </a:ext>
            </a:extLst>
          </p:cNvPr>
          <p:cNvSpPr/>
          <p:nvPr/>
        </p:nvSpPr>
        <p:spPr>
          <a:xfrm>
            <a:off x="7557522" y="5153150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算法选择与系统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I/O</a:t>
            </a:r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定义</a:t>
            </a:r>
          </a:p>
        </p:txBody>
      </p:sp>
      <p:sp>
        <p:nvSpPr>
          <p:cNvPr id="117" name="矩形 116">
            <a:extLst>
              <a:ext uri="{FF2B5EF4-FFF2-40B4-BE49-F238E27FC236}">
                <a16:creationId xmlns:a16="http://schemas.microsoft.com/office/drawing/2014/main" id="{52099475-4512-4E75-DB82-ADF58952F71D}"/>
              </a:ext>
            </a:extLst>
          </p:cNvPr>
          <p:cNvSpPr/>
          <p:nvPr/>
        </p:nvSpPr>
        <p:spPr>
          <a:xfrm>
            <a:off x="7557522" y="6286498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位姿输出与点云配准</a:t>
            </a:r>
          </a:p>
        </p:txBody>
      </p:sp>
      <p:sp>
        <p:nvSpPr>
          <p:cNvPr id="118" name="矩形: 圆角 117">
            <a:extLst>
              <a:ext uri="{FF2B5EF4-FFF2-40B4-BE49-F238E27FC236}">
                <a16:creationId xmlns:a16="http://schemas.microsoft.com/office/drawing/2014/main" id="{FB078DB5-925D-5A9F-9655-F8EECD984875}"/>
              </a:ext>
            </a:extLst>
          </p:cNvPr>
          <p:cNvSpPr/>
          <p:nvPr/>
        </p:nvSpPr>
        <p:spPr>
          <a:xfrm>
            <a:off x="7368611" y="4696148"/>
            <a:ext cx="2250343" cy="205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endParaRPr lang="zh-CN" altLang="en-US" sz="14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9" name="矩形 118">
            <a:extLst>
              <a:ext uri="{FF2B5EF4-FFF2-40B4-BE49-F238E27FC236}">
                <a16:creationId xmlns:a16="http://schemas.microsoft.com/office/drawing/2014/main" id="{6EB0F6A8-EB68-FC41-572A-D53EFDE590E4}"/>
              </a:ext>
            </a:extLst>
          </p:cNvPr>
          <p:cNvSpPr/>
          <p:nvPr/>
        </p:nvSpPr>
        <p:spPr>
          <a:xfrm>
            <a:off x="7513013" y="4760329"/>
            <a:ext cx="1961538" cy="252000"/>
          </a:xfrm>
          <a:prstGeom prst="rect">
            <a:avLst/>
          </a:prstGeom>
          <a:noFill/>
          <a:ln w="158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SLAM</a:t>
            </a:r>
            <a:r>
              <a:rPr lang="zh-CN" altLang="en-US" sz="1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流程</a:t>
            </a:r>
          </a:p>
        </p:txBody>
      </p:sp>
      <p:sp>
        <p:nvSpPr>
          <p:cNvPr id="121" name="矩形 120">
            <a:extLst>
              <a:ext uri="{FF2B5EF4-FFF2-40B4-BE49-F238E27FC236}">
                <a16:creationId xmlns:a16="http://schemas.microsoft.com/office/drawing/2014/main" id="{4A7A21A6-4B77-DA05-2EE9-F7FE162B9535}"/>
              </a:ext>
            </a:extLst>
          </p:cNvPr>
          <p:cNvSpPr/>
          <p:nvPr/>
        </p:nvSpPr>
        <p:spPr>
          <a:xfrm>
            <a:off x="7557522" y="5719824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LIO-SAM</a:t>
            </a:r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原理与流程</a:t>
            </a:r>
          </a:p>
        </p:txBody>
      </p:sp>
      <p:cxnSp>
        <p:nvCxnSpPr>
          <p:cNvPr id="122" name="连接符: 肘形 10">
            <a:extLst>
              <a:ext uri="{FF2B5EF4-FFF2-40B4-BE49-F238E27FC236}">
                <a16:creationId xmlns:a16="http://schemas.microsoft.com/office/drawing/2014/main" id="{CF6097B8-16E5-F708-B5B2-7C71391A8F9A}"/>
              </a:ext>
            </a:extLst>
          </p:cNvPr>
          <p:cNvCxnSpPr>
            <a:cxnSpLocks/>
            <a:stCxn id="116" idx="2"/>
            <a:endCxn id="121" idx="0"/>
          </p:cNvCxnSpPr>
          <p:nvPr/>
        </p:nvCxnSpPr>
        <p:spPr>
          <a:xfrm>
            <a:off x="8493522" y="5405150"/>
            <a:ext cx="0" cy="3146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连接符: 肘形 10">
            <a:extLst>
              <a:ext uri="{FF2B5EF4-FFF2-40B4-BE49-F238E27FC236}">
                <a16:creationId xmlns:a16="http://schemas.microsoft.com/office/drawing/2014/main" id="{13F9B5E8-CEBB-C6D5-7126-B18D3845FDAC}"/>
              </a:ext>
            </a:extLst>
          </p:cNvPr>
          <p:cNvCxnSpPr>
            <a:cxnSpLocks/>
            <a:stCxn id="121" idx="2"/>
            <a:endCxn id="117" idx="0"/>
          </p:cNvCxnSpPr>
          <p:nvPr/>
        </p:nvCxnSpPr>
        <p:spPr>
          <a:xfrm>
            <a:off x="8493522" y="5971824"/>
            <a:ext cx="0" cy="3146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矩形 123">
            <a:extLst>
              <a:ext uri="{FF2B5EF4-FFF2-40B4-BE49-F238E27FC236}">
                <a16:creationId xmlns:a16="http://schemas.microsoft.com/office/drawing/2014/main" id="{63FDB186-4298-7F35-B8B1-44F2AF573908}"/>
              </a:ext>
            </a:extLst>
          </p:cNvPr>
          <p:cNvSpPr/>
          <p:nvPr/>
        </p:nvSpPr>
        <p:spPr>
          <a:xfrm>
            <a:off x="10405551" y="5148641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ROI</a:t>
            </a:r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裁剪与点云预处理</a:t>
            </a:r>
          </a:p>
        </p:txBody>
      </p:sp>
      <p:sp>
        <p:nvSpPr>
          <p:cNvPr id="125" name="矩形 124">
            <a:extLst>
              <a:ext uri="{FF2B5EF4-FFF2-40B4-BE49-F238E27FC236}">
                <a16:creationId xmlns:a16="http://schemas.microsoft.com/office/drawing/2014/main" id="{7667CE1D-4DF2-CFB0-307C-F346B7227B85}"/>
              </a:ext>
            </a:extLst>
          </p:cNvPr>
          <p:cNvSpPr/>
          <p:nvPr/>
        </p:nvSpPr>
        <p:spPr>
          <a:xfrm>
            <a:off x="10405551" y="5904641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动态点云簇提取</a:t>
            </a:r>
          </a:p>
        </p:txBody>
      </p:sp>
      <p:sp>
        <p:nvSpPr>
          <p:cNvPr id="126" name="矩形: 圆角 125">
            <a:extLst>
              <a:ext uri="{FF2B5EF4-FFF2-40B4-BE49-F238E27FC236}">
                <a16:creationId xmlns:a16="http://schemas.microsoft.com/office/drawing/2014/main" id="{C8BA9864-A589-16E2-6E5B-5BAA9A6FAF85}"/>
              </a:ext>
            </a:extLst>
          </p:cNvPr>
          <p:cNvSpPr/>
          <p:nvPr/>
        </p:nvSpPr>
        <p:spPr>
          <a:xfrm>
            <a:off x="10221640" y="4696149"/>
            <a:ext cx="2250343" cy="205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endParaRPr lang="zh-CN" altLang="en-US" sz="14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7" name="矩形 126">
            <a:extLst>
              <a:ext uri="{FF2B5EF4-FFF2-40B4-BE49-F238E27FC236}">
                <a16:creationId xmlns:a16="http://schemas.microsoft.com/office/drawing/2014/main" id="{4C83FB2B-0622-93D4-D33A-26FDDF0F6DB6}"/>
              </a:ext>
            </a:extLst>
          </p:cNvPr>
          <p:cNvSpPr/>
          <p:nvPr/>
        </p:nvSpPr>
        <p:spPr>
          <a:xfrm>
            <a:off x="10366042" y="4760329"/>
            <a:ext cx="1961538" cy="252000"/>
          </a:xfrm>
          <a:prstGeom prst="rect">
            <a:avLst/>
          </a:prstGeom>
          <a:noFill/>
          <a:ln w="158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静动态目标生成</a:t>
            </a:r>
          </a:p>
        </p:txBody>
      </p:sp>
      <p:sp>
        <p:nvSpPr>
          <p:cNvPr id="1409" name="矩形 1408">
            <a:extLst>
              <a:ext uri="{FF2B5EF4-FFF2-40B4-BE49-F238E27FC236}">
                <a16:creationId xmlns:a16="http://schemas.microsoft.com/office/drawing/2014/main" id="{492120BC-DCE7-371D-BFB1-845FBC10B605}"/>
              </a:ext>
            </a:extLst>
          </p:cNvPr>
          <p:cNvSpPr/>
          <p:nvPr/>
        </p:nvSpPr>
        <p:spPr>
          <a:xfrm>
            <a:off x="10405551" y="5526641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局部滑动窗口表示</a:t>
            </a:r>
          </a:p>
        </p:txBody>
      </p:sp>
      <p:cxnSp>
        <p:nvCxnSpPr>
          <p:cNvPr id="1411" name="连接符: 肘形 10">
            <a:extLst>
              <a:ext uri="{FF2B5EF4-FFF2-40B4-BE49-F238E27FC236}">
                <a16:creationId xmlns:a16="http://schemas.microsoft.com/office/drawing/2014/main" id="{27E60B58-61DA-E8AC-F915-3E2A5FA0527A}"/>
              </a:ext>
            </a:extLst>
          </p:cNvPr>
          <p:cNvCxnSpPr>
            <a:cxnSpLocks/>
            <a:stCxn id="124" idx="2"/>
            <a:endCxn id="1409" idx="0"/>
          </p:cNvCxnSpPr>
          <p:nvPr/>
        </p:nvCxnSpPr>
        <p:spPr>
          <a:xfrm>
            <a:off x="11341551" y="5400641"/>
            <a:ext cx="0" cy="1260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2" name="连接符: 肘形 10">
            <a:extLst>
              <a:ext uri="{FF2B5EF4-FFF2-40B4-BE49-F238E27FC236}">
                <a16:creationId xmlns:a16="http://schemas.microsoft.com/office/drawing/2014/main" id="{96DA7632-69BA-1395-2172-814D50AB5692}"/>
              </a:ext>
            </a:extLst>
          </p:cNvPr>
          <p:cNvCxnSpPr>
            <a:cxnSpLocks/>
            <a:stCxn id="1409" idx="2"/>
            <a:endCxn id="125" idx="0"/>
          </p:cNvCxnSpPr>
          <p:nvPr/>
        </p:nvCxnSpPr>
        <p:spPr>
          <a:xfrm>
            <a:off x="11341551" y="5778641"/>
            <a:ext cx="0" cy="1260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3" name="Down Arrow 28">
            <a:extLst>
              <a:ext uri="{FF2B5EF4-FFF2-40B4-BE49-F238E27FC236}">
                <a16:creationId xmlns:a16="http://schemas.microsoft.com/office/drawing/2014/main" id="{22661278-70B2-DD17-B9EF-9476F4D80C85}"/>
              </a:ext>
            </a:extLst>
          </p:cNvPr>
          <p:cNvSpPr/>
          <p:nvPr/>
        </p:nvSpPr>
        <p:spPr>
          <a:xfrm rot="16200000">
            <a:off x="6206997" y="5574935"/>
            <a:ext cx="1726474" cy="307950"/>
          </a:xfrm>
          <a:prstGeom prst="downArrow">
            <a:avLst>
              <a:gd name="adj1" fmla="val 55681"/>
              <a:gd name="adj2" fmla="val 63100"/>
            </a:avLst>
          </a:prstGeom>
          <a:solidFill>
            <a:srgbClr val="C0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lIns="36000" tIns="36000" rIns="36000" bIns="0" rtlCol="0" anchor="ctr"/>
          <a:lstStyle/>
          <a:p>
            <a:pPr algn="ctr"/>
            <a:r>
              <a:rPr lang="zh-CN" altLang="en-US" sz="1050" b="1">
                <a:latin typeface="微软雅黑" panose="020B0503020204020204" pitchFamily="34" charset="-122"/>
                <a:ea typeface="微软雅黑" panose="020B0503020204020204" pitchFamily="34" charset="-122"/>
              </a:rPr>
              <a:t>融合点云</a:t>
            </a:r>
            <a:endParaRPr lang="en-US" sz="105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14" name="Down Arrow 28">
            <a:extLst>
              <a:ext uri="{FF2B5EF4-FFF2-40B4-BE49-F238E27FC236}">
                <a16:creationId xmlns:a16="http://schemas.microsoft.com/office/drawing/2014/main" id="{74B8FDC1-231C-5DBA-4AFF-9259050F911F}"/>
              </a:ext>
            </a:extLst>
          </p:cNvPr>
          <p:cNvSpPr/>
          <p:nvPr/>
        </p:nvSpPr>
        <p:spPr>
          <a:xfrm rot="16200000">
            <a:off x="9054094" y="5574935"/>
            <a:ext cx="1726474" cy="307950"/>
          </a:xfrm>
          <a:prstGeom prst="downArrow">
            <a:avLst>
              <a:gd name="adj1" fmla="val 55681"/>
              <a:gd name="adj2" fmla="val 63100"/>
            </a:avLst>
          </a:prstGeom>
          <a:solidFill>
            <a:srgbClr val="C0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lIns="36000" tIns="36000" rIns="36000" bIns="0" rtlCol="0" anchor="ctr"/>
          <a:lstStyle/>
          <a:p>
            <a:pPr algn="ctr"/>
            <a:r>
              <a:rPr lang="zh-CN" altLang="en-US" sz="1050" b="1">
                <a:latin typeface="微软雅黑" panose="020B0503020204020204" pitchFamily="34" charset="-122"/>
                <a:ea typeface="微软雅黑" panose="020B0503020204020204" pitchFamily="34" charset="-122"/>
              </a:rPr>
              <a:t>位姿</a:t>
            </a:r>
            <a:r>
              <a:rPr lang="en-US" altLang="zh-CN" sz="1050" b="1">
                <a:latin typeface="微软雅黑" panose="020B0503020204020204" pitchFamily="34" charset="-122"/>
                <a:ea typeface="微软雅黑" panose="020B0503020204020204" pitchFamily="34" charset="-122"/>
              </a:rPr>
              <a:t>+</a:t>
            </a:r>
            <a:r>
              <a:rPr lang="zh-CN" altLang="en-US" sz="1050" b="1">
                <a:latin typeface="微软雅黑" panose="020B0503020204020204" pitchFamily="34" charset="-122"/>
                <a:ea typeface="微软雅黑" panose="020B0503020204020204" pitchFamily="34" charset="-122"/>
              </a:rPr>
              <a:t>地图</a:t>
            </a:r>
            <a:endParaRPr lang="en-US" sz="105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19" name="箭头: 五边形 1418">
            <a:extLst>
              <a:ext uri="{FF2B5EF4-FFF2-40B4-BE49-F238E27FC236}">
                <a16:creationId xmlns:a16="http://schemas.microsoft.com/office/drawing/2014/main" id="{73307C19-3EF8-07EF-BE82-3B5301420844}"/>
              </a:ext>
            </a:extLst>
          </p:cNvPr>
          <p:cNvSpPr/>
          <p:nvPr/>
        </p:nvSpPr>
        <p:spPr>
          <a:xfrm rot="5400000">
            <a:off x="11834055" y="1642939"/>
            <a:ext cx="3410068" cy="468000"/>
          </a:xfrm>
          <a:prstGeom prst="homePlate">
            <a:avLst/>
          </a:prstGeom>
          <a:solidFill>
            <a:schemeClr val="bg1">
              <a:lumMod val="85000"/>
            </a:schemeClr>
          </a:solidFill>
          <a:ln w="158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6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统一时空基准与标定配置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EAD1BFE-11B0-28CC-41D4-E67DBB6525A2}"/>
              </a:ext>
            </a:extLst>
          </p:cNvPr>
          <p:cNvSpPr/>
          <p:nvPr/>
        </p:nvSpPr>
        <p:spPr>
          <a:xfrm>
            <a:off x="10405551" y="6283406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目标状态估计与短时跟踪</a:t>
            </a:r>
          </a:p>
        </p:txBody>
      </p:sp>
      <p:sp>
        <p:nvSpPr>
          <p:cNvPr id="12" name="箭头: V 形 11">
            <a:extLst>
              <a:ext uri="{FF2B5EF4-FFF2-40B4-BE49-F238E27FC236}">
                <a16:creationId xmlns:a16="http://schemas.microsoft.com/office/drawing/2014/main" id="{3617FA84-8B5A-173E-8725-4280AF7F7A20}"/>
              </a:ext>
            </a:extLst>
          </p:cNvPr>
          <p:cNvSpPr/>
          <p:nvPr/>
        </p:nvSpPr>
        <p:spPr>
          <a:xfrm rot="5400000">
            <a:off x="11834055" y="5171633"/>
            <a:ext cx="3410068" cy="468000"/>
          </a:xfrm>
          <a:prstGeom prst="chevron">
            <a:avLst/>
          </a:prstGeom>
          <a:solidFill>
            <a:schemeClr val="bg1">
              <a:lumMod val="85000"/>
            </a:schemeClr>
          </a:solidFill>
          <a:ln w="158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6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几何定位与目标状态获取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EA4EFBC-EF26-42F6-C3EF-553BB60C0E03}"/>
              </a:ext>
            </a:extLst>
          </p:cNvPr>
          <p:cNvSpPr/>
          <p:nvPr/>
        </p:nvSpPr>
        <p:spPr>
          <a:xfrm>
            <a:off x="4521513" y="7448181"/>
            <a:ext cx="7950469" cy="59406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zh-CN" altLang="en-US" sz="1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研究三：</a:t>
            </a:r>
            <a:endParaRPr lang="en-US" altLang="zh-CN" sz="14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基于雷视融合的避障预警策略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D11F3B81-15CA-8A7B-5BCE-1D71B8E1B313}"/>
              </a:ext>
            </a:extLst>
          </p:cNvPr>
          <p:cNvSpPr/>
          <p:nvPr/>
        </p:nvSpPr>
        <p:spPr>
          <a:xfrm>
            <a:off x="4176747" y="7229293"/>
            <a:ext cx="8640000" cy="3240000"/>
          </a:xfrm>
          <a:prstGeom prst="roundRect">
            <a:avLst>
              <a:gd name="adj" fmla="val 8291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endParaRPr lang="zh-CN" altLang="en-US" sz="14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6" name="Down Arrow 28">
            <a:extLst>
              <a:ext uri="{FF2B5EF4-FFF2-40B4-BE49-F238E27FC236}">
                <a16:creationId xmlns:a16="http://schemas.microsoft.com/office/drawing/2014/main" id="{8E924A4B-46CB-5B8C-DE23-D087234C45DD}"/>
              </a:ext>
            </a:extLst>
          </p:cNvPr>
          <p:cNvSpPr/>
          <p:nvPr/>
        </p:nvSpPr>
        <p:spPr>
          <a:xfrm rot="16200000">
            <a:off x="6206997" y="9028530"/>
            <a:ext cx="1726474" cy="307950"/>
          </a:xfrm>
          <a:prstGeom prst="downArrow">
            <a:avLst>
              <a:gd name="adj1" fmla="val 55681"/>
              <a:gd name="adj2" fmla="val 63100"/>
            </a:avLst>
          </a:prstGeom>
          <a:solidFill>
            <a:srgbClr val="C0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lIns="36000" tIns="36000" rIns="36000" bIns="0" rtlCol="0" anchor="ctr"/>
          <a:lstStyle/>
          <a:p>
            <a:pPr algn="ctr"/>
            <a:r>
              <a:rPr lang="en-US" altLang="zh-CN" sz="1050" b="1">
                <a:latin typeface="微软雅黑" panose="020B0503020204020204" pitchFamily="34" charset="-122"/>
                <a:ea typeface="微软雅黑" panose="020B0503020204020204" pitchFamily="34" charset="-122"/>
              </a:rPr>
              <a:t>2D</a:t>
            </a:r>
            <a:r>
              <a:rPr lang="zh-CN" altLang="en-US" sz="1050" b="1">
                <a:latin typeface="微软雅黑" panose="020B0503020204020204" pitchFamily="34" charset="-122"/>
                <a:ea typeface="微软雅黑" panose="020B0503020204020204" pitchFamily="34" charset="-122"/>
              </a:rPr>
              <a:t>轨迹</a:t>
            </a:r>
            <a:endParaRPr lang="en-US" sz="105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7" name="Down Arrow 28">
            <a:extLst>
              <a:ext uri="{FF2B5EF4-FFF2-40B4-BE49-F238E27FC236}">
                <a16:creationId xmlns:a16="http://schemas.microsoft.com/office/drawing/2014/main" id="{12FA9E78-9085-6E5D-F31D-7230AA7812F7}"/>
              </a:ext>
            </a:extLst>
          </p:cNvPr>
          <p:cNvSpPr/>
          <p:nvPr/>
        </p:nvSpPr>
        <p:spPr>
          <a:xfrm rot="16200000">
            <a:off x="9054094" y="9028530"/>
            <a:ext cx="1726474" cy="307950"/>
          </a:xfrm>
          <a:prstGeom prst="downArrow">
            <a:avLst>
              <a:gd name="adj1" fmla="val 55681"/>
              <a:gd name="adj2" fmla="val 63100"/>
            </a:avLst>
          </a:prstGeom>
          <a:solidFill>
            <a:srgbClr val="C00000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lIns="36000" tIns="36000" rIns="36000" bIns="0" rtlCol="0" anchor="ctr"/>
          <a:lstStyle/>
          <a:p>
            <a:pPr algn="ctr"/>
            <a:r>
              <a:rPr lang="en-US" altLang="zh-CN" sz="1050" b="1">
                <a:latin typeface="微软雅黑" panose="020B0503020204020204" pitchFamily="34" charset="-122"/>
                <a:ea typeface="微软雅黑" panose="020B0503020204020204" pitchFamily="34" charset="-122"/>
              </a:rPr>
              <a:t>3D</a:t>
            </a:r>
            <a:r>
              <a:rPr lang="zh-CN" altLang="en-US" sz="1050" b="1">
                <a:latin typeface="微软雅黑" panose="020B0503020204020204" pitchFamily="34" charset="-122"/>
                <a:ea typeface="微软雅黑" panose="020B0503020204020204" pitchFamily="34" charset="-122"/>
              </a:rPr>
              <a:t>轨迹</a:t>
            </a:r>
            <a:endParaRPr lang="en-US" sz="1050" b="1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cxnSp>
        <p:nvCxnSpPr>
          <p:cNvPr id="47" name="连接符: 肘形 10">
            <a:extLst>
              <a:ext uri="{FF2B5EF4-FFF2-40B4-BE49-F238E27FC236}">
                <a16:creationId xmlns:a16="http://schemas.microsoft.com/office/drawing/2014/main" id="{BCAB405D-3CF8-2BBF-1EF8-6BF4C36BC2D3}"/>
              </a:ext>
            </a:extLst>
          </p:cNvPr>
          <p:cNvCxnSpPr>
            <a:cxnSpLocks/>
            <a:stCxn id="125" idx="2"/>
            <a:endCxn id="11" idx="0"/>
          </p:cNvCxnSpPr>
          <p:nvPr/>
        </p:nvCxnSpPr>
        <p:spPr>
          <a:xfrm>
            <a:off x="11341551" y="6156641"/>
            <a:ext cx="0" cy="12676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矩形 119">
            <a:extLst>
              <a:ext uri="{FF2B5EF4-FFF2-40B4-BE49-F238E27FC236}">
                <a16:creationId xmlns:a16="http://schemas.microsoft.com/office/drawing/2014/main" id="{AEC1A0A2-E1A1-ED72-6BA7-0E804EADBC8F}"/>
              </a:ext>
            </a:extLst>
          </p:cNvPr>
          <p:cNvSpPr/>
          <p:nvPr/>
        </p:nvSpPr>
        <p:spPr>
          <a:xfrm>
            <a:off x="4707720" y="1624456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传感设备选型</a:t>
            </a:r>
          </a:p>
        </p:txBody>
      </p:sp>
      <p:sp>
        <p:nvSpPr>
          <p:cNvPr id="1408" name="矩形 1407">
            <a:extLst>
              <a:ext uri="{FF2B5EF4-FFF2-40B4-BE49-F238E27FC236}">
                <a16:creationId xmlns:a16="http://schemas.microsoft.com/office/drawing/2014/main" id="{91F12A6D-8BC2-0963-AD65-A18F6A64369A}"/>
              </a:ext>
            </a:extLst>
          </p:cNvPr>
          <p:cNvSpPr/>
          <p:nvPr/>
        </p:nvSpPr>
        <p:spPr>
          <a:xfrm>
            <a:off x="4707720" y="2759411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吊钩感知平台设计</a:t>
            </a:r>
          </a:p>
        </p:txBody>
      </p:sp>
      <p:sp>
        <p:nvSpPr>
          <p:cNvPr id="1410" name="矩形: 圆角 1409">
            <a:extLst>
              <a:ext uri="{FF2B5EF4-FFF2-40B4-BE49-F238E27FC236}">
                <a16:creationId xmlns:a16="http://schemas.microsoft.com/office/drawing/2014/main" id="{AF1C0B41-8B79-1865-6388-4A2768CF9689}"/>
              </a:ext>
            </a:extLst>
          </p:cNvPr>
          <p:cNvSpPr/>
          <p:nvPr/>
        </p:nvSpPr>
        <p:spPr>
          <a:xfrm>
            <a:off x="4521514" y="1167454"/>
            <a:ext cx="2250343" cy="205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endParaRPr lang="zh-CN" altLang="en-US" sz="14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15" name="矩形 1414">
            <a:extLst>
              <a:ext uri="{FF2B5EF4-FFF2-40B4-BE49-F238E27FC236}">
                <a16:creationId xmlns:a16="http://schemas.microsoft.com/office/drawing/2014/main" id="{27B05739-3D77-64DA-9B95-8FD60D469087}"/>
              </a:ext>
            </a:extLst>
          </p:cNvPr>
          <p:cNvSpPr/>
          <p:nvPr/>
        </p:nvSpPr>
        <p:spPr>
          <a:xfrm>
            <a:off x="4665916" y="1231635"/>
            <a:ext cx="1961538" cy="252000"/>
          </a:xfrm>
          <a:prstGeom prst="rect">
            <a:avLst/>
          </a:prstGeom>
          <a:noFill/>
          <a:ln w="158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传感系统构建</a:t>
            </a:r>
          </a:p>
        </p:txBody>
      </p:sp>
      <p:sp>
        <p:nvSpPr>
          <p:cNvPr id="1416" name="矩形 1415">
            <a:extLst>
              <a:ext uri="{FF2B5EF4-FFF2-40B4-BE49-F238E27FC236}">
                <a16:creationId xmlns:a16="http://schemas.microsoft.com/office/drawing/2014/main" id="{E7EC3127-42EE-C944-2C25-D58AFFF4CB37}"/>
              </a:ext>
            </a:extLst>
          </p:cNvPr>
          <p:cNvSpPr/>
          <p:nvPr/>
        </p:nvSpPr>
        <p:spPr>
          <a:xfrm>
            <a:off x="4707720" y="2187701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传感设备布局优化</a:t>
            </a:r>
          </a:p>
        </p:txBody>
      </p:sp>
      <p:cxnSp>
        <p:nvCxnSpPr>
          <p:cNvPr id="1417" name="连接符: 肘形 10">
            <a:extLst>
              <a:ext uri="{FF2B5EF4-FFF2-40B4-BE49-F238E27FC236}">
                <a16:creationId xmlns:a16="http://schemas.microsoft.com/office/drawing/2014/main" id="{A661F395-FC14-5E63-09DB-9E263F7E20B7}"/>
              </a:ext>
            </a:extLst>
          </p:cNvPr>
          <p:cNvCxnSpPr>
            <a:cxnSpLocks/>
            <a:stCxn id="120" idx="2"/>
            <a:endCxn id="1416" idx="0"/>
          </p:cNvCxnSpPr>
          <p:nvPr/>
        </p:nvCxnSpPr>
        <p:spPr>
          <a:xfrm>
            <a:off x="5643720" y="1876456"/>
            <a:ext cx="0" cy="3112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8" name="连接符: 肘形 10">
            <a:extLst>
              <a:ext uri="{FF2B5EF4-FFF2-40B4-BE49-F238E27FC236}">
                <a16:creationId xmlns:a16="http://schemas.microsoft.com/office/drawing/2014/main" id="{A5326DF9-C31B-9678-D98F-0E8616DC3C85}"/>
              </a:ext>
            </a:extLst>
          </p:cNvPr>
          <p:cNvCxnSpPr>
            <a:cxnSpLocks/>
            <a:stCxn id="1416" idx="2"/>
            <a:endCxn id="1408" idx="0"/>
          </p:cNvCxnSpPr>
          <p:nvPr/>
        </p:nvCxnSpPr>
        <p:spPr>
          <a:xfrm>
            <a:off x="5643720" y="2439701"/>
            <a:ext cx="0" cy="3197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0" name="矩形 1419">
            <a:extLst>
              <a:ext uri="{FF2B5EF4-FFF2-40B4-BE49-F238E27FC236}">
                <a16:creationId xmlns:a16="http://schemas.microsoft.com/office/drawing/2014/main" id="{06E1E166-AF17-BEEB-A249-714E64C3F37D}"/>
              </a:ext>
            </a:extLst>
          </p:cNvPr>
          <p:cNvSpPr/>
          <p:nvPr/>
        </p:nvSpPr>
        <p:spPr>
          <a:xfrm>
            <a:off x="7527518" y="1624456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相机内参标定</a:t>
            </a:r>
          </a:p>
        </p:txBody>
      </p:sp>
      <p:sp>
        <p:nvSpPr>
          <p:cNvPr id="1421" name="矩形 1420">
            <a:extLst>
              <a:ext uri="{FF2B5EF4-FFF2-40B4-BE49-F238E27FC236}">
                <a16:creationId xmlns:a16="http://schemas.microsoft.com/office/drawing/2014/main" id="{876AEE09-31E9-A705-47A2-3FDF889A2539}"/>
              </a:ext>
            </a:extLst>
          </p:cNvPr>
          <p:cNvSpPr/>
          <p:nvPr/>
        </p:nvSpPr>
        <p:spPr>
          <a:xfrm>
            <a:off x="7527518" y="2759411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相机</a:t>
            </a:r>
            <a:r>
              <a:rPr lang="en-US" altLang="zh-CN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</a:t>
            </a:r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雷达外参标定</a:t>
            </a:r>
          </a:p>
        </p:txBody>
      </p:sp>
      <p:sp>
        <p:nvSpPr>
          <p:cNvPr id="1422" name="矩形: 圆角 1421">
            <a:extLst>
              <a:ext uri="{FF2B5EF4-FFF2-40B4-BE49-F238E27FC236}">
                <a16:creationId xmlns:a16="http://schemas.microsoft.com/office/drawing/2014/main" id="{554681F9-9230-EFEB-F619-65C05A74785F}"/>
              </a:ext>
            </a:extLst>
          </p:cNvPr>
          <p:cNvSpPr/>
          <p:nvPr/>
        </p:nvSpPr>
        <p:spPr>
          <a:xfrm>
            <a:off x="7362680" y="1167454"/>
            <a:ext cx="2250343" cy="205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endParaRPr lang="zh-CN" altLang="en-US" sz="14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23" name="矩形 1422">
            <a:extLst>
              <a:ext uri="{FF2B5EF4-FFF2-40B4-BE49-F238E27FC236}">
                <a16:creationId xmlns:a16="http://schemas.microsoft.com/office/drawing/2014/main" id="{2BE53194-0359-CDB2-451B-757F64B3A9A3}"/>
              </a:ext>
            </a:extLst>
          </p:cNvPr>
          <p:cNvSpPr/>
          <p:nvPr/>
        </p:nvSpPr>
        <p:spPr>
          <a:xfrm>
            <a:off x="7507082" y="1231635"/>
            <a:ext cx="1961538" cy="252000"/>
          </a:xfrm>
          <a:prstGeom prst="rect">
            <a:avLst/>
          </a:prstGeom>
          <a:noFill/>
          <a:ln w="158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多传感器标定与同步</a:t>
            </a:r>
          </a:p>
        </p:txBody>
      </p:sp>
      <p:sp>
        <p:nvSpPr>
          <p:cNvPr id="1424" name="矩形 1423">
            <a:extLst>
              <a:ext uri="{FF2B5EF4-FFF2-40B4-BE49-F238E27FC236}">
                <a16:creationId xmlns:a16="http://schemas.microsoft.com/office/drawing/2014/main" id="{1F800811-F57F-F960-DAFF-94E8EF29C1CB}"/>
              </a:ext>
            </a:extLst>
          </p:cNvPr>
          <p:cNvSpPr/>
          <p:nvPr/>
        </p:nvSpPr>
        <p:spPr>
          <a:xfrm>
            <a:off x="7527518" y="2187701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双雷达联合标定</a:t>
            </a:r>
          </a:p>
        </p:txBody>
      </p:sp>
      <p:cxnSp>
        <p:nvCxnSpPr>
          <p:cNvPr id="1425" name="连接符: 肘形 10">
            <a:extLst>
              <a:ext uri="{FF2B5EF4-FFF2-40B4-BE49-F238E27FC236}">
                <a16:creationId xmlns:a16="http://schemas.microsoft.com/office/drawing/2014/main" id="{C5015AF7-FDFE-6E93-9B85-CB96B5CE2967}"/>
              </a:ext>
            </a:extLst>
          </p:cNvPr>
          <p:cNvCxnSpPr>
            <a:cxnSpLocks/>
            <a:stCxn id="1420" idx="2"/>
            <a:endCxn id="1424" idx="0"/>
          </p:cNvCxnSpPr>
          <p:nvPr/>
        </p:nvCxnSpPr>
        <p:spPr>
          <a:xfrm>
            <a:off x="8463518" y="1876456"/>
            <a:ext cx="0" cy="3112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6" name="连接符: 肘形 10">
            <a:extLst>
              <a:ext uri="{FF2B5EF4-FFF2-40B4-BE49-F238E27FC236}">
                <a16:creationId xmlns:a16="http://schemas.microsoft.com/office/drawing/2014/main" id="{3C8D3727-961E-F194-5D3D-99AD20E06607}"/>
              </a:ext>
            </a:extLst>
          </p:cNvPr>
          <p:cNvCxnSpPr>
            <a:cxnSpLocks/>
            <a:stCxn id="1424" idx="2"/>
            <a:endCxn id="1421" idx="0"/>
          </p:cNvCxnSpPr>
          <p:nvPr/>
        </p:nvCxnSpPr>
        <p:spPr>
          <a:xfrm>
            <a:off x="8463518" y="2439701"/>
            <a:ext cx="0" cy="3197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5" name="矩形 1434">
            <a:extLst>
              <a:ext uri="{FF2B5EF4-FFF2-40B4-BE49-F238E27FC236}">
                <a16:creationId xmlns:a16="http://schemas.microsoft.com/office/drawing/2014/main" id="{37526E09-C146-86F5-85AB-4A120D5B90ED}"/>
              </a:ext>
            </a:extLst>
          </p:cNvPr>
          <p:cNvSpPr/>
          <p:nvPr/>
        </p:nvSpPr>
        <p:spPr>
          <a:xfrm>
            <a:off x="10386478" y="1624456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通信链路搭建</a:t>
            </a:r>
          </a:p>
        </p:txBody>
      </p:sp>
      <p:sp>
        <p:nvSpPr>
          <p:cNvPr id="1436" name="矩形 1435">
            <a:extLst>
              <a:ext uri="{FF2B5EF4-FFF2-40B4-BE49-F238E27FC236}">
                <a16:creationId xmlns:a16="http://schemas.microsoft.com/office/drawing/2014/main" id="{23184EF7-646A-7780-540C-9D142409E101}"/>
              </a:ext>
            </a:extLst>
          </p:cNvPr>
          <p:cNvSpPr/>
          <p:nvPr/>
        </p:nvSpPr>
        <p:spPr>
          <a:xfrm>
            <a:off x="10386478" y="2759411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坐标体系构建</a:t>
            </a:r>
          </a:p>
        </p:txBody>
      </p:sp>
      <p:sp>
        <p:nvSpPr>
          <p:cNvPr id="1437" name="矩形: 圆角 1436">
            <a:extLst>
              <a:ext uri="{FF2B5EF4-FFF2-40B4-BE49-F238E27FC236}">
                <a16:creationId xmlns:a16="http://schemas.microsoft.com/office/drawing/2014/main" id="{5884AFD5-9A31-0C47-1FB5-21C9AC412D73}"/>
              </a:ext>
            </a:extLst>
          </p:cNvPr>
          <p:cNvSpPr/>
          <p:nvPr/>
        </p:nvSpPr>
        <p:spPr>
          <a:xfrm>
            <a:off x="10221640" y="1167454"/>
            <a:ext cx="2250343" cy="205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endParaRPr lang="zh-CN" altLang="en-US" sz="14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38" name="矩形 1437">
            <a:extLst>
              <a:ext uri="{FF2B5EF4-FFF2-40B4-BE49-F238E27FC236}">
                <a16:creationId xmlns:a16="http://schemas.microsoft.com/office/drawing/2014/main" id="{5BEFB2A2-E00F-85CE-8C02-3E3634DEF088}"/>
              </a:ext>
            </a:extLst>
          </p:cNvPr>
          <p:cNvSpPr/>
          <p:nvPr/>
        </p:nvSpPr>
        <p:spPr>
          <a:xfrm>
            <a:off x="10366042" y="1231635"/>
            <a:ext cx="1961538" cy="252000"/>
          </a:xfrm>
          <a:prstGeom prst="rect">
            <a:avLst/>
          </a:prstGeom>
          <a:noFill/>
          <a:ln w="158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通信与数据链路构建</a:t>
            </a:r>
          </a:p>
        </p:txBody>
      </p:sp>
      <p:sp>
        <p:nvSpPr>
          <p:cNvPr id="1439" name="矩形 1438">
            <a:extLst>
              <a:ext uri="{FF2B5EF4-FFF2-40B4-BE49-F238E27FC236}">
                <a16:creationId xmlns:a16="http://schemas.microsoft.com/office/drawing/2014/main" id="{E7E4E9D8-9A0D-E845-0F7D-F8917A01F248}"/>
              </a:ext>
            </a:extLst>
          </p:cNvPr>
          <p:cNvSpPr/>
          <p:nvPr/>
        </p:nvSpPr>
        <p:spPr>
          <a:xfrm>
            <a:off x="10386478" y="2187701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传感时间同步</a:t>
            </a:r>
          </a:p>
        </p:txBody>
      </p:sp>
      <p:cxnSp>
        <p:nvCxnSpPr>
          <p:cNvPr id="1440" name="连接符: 肘形 10">
            <a:extLst>
              <a:ext uri="{FF2B5EF4-FFF2-40B4-BE49-F238E27FC236}">
                <a16:creationId xmlns:a16="http://schemas.microsoft.com/office/drawing/2014/main" id="{47FC7A86-D816-55AB-0E90-382E2FBD670D}"/>
              </a:ext>
            </a:extLst>
          </p:cNvPr>
          <p:cNvCxnSpPr>
            <a:cxnSpLocks/>
            <a:stCxn id="1435" idx="2"/>
            <a:endCxn id="1439" idx="0"/>
          </p:cNvCxnSpPr>
          <p:nvPr/>
        </p:nvCxnSpPr>
        <p:spPr>
          <a:xfrm>
            <a:off x="11322478" y="1876456"/>
            <a:ext cx="0" cy="3112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1" name="连接符: 肘形 10">
            <a:extLst>
              <a:ext uri="{FF2B5EF4-FFF2-40B4-BE49-F238E27FC236}">
                <a16:creationId xmlns:a16="http://schemas.microsoft.com/office/drawing/2014/main" id="{44BC689A-A87E-A1C2-81FC-45822CD2501F}"/>
              </a:ext>
            </a:extLst>
          </p:cNvPr>
          <p:cNvCxnSpPr>
            <a:cxnSpLocks/>
            <a:stCxn id="1439" idx="2"/>
            <a:endCxn id="1436" idx="0"/>
          </p:cNvCxnSpPr>
          <p:nvPr/>
        </p:nvCxnSpPr>
        <p:spPr>
          <a:xfrm>
            <a:off x="11322478" y="2439701"/>
            <a:ext cx="0" cy="3197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9" name="矩形 1448">
            <a:extLst>
              <a:ext uri="{FF2B5EF4-FFF2-40B4-BE49-F238E27FC236}">
                <a16:creationId xmlns:a16="http://schemas.microsoft.com/office/drawing/2014/main" id="{9F969F63-90A9-C76F-C3CA-DB6202BA394F}"/>
              </a:ext>
            </a:extLst>
          </p:cNvPr>
          <p:cNvSpPr/>
          <p:nvPr/>
        </p:nvSpPr>
        <p:spPr>
          <a:xfrm>
            <a:off x="4707719" y="8681845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目标检测模型与部署</a:t>
            </a:r>
          </a:p>
        </p:txBody>
      </p:sp>
      <p:sp>
        <p:nvSpPr>
          <p:cNvPr id="1450" name="矩形 1449">
            <a:extLst>
              <a:ext uri="{FF2B5EF4-FFF2-40B4-BE49-F238E27FC236}">
                <a16:creationId xmlns:a16="http://schemas.microsoft.com/office/drawing/2014/main" id="{42ECECCA-297D-80BD-804E-B3F17C663C49}"/>
              </a:ext>
            </a:extLst>
          </p:cNvPr>
          <p:cNvSpPr/>
          <p:nvPr/>
        </p:nvSpPr>
        <p:spPr>
          <a:xfrm>
            <a:off x="4707719" y="9816800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融合接口与数据结构定义</a:t>
            </a:r>
          </a:p>
        </p:txBody>
      </p:sp>
      <p:sp>
        <p:nvSpPr>
          <p:cNvPr id="1451" name="矩形: 圆角 1450">
            <a:extLst>
              <a:ext uri="{FF2B5EF4-FFF2-40B4-BE49-F238E27FC236}">
                <a16:creationId xmlns:a16="http://schemas.microsoft.com/office/drawing/2014/main" id="{E70F50C8-A082-8A8C-F24D-762D0BA07352}"/>
              </a:ext>
            </a:extLst>
          </p:cNvPr>
          <p:cNvSpPr/>
          <p:nvPr/>
        </p:nvSpPr>
        <p:spPr>
          <a:xfrm>
            <a:off x="4521513" y="8224843"/>
            <a:ext cx="2250343" cy="205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endParaRPr lang="zh-CN" altLang="en-US" sz="14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52" name="矩形 1451">
            <a:extLst>
              <a:ext uri="{FF2B5EF4-FFF2-40B4-BE49-F238E27FC236}">
                <a16:creationId xmlns:a16="http://schemas.microsoft.com/office/drawing/2014/main" id="{25CC7277-51E1-3991-1FBB-96387D1885F3}"/>
              </a:ext>
            </a:extLst>
          </p:cNvPr>
          <p:cNvSpPr/>
          <p:nvPr/>
        </p:nvSpPr>
        <p:spPr>
          <a:xfrm>
            <a:off x="4665915" y="8289024"/>
            <a:ext cx="1961538" cy="252000"/>
          </a:xfrm>
          <a:prstGeom prst="rect">
            <a:avLst/>
          </a:prstGeom>
          <a:noFill/>
          <a:ln w="158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视觉侧高风险目标识别</a:t>
            </a:r>
          </a:p>
        </p:txBody>
      </p:sp>
      <p:sp>
        <p:nvSpPr>
          <p:cNvPr id="1453" name="矩形 1452">
            <a:extLst>
              <a:ext uri="{FF2B5EF4-FFF2-40B4-BE49-F238E27FC236}">
                <a16:creationId xmlns:a16="http://schemas.microsoft.com/office/drawing/2014/main" id="{A6B1F306-BD40-F66C-97F9-0C5F8E327ACF}"/>
              </a:ext>
            </a:extLst>
          </p:cNvPr>
          <p:cNvSpPr/>
          <p:nvPr/>
        </p:nvSpPr>
        <p:spPr>
          <a:xfrm>
            <a:off x="4707719" y="9245090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检测结果时序稳定化处理</a:t>
            </a:r>
          </a:p>
        </p:txBody>
      </p:sp>
      <p:cxnSp>
        <p:nvCxnSpPr>
          <p:cNvPr id="1454" name="连接符: 肘形 10">
            <a:extLst>
              <a:ext uri="{FF2B5EF4-FFF2-40B4-BE49-F238E27FC236}">
                <a16:creationId xmlns:a16="http://schemas.microsoft.com/office/drawing/2014/main" id="{05544396-F8C4-9EE2-EA38-4EB2C7B5EFD3}"/>
              </a:ext>
            </a:extLst>
          </p:cNvPr>
          <p:cNvCxnSpPr>
            <a:cxnSpLocks/>
            <a:stCxn id="1449" idx="2"/>
            <a:endCxn id="1453" idx="0"/>
          </p:cNvCxnSpPr>
          <p:nvPr/>
        </p:nvCxnSpPr>
        <p:spPr>
          <a:xfrm>
            <a:off x="5643719" y="8933845"/>
            <a:ext cx="0" cy="3112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5" name="连接符: 肘形 10">
            <a:extLst>
              <a:ext uri="{FF2B5EF4-FFF2-40B4-BE49-F238E27FC236}">
                <a16:creationId xmlns:a16="http://schemas.microsoft.com/office/drawing/2014/main" id="{B863363A-0109-4561-A240-BE28C415D943}"/>
              </a:ext>
            </a:extLst>
          </p:cNvPr>
          <p:cNvCxnSpPr>
            <a:cxnSpLocks/>
            <a:stCxn id="1453" idx="2"/>
            <a:endCxn id="1450" idx="0"/>
          </p:cNvCxnSpPr>
          <p:nvPr/>
        </p:nvCxnSpPr>
        <p:spPr>
          <a:xfrm>
            <a:off x="5643719" y="9497090"/>
            <a:ext cx="0" cy="3197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6" name="矩形 1455">
            <a:extLst>
              <a:ext uri="{FF2B5EF4-FFF2-40B4-BE49-F238E27FC236}">
                <a16:creationId xmlns:a16="http://schemas.microsoft.com/office/drawing/2014/main" id="{04D15B8E-6831-98EB-6962-BC5E96B9C2EB}"/>
              </a:ext>
            </a:extLst>
          </p:cNvPr>
          <p:cNvSpPr/>
          <p:nvPr/>
        </p:nvSpPr>
        <p:spPr>
          <a:xfrm>
            <a:off x="7554556" y="8681845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目标双相一致性关联</a:t>
            </a:r>
          </a:p>
        </p:txBody>
      </p:sp>
      <p:sp>
        <p:nvSpPr>
          <p:cNvPr id="1457" name="矩形 1456">
            <a:extLst>
              <a:ext uri="{FF2B5EF4-FFF2-40B4-BE49-F238E27FC236}">
                <a16:creationId xmlns:a16="http://schemas.microsoft.com/office/drawing/2014/main" id="{320168D7-E481-47E1-F10C-1F92F1B2E71A}"/>
              </a:ext>
            </a:extLst>
          </p:cNvPr>
          <p:cNvSpPr/>
          <p:nvPr/>
        </p:nvSpPr>
        <p:spPr>
          <a:xfrm>
            <a:off x="7554556" y="9816800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置信度融合与语义输出</a:t>
            </a:r>
          </a:p>
        </p:txBody>
      </p:sp>
      <p:sp>
        <p:nvSpPr>
          <p:cNvPr id="1458" name="矩形: 圆角 1457">
            <a:extLst>
              <a:ext uri="{FF2B5EF4-FFF2-40B4-BE49-F238E27FC236}">
                <a16:creationId xmlns:a16="http://schemas.microsoft.com/office/drawing/2014/main" id="{87709883-01C1-8C32-FE94-F9BA53F3F242}"/>
              </a:ext>
            </a:extLst>
          </p:cNvPr>
          <p:cNvSpPr/>
          <p:nvPr/>
        </p:nvSpPr>
        <p:spPr>
          <a:xfrm>
            <a:off x="7368350" y="8224843"/>
            <a:ext cx="2250343" cy="205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endParaRPr lang="zh-CN" altLang="en-US" sz="14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59" name="矩形 1458">
            <a:extLst>
              <a:ext uri="{FF2B5EF4-FFF2-40B4-BE49-F238E27FC236}">
                <a16:creationId xmlns:a16="http://schemas.microsoft.com/office/drawing/2014/main" id="{7CDDF1B9-764A-5FCE-C845-CC79D5FB58A4}"/>
              </a:ext>
            </a:extLst>
          </p:cNvPr>
          <p:cNvSpPr/>
          <p:nvPr/>
        </p:nvSpPr>
        <p:spPr>
          <a:xfrm>
            <a:off x="7512752" y="8289024"/>
            <a:ext cx="1961538" cy="252000"/>
          </a:xfrm>
          <a:prstGeom prst="rect">
            <a:avLst/>
          </a:prstGeom>
          <a:noFill/>
          <a:ln w="158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雷视融合策略</a:t>
            </a:r>
          </a:p>
        </p:txBody>
      </p:sp>
      <p:sp>
        <p:nvSpPr>
          <p:cNvPr id="1460" name="矩形 1459">
            <a:extLst>
              <a:ext uri="{FF2B5EF4-FFF2-40B4-BE49-F238E27FC236}">
                <a16:creationId xmlns:a16="http://schemas.microsoft.com/office/drawing/2014/main" id="{0B4111E5-9829-80A7-99E3-2CEB24DE3EB5}"/>
              </a:ext>
            </a:extLst>
          </p:cNvPr>
          <p:cNvSpPr/>
          <p:nvPr/>
        </p:nvSpPr>
        <p:spPr>
          <a:xfrm>
            <a:off x="7554556" y="9245090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轨迹级绑定与融合</a:t>
            </a:r>
          </a:p>
        </p:txBody>
      </p:sp>
      <p:cxnSp>
        <p:nvCxnSpPr>
          <p:cNvPr id="1461" name="连接符: 肘形 10">
            <a:extLst>
              <a:ext uri="{FF2B5EF4-FFF2-40B4-BE49-F238E27FC236}">
                <a16:creationId xmlns:a16="http://schemas.microsoft.com/office/drawing/2014/main" id="{5B0D1364-6357-6703-0997-0960E1ADEE43}"/>
              </a:ext>
            </a:extLst>
          </p:cNvPr>
          <p:cNvCxnSpPr>
            <a:cxnSpLocks/>
            <a:stCxn id="1456" idx="2"/>
            <a:endCxn id="1460" idx="0"/>
          </p:cNvCxnSpPr>
          <p:nvPr/>
        </p:nvCxnSpPr>
        <p:spPr>
          <a:xfrm>
            <a:off x="8490556" y="8933845"/>
            <a:ext cx="0" cy="3112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2" name="连接符: 肘形 10">
            <a:extLst>
              <a:ext uri="{FF2B5EF4-FFF2-40B4-BE49-F238E27FC236}">
                <a16:creationId xmlns:a16="http://schemas.microsoft.com/office/drawing/2014/main" id="{9BC5F82D-BA4C-6AF0-BCD6-3F02403D2E8B}"/>
              </a:ext>
            </a:extLst>
          </p:cNvPr>
          <p:cNvCxnSpPr>
            <a:cxnSpLocks/>
            <a:stCxn id="1460" idx="2"/>
            <a:endCxn id="1457" idx="0"/>
          </p:cNvCxnSpPr>
          <p:nvPr/>
        </p:nvCxnSpPr>
        <p:spPr>
          <a:xfrm>
            <a:off x="8490556" y="9497090"/>
            <a:ext cx="0" cy="3197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3" name="矩形 1462">
            <a:extLst>
              <a:ext uri="{FF2B5EF4-FFF2-40B4-BE49-F238E27FC236}">
                <a16:creationId xmlns:a16="http://schemas.microsoft.com/office/drawing/2014/main" id="{C893853B-C60A-6261-D0F4-F55D668825AF}"/>
              </a:ext>
            </a:extLst>
          </p:cNvPr>
          <p:cNvSpPr/>
          <p:nvPr/>
        </p:nvSpPr>
        <p:spPr>
          <a:xfrm>
            <a:off x="10407845" y="8681845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静态障碍：距离阈值预警</a:t>
            </a:r>
          </a:p>
        </p:txBody>
      </p:sp>
      <p:sp>
        <p:nvSpPr>
          <p:cNvPr id="1464" name="矩形 1463">
            <a:extLst>
              <a:ext uri="{FF2B5EF4-FFF2-40B4-BE49-F238E27FC236}">
                <a16:creationId xmlns:a16="http://schemas.microsoft.com/office/drawing/2014/main" id="{2087511D-4E9B-B7E0-CE8F-9930CD46C71D}"/>
              </a:ext>
            </a:extLst>
          </p:cNvPr>
          <p:cNvSpPr/>
          <p:nvPr/>
        </p:nvSpPr>
        <p:spPr>
          <a:xfrm>
            <a:off x="10407845" y="9816800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分级预警状态机</a:t>
            </a:r>
          </a:p>
        </p:txBody>
      </p:sp>
      <p:sp>
        <p:nvSpPr>
          <p:cNvPr id="1465" name="矩形: 圆角 1464">
            <a:extLst>
              <a:ext uri="{FF2B5EF4-FFF2-40B4-BE49-F238E27FC236}">
                <a16:creationId xmlns:a16="http://schemas.microsoft.com/office/drawing/2014/main" id="{DD7A9245-FEE5-DFAC-02FB-9AD8BC432473}"/>
              </a:ext>
            </a:extLst>
          </p:cNvPr>
          <p:cNvSpPr/>
          <p:nvPr/>
        </p:nvSpPr>
        <p:spPr>
          <a:xfrm>
            <a:off x="10221639" y="8224843"/>
            <a:ext cx="2250343" cy="205200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endParaRPr lang="zh-CN" altLang="en-US" sz="1400" b="1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66" name="矩形 1465">
            <a:extLst>
              <a:ext uri="{FF2B5EF4-FFF2-40B4-BE49-F238E27FC236}">
                <a16:creationId xmlns:a16="http://schemas.microsoft.com/office/drawing/2014/main" id="{C27219FF-24C8-0D8A-52B4-1130B226E8FE}"/>
              </a:ext>
            </a:extLst>
          </p:cNvPr>
          <p:cNvSpPr/>
          <p:nvPr/>
        </p:nvSpPr>
        <p:spPr>
          <a:xfrm>
            <a:off x="10366041" y="8289024"/>
            <a:ext cx="1961538" cy="252000"/>
          </a:xfrm>
          <a:prstGeom prst="rect">
            <a:avLst/>
          </a:prstGeom>
          <a:noFill/>
          <a:ln w="158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风险判定与分级预警</a:t>
            </a:r>
          </a:p>
        </p:txBody>
      </p:sp>
      <p:sp>
        <p:nvSpPr>
          <p:cNvPr id="1467" name="矩形 1466">
            <a:extLst>
              <a:ext uri="{FF2B5EF4-FFF2-40B4-BE49-F238E27FC236}">
                <a16:creationId xmlns:a16="http://schemas.microsoft.com/office/drawing/2014/main" id="{5BBC330D-A3CC-CC0A-8146-B9817EF5A474}"/>
              </a:ext>
            </a:extLst>
          </p:cNvPr>
          <p:cNvSpPr/>
          <p:nvPr/>
        </p:nvSpPr>
        <p:spPr>
          <a:xfrm>
            <a:off x="10407845" y="9245090"/>
            <a:ext cx="1872000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动态障碍：轨迹预测碰撞</a:t>
            </a:r>
          </a:p>
        </p:txBody>
      </p:sp>
      <p:cxnSp>
        <p:nvCxnSpPr>
          <p:cNvPr id="1468" name="连接符: 肘形 10">
            <a:extLst>
              <a:ext uri="{FF2B5EF4-FFF2-40B4-BE49-F238E27FC236}">
                <a16:creationId xmlns:a16="http://schemas.microsoft.com/office/drawing/2014/main" id="{BEC4E50F-D5C0-33A2-F5CD-6D8A3185EC29}"/>
              </a:ext>
            </a:extLst>
          </p:cNvPr>
          <p:cNvCxnSpPr>
            <a:cxnSpLocks/>
            <a:stCxn id="1463" idx="2"/>
            <a:endCxn id="1467" idx="0"/>
          </p:cNvCxnSpPr>
          <p:nvPr/>
        </p:nvCxnSpPr>
        <p:spPr>
          <a:xfrm>
            <a:off x="11343845" y="8933845"/>
            <a:ext cx="0" cy="3112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9" name="连接符: 肘形 10">
            <a:extLst>
              <a:ext uri="{FF2B5EF4-FFF2-40B4-BE49-F238E27FC236}">
                <a16:creationId xmlns:a16="http://schemas.microsoft.com/office/drawing/2014/main" id="{CC1EFE77-5E90-01C0-878A-3EB94923DF09}"/>
              </a:ext>
            </a:extLst>
          </p:cNvPr>
          <p:cNvCxnSpPr>
            <a:cxnSpLocks/>
            <a:stCxn id="1467" idx="2"/>
            <a:endCxn id="1464" idx="0"/>
          </p:cNvCxnSpPr>
          <p:nvPr/>
        </p:nvCxnSpPr>
        <p:spPr>
          <a:xfrm>
            <a:off x="11343845" y="9497090"/>
            <a:ext cx="0" cy="3197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1" name="Triangle 1059">
            <a:extLst>
              <a:ext uri="{FF2B5EF4-FFF2-40B4-BE49-F238E27FC236}">
                <a16:creationId xmlns:a16="http://schemas.microsoft.com/office/drawing/2014/main" id="{944E8450-0B4C-60BB-3147-FA30AFAFC261}"/>
              </a:ext>
            </a:extLst>
          </p:cNvPr>
          <p:cNvSpPr/>
          <p:nvPr/>
        </p:nvSpPr>
        <p:spPr>
          <a:xfrm rot="5400000">
            <a:off x="11460598" y="1657963"/>
            <a:ext cx="3240001" cy="267892"/>
          </a:xfrm>
          <a:prstGeom prst="triangle">
            <a:avLst/>
          </a:prstGeom>
          <a:gradFill flip="none" rotWithShape="1">
            <a:gsLst>
              <a:gs pos="100000">
                <a:srgbClr val="C00000"/>
              </a:gs>
              <a:gs pos="0">
                <a:schemeClr val="bg1"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3" name="Triangle 1059">
            <a:extLst>
              <a:ext uri="{FF2B5EF4-FFF2-40B4-BE49-F238E27FC236}">
                <a16:creationId xmlns:a16="http://schemas.microsoft.com/office/drawing/2014/main" id="{E1B7E3FE-525F-6538-593A-C42AB15FD862}"/>
              </a:ext>
            </a:extLst>
          </p:cNvPr>
          <p:cNvSpPr/>
          <p:nvPr/>
        </p:nvSpPr>
        <p:spPr>
          <a:xfrm rot="5400000">
            <a:off x="11460598" y="5265935"/>
            <a:ext cx="3240001" cy="267892"/>
          </a:xfrm>
          <a:prstGeom prst="triangle">
            <a:avLst/>
          </a:prstGeom>
          <a:gradFill flip="none" rotWithShape="1">
            <a:gsLst>
              <a:gs pos="100000">
                <a:srgbClr val="C00000"/>
              </a:gs>
              <a:gs pos="0">
                <a:schemeClr val="bg1"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4" name="Triangle 1059">
            <a:extLst>
              <a:ext uri="{FF2B5EF4-FFF2-40B4-BE49-F238E27FC236}">
                <a16:creationId xmlns:a16="http://schemas.microsoft.com/office/drawing/2014/main" id="{7388CF2F-03DE-DFD8-1537-816C7286CCEE}"/>
              </a:ext>
            </a:extLst>
          </p:cNvPr>
          <p:cNvSpPr/>
          <p:nvPr/>
        </p:nvSpPr>
        <p:spPr>
          <a:xfrm rot="5400000">
            <a:off x="11460598" y="8799899"/>
            <a:ext cx="3240001" cy="267892"/>
          </a:xfrm>
          <a:prstGeom prst="triangle">
            <a:avLst/>
          </a:prstGeom>
          <a:gradFill flip="none" rotWithShape="1">
            <a:gsLst>
              <a:gs pos="100000">
                <a:srgbClr val="C00000"/>
              </a:gs>
              <a:gs pos="0">
                <a:schemeClr val="bg1">
                  <a:shade val="100000"/>
                  <a:satMod val="115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76" name="箭头: V 形 1475">
            <a:extLst>
              <a:ext uri="{FF2B5EF4-FFF2-40B4-BE49-F238E27FC236}">
                <a16:creationId xmlns:a16="http://schemas.microsoft.com/office/drawing/2014/main" id="{06E68604-3C3A-C4FF-1F25-B4EABA84648F}"/>
              </a:ext>
            </a:extLst>
          </p:cNvPr>
          <p:cNvSpPr/>
          <p:nvPr/>
        </p:nvSpPr>
        <p:spPr>
          <a:xfrm rot="5400000">
            <a:off x="11919089" y="8615293"/>
            <a:ext cx="3240000" cy="468000"/>
          </a:xfrm>
          <a:prstGeom prst="chevron">
            <a:avLst/>
          </a:prstGeom>
          <a:solidFill>
            <a:schemeClr val="bg1">
              <a:lumMod val="85000"/>
            </a:schemeClr>
          </a:solidFill>
          <a:ln w="158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600" b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可解释性预警输出</a:t>
            </a:r>
          </a:p>
        </p:txBody>
      </p:sp>
    </p:spTree>
    <p:extLst>
      <p:ext uri="{BB962C8B-B14F-4D97-AF65-F5344CB8AC3E}">
        <p14:creationId xmlns:p14="http://schemas.microsoft.com/office/powerpoint/2010/main" val="3290252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animBg="1"/>
      <p:bldP spid="103" grpId="0" animBg="1"/>
      <p:bldP spid="1413" grpId="0" animBg="1"/>
      <p:bldP spid="1414" grpId="0" animBg="1"/>
      <p:bldP spid="36" grpId="0" animBg="1"/>
      <p:bldP spid="37" grpId="0" animBg="1"/>
      <p:bldP spid="1471" grpId="0" animBg="1"/>
      <p:bldP spid="1473" grpId="0" animBg="1"/>
      <p:bldP spid="147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54425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" name="连接符: 肘形 96">
            <a:extLst>
              <a:ext uri="{FF2B5EF4-FFF2-40B4-BE49-F238E27FC236}">
                <a16:creationId xmlns:a16="http://schemas.microsoft.com/office/drawing/2014/main" id="{57A49134-879B-4950-903A-E0877778C2CF}"/>
              </a:ext>
            </a:extLst>
          </p:cNvPr>
          <p:cNvCxnSpPr>
            <a:cxnSpLocks/>
            <a:stCxn id="9" idx="3"/>
            <a:endCxn id="45" idx="1"/>
          </p:cNvCxnSpPr>
          <p:nvPr/>
        </p:nvCxnSpPr>
        <p:spPr>
          <a:xfrm flipV="1">
            <a:off x="6953332" y="4570756"/>
            <a:ext cx="2347241" cy="1255724"/>
          </a:xfrm>
          <a:prstGeom prst="curvedConnector3">
            <a:avLst>
              <a:gd name="adj1" fmla="val 52402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矩形 3">
            <a:extLst>
              <a:ext uri="{FF2B5EF4-FFF2-40B4-BE49-F238E27FC236}">
                <a16:creationId xmlns:a16="http://schemas.microsoft.com/office/drawing/2014/main" id="{E89D29D5-69C1-131A-FA40-0038E1086A44}"/>
              </a:ext>
            </a:extLst>
          </p:cNvPr>
          <p:cNvSpPr/>
          <p:nvPr/>
        </p:nvSpPr>
        <p:spPr>
          <a:xfrm>
            <a:off x="3782422" y="6285726"/>
            <a:ext cx="1215109" cy="3252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视频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5B98865-6707-93E5-1F6C-9F5B782B5424}"/>
              </a:ext>
            </a:extLst>
          </p:cNvPr>
          <p:cNvSpPr/>
          <p:nvPr/>
        </p:nvSpPr>
        <p:spPr>
          <a:xfrm>
            <a:off x="3782423" y="5041981"/>
            <a:ext cx="1215109" cy="3252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IMU</a:t>
            </a:r>
            <a:endParaRPr lang="zh-CN" altLang="en-US" sz="1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EAC77BBA-8AB6-7113-AD89-1249974EED5B}"/>
              </a:ext>
            </a:extLst>
          </p:cNvPr>
          <p:cNvSpPr/>
          <p:nvPr/>
        </p:nvSpPr>
        <p:spPr>
          <a:xfrm>
            <a:off x="3782422" y="5663853"/>
            <a:ext cx="1215109" cy="3252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GNSS</a:t>
            </a:r>
            <a:endParaRPr lang="zh-CN" altLang="en-US" sz="1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7522F82-014C-511B-FCF1-99C41446F2F4}"/>
              </a:ext>
            </a:extLst>
          </p:cNvPr>
          <p:cNvSpPr/>
          <p:nvPr/>
        </p:nvSpPr>
        <p:spPr>
          <a:xfrm>
            <a:off x="3782422" y="4408132"/>
            <a:ext cx="1215109" cy="3252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激光</a:t>
            </a:r>
          </a:p>
        </p:txBody>
      </p:sp>
      <p:sp>
        <p:nvSpPr>
          <p:cNvPr id="8" name="十字形 7">
            <a:extLst>
              <a:ext uri="{FF2B5EF4-FFF2-40B4-BE49-F238E27FC236}">
                <a16:creationId xmlns:a16="http://schemas.microsoft.com/office/drawing/2014/main" id="{EF4ACD1C-ED31-8B97-9FEA-2FD21DC6B4A5}"/>
              </a:ext>
            </a:extLst>
          </p:cNvPr>
          <p:cNvSpPr/>
          <p:nvPr/>
        </p:nvSpPr>
        <p:spPr>
          <a:xfrm>
            <a:off x="4329590" y="5453919"/>
            <a:ext cx="121701" cy="123762"/>
          </a:xfrm>
          <a:prstGeom prst="plus">
            <a:avLst>
              <a:gd name="adj" fmla="val 4818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6AB51C6-F1B0-8117-EAEC-2C051BA7108E}"/>
              </a:ext>
            </a:extLst>
          </p:cNvPr>
          <p:cNvSpPr/>
          <p:nvPr/>
        </p:nvSpPr>
        <p:spPr>
          <a:xfrm>
            <a:off x="5738222" y="5663853"/>
            <a:ext cx="1215109" cy="3252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吊钩轨迹</a:t>
            </a:r>
          </a:p>
        </p:txBody>
      </p:sp>
      <p:cxnSp>
        <p:nvCxnSpPr>
          <p:cNvPr id="11" name="连接符: 肘形 10">
            <a:extLst>
              <a:ext uri="{FF2B5EF4-FFF2-40B4-BE49-F238E27FC236}">
                <a16:creationId xmlns:a16="http://schemas.microsoft.com/office/drawing/2014/main" id="{6C23DE08-FBD7-DC55-2C05-73380D4AB372}"/>
              </a:ext>
            </a:extLst>
          </p:cNvPr>
          <p:cNvCxnSpPr>
            <a:stCxn id="5" idx="3"/>
            <a:endCxn id="9" idx="1"/>
          </p:cNvCxnSpPr>
          <p:nvPr/>
        </p:nvCxnSpPr>
        <p:spPr>
          <a:xfrm>
            <a:off x="4997532" y="5204608"/>
            <a:ext cx="740690" cy="621872"/>
          </a:xfrm>
          <a:prstGeom prst="curved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连接符: 肘形 11">
            <a:extLst>
              <a:ext uri="{FF2B5EF4-FFF2-40B4-BE49-F238E27FC236}">
                <a16:creationId xmlns:a16="http://schemas.microsoft.com/office/drawing/2014/main" id="{9506F346-6D40-EB7C-DA0D-61BA72A8AAF5}"/>
              </a:ext>
            </a:extLst>
          </p:cNvPr>
          <p:cNvCxnSpPr>
            <a:cxnSpLocks/>
            <a:stCxn id="4" idx="3"/>
            <a:endCxn id="9" idx="1"/>
          </p:cNvCxnSpPr>
          <p:nvPr/>
        </p:nvCxnSpPr>
        <p:spPr>
          <a:xfrm flipV="1">
            <a:off x="4997529" y="5826480"/>
            <a:ext cx="740692" cy="621874"/>
          </a:xfrm>
          <a:prstGeom prst="curved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连接符: 肘形 14">
            <a:extLst>
              <a:ext uri="{FF2B5EF4-FFF2-40B4-BE49-F238E27FC236}">
                <a16:creationId xmlns:a16="http://schemas.microsoft.com/office/drawing/2014/main" id="{1EEEB411-74DE-F851-C7E1-A7D16DAF364F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4997531" y="5826482"/>
            <a:ext cx="740691" cy="1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矩形 17">
            <a:extLst>
              <a:ext uri="{FF2B5EF4-FFF2-40B4-BE49-F238E27FC236}">
                <a16:creationId xmlns:a16="http://schemas.microsoft.com/office/drawing/2014/main" id="{0F797EC2-3253-8F78-26F0-1F422AE7BAC6}"/>
              </a:ext>
            </a:extLst>
          </p:cNvPr>
          <p:cNvSpPr/>
          <p:nvPr/>
        </p:nvSpPr>
        <p:spPr>
          <a:xfrm>
            <a:off x="7452722" y="5663851"/>
            <a:ext cx="1215109" cy="3252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吊物轨迹</a:t>
            </a:r>
          </a:p>
        </p:txBody>
      </p:sp>
      <p:cxnSp>
        <p:nvCxnSpPr>
          <p:cNvPr id="19" name="连接符: 肘形 18">
            <a:extLst>
              <a:ext uri="{FF2B5EF4-FFF2-40B4-BE49-F238E27FC236}">
                <a16:creationId xmlns:a16="http://schemas.microsoft.com/office/drawing/2014/main" id="{5302A022-D31E-6DC1-5563-E50E73CF61B0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 flipV="1">
            <a:off x="6953332" y="5826481"/>
            <a:ext cx="499391" cy="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57B3EF9F-31EA-4A7D-371A-D74837BCCD7A}"/>
              </a:ext>
            </a:extLst>
          </p:cNvPr>
          <p:cNvCxnSpPr>
            <a:cxnSpLocks/>
            <a:stCxn id="4" idx="3"/>
            <a:endCxn id="24" idx="1"/>
          </p:cNvCxnSpPr>
          <p:nvPr/>
        </p:nvCxnSpPr>
        <p:spPr>
          <a:xfrm flipV="1">
            <a:off x="4997530" y="6448352"/>
            <a:ext cx="2455192" cy="2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>
            <a:extLst>
              <a:ext uri="{FF2B5EF4-FFF2-40B4-BE49-F238E27FC236}">
                <a16:creationId xmlns:a16="http://schemas.microsoft.com/office/drawing/2014/main" id="{748CF44B-0379-509E-2488-7B17171013F9}"/>
              </a:ext>
            </a:extLst>
          </p:cNvPr>
          <p:cNvSpPr/>
          <p:nvPr/>
        </p:nvSpPr>
        <p:spPr>
          <a:xfrm>
            <a:off x="7452722" y="6285724"/>
            <a:ext cx="1215109" cy="3252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吊物种类</a:t>
            </a:r>
          </a:p>
        </p:txBody>
      </p:sp>
      <p:sp>
        <p:nvSpPr>
          <p:cNvPr id="32" name="十字形 31">
            <a:extLst>
              <a:ext uri="{FF2B5EF4-FFF2-40B4-BE49-F238E27FC236}">
                <a16:creationId xmlns:a16="http://schemas.microsoft.com/office/drawing/2014/main" id="{0F102D47-2F46-EB76-B9DB-A79D46204296}"/>
              </a:ext>
            </a:extLst>
          </p:cNvPr>
          <p:cNvSpPr/>
          <p:nvPr/>
        </p:nvSpPr>
        <p:spPr>
          <a:xfrm>
            <a:off x="7999426" y="6075534"/>
            <a:ext cx="121701" cy="123762"/>
          </a:xfrm>
          <a:prstGeom prst="plus">
            <a:avLst>
              <a:gd name="adj" fmla="val 48183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3" name="连接符: 肘形 32">
            <a:extLst>
              <a:ext uri="{FF2B5EF4-FFF2-40B4-BE49-F238E27FC236}">
                <a16:creationId xmlns:a16="http://schemas.microsoft.com/office/drawing/2014/main" id="{7B2AF0E8-3091-ECC7-604A-DDD89BAD34D3}"/>
              </a:ext>
            </a:extLst>
          </p:cNvPr>
          <p:cNvCxnSpPr>
            <a:cxnSpLocks/>
            <a:stCxn id="18" idx="3"/>
            <a:endCxn id="43" idx="1"/>
          </p:cNvCxnSpPr>
          <p:nvPr/>
        </p:nvCxnSpPr>
        <p:spPr>
          <a:xfrm>
            <a:off x="8667830" y="5826479"/>
            <a:ext cx="179197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矩形 40">
            <a:extLst>
              <a:ext uri="{FF2B5EF4-FFF2-40B4-BE49-F238E27FC236}">
                <a16:creationId xmlns:a16="http://schemas.microsoft.com/office/drawing/2014/main" id="{D54C5B30-05CB-F8F4-6406-07CFF89CBAEB}"/>
              </a:ext>
            </a:extLst>
          </p:cNvPr>
          <p:cNvSpPr/>
          <p:nvPr/>
        </p:nvSpPr>
        <p:spPr>
          <a:xfrm>
            <a:off x="7452720" y="4408130"/>
            <a:ext cx="1215109" cy="3252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3D</a:t>
            </a: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点云</a:t>
            </a:r>
          </a:p>
        </p:txBody>
      </p:sp>
      <p:cxnSp>
        <p:nvCxnSpPr>
          <p:cNvPr id="42" name="连接符: 肘形 41">
            <a:extLst>
              <a:ext uri="{FF2B5EF4-FFF2-40B4-BE49-F238E27FC236}">
                <a16:creationId xmlns:a16="http://schemas.microsoft.com/office/drawing/2014/main" id="{096C09B4-47F7-CAA8-E367-9285A72A8451}"/>
              </a:ext>
            </a:extLst>
          </p:cNvPr>
          <p:cNvCxnSpPr>
            <a:cxnSpLocks/>
            <a:stCxn id="7" idx="3"/>
            <a:endCxn id="41" idx="1"/>
          </p:cNvCxnSpPr>
          <p:nvPr/>
        </p:nvCxnSpPr>
        <p:spPr>
          <a:xfrm flipV="1">
            <a:off x="4997529" y="4570758"/>
            <a:ext cx="2455190" cy="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>
            <a:extLst>
              <a:ext uri="{FF2B5EF4-FFF2-40B4-BE49-F238E27FC236}">
                <a16:creationId xmlns:a16="http://schemas.microsoft.com/office/drawing/2014/main" id="{6C6964EE-49D9-178A-6A98-1314F59399B5}"/>
              </a:ext>
            </a:extLst>
          </p:cNvPr>
          <p:cNvSpPr/>
          <p:nvPr/>
        </p:nvSpPr>
        <p:spPr>
          <a:xfrm>
            <a:off x="9300573" y="4408128"/>
            <a:ext cx="1215109" cy="3252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3D</a:t>
            </a: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避障</a:t>
            </a:r>
          </a:p>
        </p:txBody>
      </p:sp>
      <p:cxnSp>
        <p:nvCxnSpPr>
          <p:cNvPr id="46" name="连接符: 肘形 45">
            <a:extLst>
              <a:ext uri="{FF2B5EF4-FFF2-40B4-BE49-F238E27FC236}">
                <a16:creationId xmlns:a16="http://schemas.microsoft.com/office/drawing/2014/main" id="{9AB54EA3-2DF3-F875-E458-8D843801FA29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>
          <a:xfrm flipV="1">
            <a:off x="8667830" y="4570758"/>
            <a:ext cx="632743" cy="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连接符: 肘形 48">
            <a:extLst>
              <a:ext uri="{FF2B5EF4-FFF2-40B4-BE49-F238E27FC236}">
                <a16:creationId xmlns:a16="http://schemas.microsoft.com/office/drawing/2014/main" id="{30B7C495-D826-3D7D-E919-6EB951F4AAEF}"/>
              </a:ext>
            </a:extLst>
          </p:cNvPr>
          <p:cNvCxnSpPr>
            <a:cxnSpLocks/>
            <a:stCxn id="45" idx="3"/>
            <a:endCxn id="51" idx="1"/>
          </p:cNvCxnSpPr>
          <p:nvPr/>
        </p:nvCxnSpPr>
        <p:spPr>
          <a:xfrm flipV="1">
            <a:off x="10515682" y="4234434"/>
            <a:ext cx="740691" cy="33632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>
            <a:extLst>
              <a:ext uri="{FF2B5EF4-FFF2-40B4-BE49-F238E27FC236}">
                <a16:creationId xmlns:a16="http://schemas.microsoft.com/office/drawing/2014/main" id="{6BE7710B-C7CC-E676-812A-2D040129035A}"/>
              </a:ext>
            </a:extLst>
          </p:cNvPr>
          <p:cNvSpPr/>
          <p:nvPr/>
        </p:nvSpPr>
        <p:spPr>
          <a:xfrm>
            <a:off x="11256372" y="4071806"/>
            <a:ext cx="1215109" cy="3252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静态避障</a:t>
            </a:r>
          </a:p>
        </p:txBody>
      </p:sp>
      <p:cxnSp>
        <p:nvCxnSpPr>
          <p:cNvPr id="57" name="连接符: 肘形 56">
            <a:extLst>
              <a:ext uri="{FF2B5EF4-FFF2-40B4-BE49-F238E27FC236}">
                <a16:creationId xmlns:a16="http://schemas.microsoft.com/office/drawing/2014/main" id="{4EE126AA-4F6A-CDE4-8722-C821D3995811}"/>
              </a:ext>
            </a:extLst>
          </p:cNvPr>
          <p:cNvCxnSpPr>
            <a:cxnSpLocks/>
            <a:stCxn id="45" idx="3"/>
            <a:endCxn id="58" idx="1"/>
          </p:cNvCxnSpPr>
          <p:nvPr/>
        </p:nvCxnSpPr>
        <p:spPr>
          <a:xfrm>
            <a:off x="10515682" y="4570758"/>
            <a:ext cx="740691" cy="36761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id="{FC940496-BD48-F402-BE4A-3AD1ABDC09F4}"/>
              </a:ext>
            </a:extLst>
          </p:cNvPr>
          <p:cNvSpPr/>
          <p:nvPr/>
        </p:nvSpPr>
        <p:spPr>
          <a:xfrm>
            <a:off x="11256372" y="4775746"/>
            <a:ext cx="1215109" cy="3252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动态避障</a:t>
            </a:r>
          </a:p>
        </p:txBody>
      </p:sp>
      <p:cxnSp>
        <p:nvCxnSpPr>
          <p:cNvPr id="64" name="连接符: 肘形 63">
            <a:extLst>
              <a:ext uri="{FF2B5EF4-FFF2-40B4-BE49-F238E27FC236}">
                <a16:creationId xmlns:a16="http://schemas.microsoft.com/office/drawing/2014/main" id="{665105F9-5348-E2DB-EE05-204E0A2D5207}"/>
              </a:ext>
            </a:extLst>
          </p:cNvPr>
          <p:cNvCxnSpPr>
            <a:cxnSpLocks/>
            <a:stCxn id="51" idx="3"/>
            <a:endCxn id="67" idx="1"/>
          </p:cNvCxnSpPr>
          <p:nvPr/>
        </p:nvCxnSpPr>
        <p:spPr>
          <a:xfrm flipV="1">
            <a:off x="12471481" y="3917032"/>
            <a:ext cx="471133" cy="31740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矩形 66">
            <a:extLst>
              <a:ext uri="{FF2B5EF4-FFF2-40B4-BE49-F238E27FC236}">
                <a16:creationId xmlns:a16="http://schemas.microsoft.com/office/drawing/2014/main" id="{BFE53407-15A6-109A-E710-990B11D6BEC2}"/>
              </a:ext>
            </a:extLst>
          </p:cNvPr>
          <p:cNvSpPr/>
          <p:nvPr/>
        </p:nvSpPr>
        <p:spPr>
          <a:xfrm>
            <a:off x="12942614" y="3754403"/>
            <a:ext cx="1215109" cy="3252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既有建筑物</a:t>
            </a:r>
          </a:p>
        </p:txBody>
      </p:sp>
      <p:cxnSp>
        <p:nvCxnSpPr>
          <p:cNvPr id="71" name="连接符: 肘形 70">
            <a:extLst>
              <a:ext uri="{FF2B5EF4-FFF2-40B4-BE49-F238E27FC236}">
                <a16:creationId xmlns:a16="http://schemas.microsoft.com/office/drawing/2014/main" id="{9C7363D5-8E52-0F8C-C3FE-5752A25AB791}"/>
              </a:ext>
            </a:extLst>
          </p:cNvPr>
          <p:cNvCxnSpPr>
            <a:cxnSpLocks/>
            <a:stCxn id="51" idx="3"/>
            <a:endCxn id="72" idx="1"/>
          </p:cNvCxnSpPr>
          <p:nvPr/>
        </p:nvCxnSpPr>
        <p:spPr>
          <a:xfrm>
            <a:off x="12471481" y="4234434"/>
            <a:ext cx="471133" cy="14106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矩形 71">
            <a:extLst>
              <a:ext uri="{FF2B5EF4-FFF2-40B4-BE49-F238E27FC236}">
                <a16:creationId xmlns:a16="http://schemas.microsoft.com/office/drawing/2014/main" id="{FAFFC5F1-AC79-6A5F-D2FA-6E984F7C782D}"/>
              </a:ext>
            </a:extLst>
          </p:cNvPr>
          <p:cNvSpPr/>
          <p:nvPr/>
        </p:nvSpPr>
        <p:spPr>
          <a:xfrm>
            <a:off x="12942614" y="4212873"/>
            <a:ext cx="1215109" cy="3252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地面距离</a:t>
            </a:r>
          </a:p>
        </p:txBody>
      </p:sp>
      <p:cxnSp>
        <p:nvCxnSpPr>
          <p:cNvPr id="76" name="连接符: 肘形 75">
            <a:extLst>
              <a:ext uri="{FF2B5EF4-FFF2-40B4-BE49-F238E27FC236}">
                <a16:creationId xmlns:a16="http://schemas.microsoft.com/office/drawing/2014/main" id="{62DC679A-E818-C7D0-1919-98274B35AA3E}"/>
              </a:ext>
            </a:extLst>
          </p:cNvPr>
          <p:cNvCxnSpPr>
            <a:cxnSpLocks/>
            <a:stCxn id="58" idx="3"/>
            <a:endCxn id="77" idx="1"/>
          </p:cNvCxnSpPr>
          <p:nvPr/>
        </p:nvCxnSpPr>
        <p:spPr>
          <a:xfrm flipV="1">
            <a:off x="12471481" y="4839088"/>
            <a:ext cx="471133" cy="9928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9AD94637-9FEC-C2C7-BFE1-D0D6ED86ADC6}"/>
              </a:ext>
            </a:extLst>
          </p:cNvPr>
          <p:cNvSpPr/>
          <p:nvPr/>
        </p:nvSpPr>
        <p:spPr>
          <a:xfrm>
            <a:off x="12942614" y="4676460"/>
            <a:ext cx="1215109" cy="3252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塔吊群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A316F78E-73A2-F6F4-2F85-D76C0D083816}"/>
              </a:ext>
            </a:extLst>
          </p:cNvPr>
          <p:cNvSpPr txBox="1"/>
          <p:nvPr/>
        </p:nvSpPr>
        <p:spPr>
          <a:xfrm>
            <a:off x="8764263" y="5564868"/>
            <a:ext cx="1599107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1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获取吊物起始点和终点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58977C2B-709C-A8CC-4089-3B280D0A3B07}"/>
              </a:ext>
            </a:extLst>
          </p:cNvPr>
          <p:cNvSpPr/>
          <p:nvPr/>
        </p:nvSpPr>
        <p:spPr>
          <a:xfrm>
            <a:off x="10459802" y="5663851"/>
            <a:ext cx="1750043" cy="3252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同步构件状态至</a:t>
            </a:r>
            <a:r>
              <a:rPr lang="en-US" altLang="zh-CN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BIM</a:t>
            </a:r>
            <a:endParaRPr lang="zh-CN" altLang="en-US" sz="1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50" name="连接符: 肘形 49">
            <a:extLst>
              <a:ext uri="{FF2B5EF4-FFF2-40B4-BE49-F238E27FC236}">
                <a16:creationId xmlns:a16="http://schemas.microsoft.com/office/drawing/2014/main" id="{AFDD8C83-5B98-2E60-C0E7-5CC79FBD6E39}"/>
              </a:ext>
            </a:extLst>
          </p:cNvPr>
          <p:cNvCxnSpPr>
            <a:cxnSpLocks/>
            <a:stCxn id="24" idx="3"/>
            <a:endCxn id="43" idx="1"/>
          </p:cNvCxnSpPr>
          <p:nvPr/>
        </p:nvCxnSpPr>
        <p:spPr>
          <a:xfrm flipV="1">
            <a:off x="8667830" y="5826481"/>
            <a:ext cx="1791970" cy="62187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矩形 55">
            <a:extLst>
              <a:ext uri="{FF2B5EF4-FFF2-40B4-BE49-F238E27FC236}">
                <a16:creationId xmlns:a16="http://schemas.microsoft.com/office/drawing/2014/main" id="{5503EEA5-B37C-EF10-CA22-F41BF4B714B3}"/>
              </a:ext>
            </a:extLst>
          </p:cNvPr>
          <p:cNvSpPr/>
          <p:nvPr/>
        </p:nvSpPr>
        <p:spPr>
          <a:xfrm>
            <a:off x="7186123" y="2756634"/>
            <a:ext cx="3596155" cy="653831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20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吊钩可视化数字孪生方案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502F718B-6F5A-F897-CFAD-048A1D692126}"/>
              </a:ext>
            </a:extLst>
          </p:cNvPr>
          <p:cNvSpPr/>
          <p:nvPr/>
        </p:nvSpPr>
        <p:spPr>
          <a:xfrm>
            <a:off x="12942614" y="5137968"/>
            <a:ext cx="1215109" cy="32525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其他吊物</a:t>
            </a:r>
          </a:p>
        </p:txBody>
      </p:sp>
      <p:cxnSp>
        <p:nvCxnSpPr>
          <p:cNvPr id="60" name="连接符: 肘形 59">
            <a:extLst>
              <a:ext uri="{FF2B5EF4-FFF2-40B4-BE49-F238E27FC236}">
                <a16:creationId xmlns:a16="http://schemas.microsoft.com/office/drawing/2014/main" id="{00F831DB-F7E4-372F-B7AF-6A2C8402D975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>
            <a:off x="12471481" y="4938374"/>
            <a:ext cx="471133" cy="36222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文本框 77">
            <a:extLst>
              <a:ext uri="{FF2B5EF4-FFF2-40B4-BE49-F238E27FC236}">
                <a16:creationId xmlns:a16="http://schemas.microsoft.com/office/drawing/2014/main" id="{A3DC5B5E-6F0B-6799-46A3-AE609B04CB2C}"/>
              </a:ext>
            </a:extLst>
          </p:cNvPr>
          <p:cNvSpPr txBox="1"/>
          <p:nvPr/>
        </p:nvSpPr>
        <p:spPr>
          <a:xfrm>
            <a:off x="3782421" y="7529470"/>
            <a:ext cx="1085546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40" indent="-285740">
              <a:buFont typeface="Arial" panose="020B0604020202020204" pitchFamily="34" charset="0"/>
              <a:buChar char="•"/>
            </a:pP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</a:rPr>
              <a:t>搭建一套吊钩可视化的数字孪生平台，包含吊钩吊物状态、效率统计、直播画面、</a:t>
            </a:r>
            <a:r>
              <a:rPr lang="en-US" altLang="zh-CN" sz="1600">
                <a:latin typeface="宋体" panose="02010600030101010101" pitchFamily="2" charset="-122"/>
                <a:ea typeface="宋体" panose="02010600030101010101" pitchFamily="2" charset="-122"/>
              </a:rPr>
              <a:t>BIM</a:t>
            </a:r>
            <a:r>
              <a:rPr lang="zh-CN" altLang="en-US" sz="1600">
                <a:latin typeface="宋体" panose="02010600030101010101" pitchFamily="2" charset="-122"/>
                <a:ea typeface="宋体" panose="02010600030101010101" pitchFamily="2" charset="-122"/>
              </a:rPr>
              <a:t>施工进度展示等内容；</a:t>
            </a:r>
            <a:endParaRPr lang="en-US" altLang="zh-CN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A89A93A-9C79-F234-4A49-97576656D49B}"/>
              </a:ext>
            </a:extLst>
          </p:cNvPr>
          <p:cNvSpPr txBox="1"/>
          <p:nvPr/>
        </p:nvSpPr>
        <p:spPr>
          <a:xfrm>
            <a:off x="4979321" y="5601339"/>
            <a:ext cx="59514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100">
                <a:solidFill>
                  <a:srgbClr val="FF0000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GVINS</a:t>
            </a:r>
            <a:endParaRPr lang="zh-CN" altLang="en-US" sz="1100">
              <a:solidFill>
                <a:srgbClr val="FF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93646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3A915-173A-5421-2277-B573EBD6E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D15A1F81-A626-0404-5DC0-342B04A06A8B}"/>
              </a:ext>
            </a:extLst>
          </p:cNvPr>
          <p:cNvCxnSpPr>
            <a:cxnSpLocks/>
          </p:cNvCxnSpPr>
          <p:nvPr/>
        </p:nvCxnSpPr>
        <p:spPr>
          <a:xfrm>
            <a:off x="1754360" y="1586411"/>
            <a:ext cx="11876973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FD07400A-7B2F-E808-C47D-B54D1FF89FFC}"/>
              </a:ext>
            </a:extLst>
          </p:cNvPr>
          <p:cNvSpPr/>
          <p:nvPr/>
        </p:nvSpPr>
        <p:spPr>
          <a:xfrm>
            <a:off x="2730942" y="1166060"/>
            <a:ext cx="1215109" cy="325257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研究目标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373C08C-CFCA-0D6A-20A2-8E621486CD99}"/>
              </a:ext>
            </a:extLst>
          </p:cNvPr>
          <p:cNvSpPr/>
          <p:nvPr/>
        </p:nvSpPr>
        <p:spPr>
          <a:xfrm>
            <a:off x="11926490" y="1166058"/>
            <a:ext cx="1215109" cy="325257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关键技术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B60541B-9A08-D3E7-1DC7-DCE9B156D6F0}"/>
              </a:ext>
            </a:extLst>
          </p:cNvPr>
          <p:cNvSpPr/>
          <p:nvPr/>
        </p:nvSpPr>
        <p:spPr>
          <a:xfrm>
            <a:off x="7566026" y="1166058"/>
            <a:ext cx="1215109" cy="325257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研究内容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5A317898-6992-D83A-FDF9-5497FD4B225C}"/>
              </a:ext>
            </a:extLst>
          </p:cNvPr>
          <p:cNvSpPr/>
          <p:nvPr/>
        </p:nvSpPr>
        <p:spPr>
          <a:xfrm>
            <a:off x="1843184" y="2305201"/>
            <a:ext cx="3075291" cy="594060"/>
          </a:xfrm>
          <a:prstGeom prst="round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研究一：</a:t>
            </a:r>
            <a:endParaRPr lang="en-US" altLang="zh-CN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基于多传感器融合的吊装轨迹生成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82E3AD8A-2EB5-4499-BB7B-619E62161975}"/>
              </a:ext>
            </a:extLst>
          </p:cNvPr>
          <p:cNvSpPr/>
          <p:nvPr/>
        </p:nvSpPr>
        <p:spPr>
          <a:xfrm>
            <a:off x="1843186" y="4091128"/>
            <a:ext cx="3075291" cy="594060"/>
          </a:xfrm>
          <a:prstGeom prst="roundRect">
            <a:avLst/>
          </a:prstGeom>
          <a:noFill/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研究二：</a:t>
            </a:r>
            <a:endParaRPr lang="en-US" altLang="zh-CN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基于三维点云的吊装环境感知方法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69996B2F-E854-F290-DB95-A5444F94BC73}"/>
              </a:ext>
            </a:extLst>
          </p:cNvPr>
          <p:cNvSpPr/>
          <p:nvPr/>
        </p:nvSpPr>
        <p:spPr>
          <a:xfrm>
            <a:off x="1843184" y="5826448"/>
            <a:ext cx="3075292" cy="594059"/>
          </a:xfrm>
          <a:prstGeom prst="roundRect">
            <a:avLst/>
          </a:prstGeom>
          <a:noFill/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研究三：</a:t>
            </a:r>
            <a:endParaRPr lang="en-US" altLang="zh-CN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基于相对运动趋势的碰撞风险评估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3A03CB7-E292-9FBB-17B2-AB1A1F173AF4}"/>
              </a:ext>
            </a:extLst>
          </p:cNvPr>
          <p:cNvSpPr/>
          <p:nvPr/>
        </p:nvSpPr>
        <p:spPr>
          <a:xfrm>
            <a:off x="6680409" y="2002374"/>
            <a:ext cx="1001927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特征点提取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EB1CF8C-14C6-E496-38E5-D1B0EC66B5AC}"/>
              </a:ext>
            </a:extLst>
          </p:cNvPr>
          <p:cNvSpPr/>
          <p:nvPr/>
        </p:nvSpPr>
        <p:spPr>
          <a:xfrm>
            <a:off x="6680407" y="2469288"/>
            <a:ext cx="1001928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预积分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644CD4E-798A-5BDD-AE77-9C59E2FCC876}"/>
              </a:ext>
            </a:extLst>
          </p:cNvPr>
          <p:cNvSpPr/>
          <p:nvPr/>
        </p:nvSpPr>
        <p:spPr>
          <a:xfrm>
            <a:off x="6680407" y="2947150"/>
            <a:ext cx="1001928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噪声过滤</a:t>
            </a:r>
          </a:p>
        </p:txBody>
      </p:sp>
      <p:cxnSp>
        <p:nvCxnSpPr>
          <p:cNvPr id="23" name="连接符: 肘形 10">
            <a:extLst>
              <a:ext uri="{FF2B5EF4-FFF2-40B4-BE49-F238E27FC236}">
                <a16:creationId xmlns:a16="http://schemas.microsoft.com/office/drawing/2014/main" id="{8BF4B4EF-96DF-8B0F-64D8-EFD86E1C8FF8}"/>
              </a:ext>
            </a:extLst>
          </p:cNvPr>
          <p:cNvCxnSpPr>
            <a:cxnSpLocks/>
            <a:stCxn id="20" idx="3"/>
            <a:endCxn id="50" idx="1"/>
          </p:cNvCxnSpPr>
          <p:nvPr/>
        </p:nvCxnSpPr>
        <p:spPr>
          <a:xfrm>
            <a:off x="7682336" y="2128374"/>
            <a:ext cx="656174" cy="231854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肘形 10">
            <a:extLst>
              <a:ext uri="{FF2B5EF4-FFF2-40B4-BE49-F238E27FC236}">
                <a16:creationId xmlns:a16="http://schemas.microsoft.com/office/drawing/2014/main" id="{81A86F24-1F2B-F51A-CFC6-430B9124580D}"/>
              </a:ext>
            </a:extLst>
          </p:cNvPr>
          <p:cNvCxnSpPr>
            <a:cxnSpLocks/>
            <a:stCxn id="21" idx="3"/>
            <a:endCxn id="50" idx="1"/>
          </p:cNvCxnSpPr>
          <p:nvPr/>
        </p:nvCxnSpPr>
        <p:spPr>
          <a:xfrm flipV="1">
            <a:off x="7682335" y="2360228"/>
            <a:ext cx="656175" cy="235060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连接符: 肘形 10">
            <a:extLst>
              <a:ext uri="{FF2B5EF4-FFF2-40B4-BE49-F238E27FC236}">
                <a16:creationId xmlns:a16="http://schemas.microsoft.com/office/drawing/2014/main" id="{548F8685-9771-17F3-6641-2E1F81616E12}"/>
              </a:ext>
            </a:extLst>
          </p:cNvPr>
          <p:cNvCxnSpPr>
            <a:cxnSpLocks/>
            <a:stCxn id="22" idx="3"/>
            <a:endCxn id="49" idx="1"/>
          </p:cNvCxnSpPr>
          <p:nvPr/>
        </p:nvCxnSpPr>
        <p:spPr>
          <a:xfrm flipV="1">
            <a:off x="7682335" y="2835924"/>
            <a:ext cx="656175" cy="237226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BE70D45E-FA67-6002-29A8-1FEF81FBFA73}"/>
              </a:ext>
            </a:extLst>
          </p:cNvPr>
          <p:cNvSpPr/>
          <p:nvPr/>
        </p:nvSpPr>
        <p:spPr>
          <a:xfrm>
            <a:off x="8338510" y="2709924"/>
            <a:ext cx="1156190" cy="252000"/>
          </a:xfrm>
          <a:prstGeom prst="round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全局坐标位姿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0E67311B-A337-FCF6-9991-BAE9430CDD35}"/>
              </a:ext>
            </a:extLst>
          </p:cNvPr>
          <p:cNvSpPr/>
          <p:nvPr/>
        </p:nvSpPr>
        <p:spPr>
          <a:xfrm>
            <a:off x="8338510" y="2234228"/>
            <a:ext cx="1156190" cy="252000"/>
          </a:xfrm>
          <a:prstGeom prst="round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局部坐标位姿</a:t>
            </a:r>
          </a:p>
        </p:txBody>
      </p:sp>
      <p:cxnSp>
        <p:nvCxnSpPr>
          <p:cNvPr id="51" name="连接符: 肘形 10">
            <a:extLst>
              <a:ext uri="{FF2B5EF4-FFF2-40B4-BE49-F238E27FC236}">
                <a16:creationId xmlns:a16="http://schemas.microsoft.com/office/drawing/2014/main" id="{1B33FADC-160B-3A65-CE2B-9A4E4DD5FD0B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9494700" y="2360228"/>
            <a:ext cx="534548" cy="23506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连接符: 肘形 10">
            <a:extLst>
              <a:ext uri="{FF2B5EF4-FFF2-40B4-BE49-F238E27FC236}">
                <a16:creationId xmlns:a16="http://schemas.microsoft.com/office/drawing/2014/main" id="{72953AFD-201E-3AA1-F330-1AC3B18756D8}"/>
              </a:ext>
            </a:extLst>
          </p:cNvPr>
          <p:cNvCxnSpPr>
            <a:cxnSpLocks/>
            <a:stCxn id="49" idx="3"/>
            <a:endCxn id="53" idx="1"/>
          </p:cNvCxnSpPr>
          <p:nvPr/>
        </p:nvCxnSpPr>
        <p:spPr>
          <a:xfrm flipV="1">
            <a:off x="9494700" y="2595288"/>
            <a:ext cx="534548" cy="24063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1DAA6F73-9FBF-BE97-8D99-17279C682DAC}"/>
              </a:ext>
            </a:extLst>
          </p:cNvPr>
          <p:cNvSpPr/>
          <p:nvPr/>
        </p:nvSpPr>
        <p:spPr>
          <a:xfrm>
            <a:off x="10029248" y="1991426"/>
            <a:ext cx="252000" cy="1207724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滑动窗口优化</a:t>
            </a: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F46C9A75-C638-A915-7F7C-2BB724C4FDA7}"/>
              </a:ext>
            </a:extLst>
          </p:cNvPr>
          <p:cNvSpPr/>
          <p:nvPr/>
        </p:nvSpPr>
        <p:spPr>
          <a:xfrm>
            <a:off x="5560274" y="2002374"/>
            <a:ext cx="666345" cy="252000"/>
          </a:xfrm>
          <a:prstGeom prst="roundRect">
            <a:avLst>
              <a:gd name="adj" fmla="val 50000"/>
            </a:avLst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图像</a:t>
            </a:r>
          </a:p>
        </p:txBody>
      </p:sp>
      <p:sp>
        <p:nvSpPr>
          <p:cNvPr id="61" name="矩形: 圆角 60">
            <a:extLst>
              <a:ext uri="{FF2B5EF4-FFF2-40B4-BE49-F238E27FC236}">
                <a16:creationId xmlns:a16="http://schemas.microsoft.com/office/drawing/2014/main" id="{E293C9E6-0302-2B4E-7CFD-13DEB03A764F}"/>
              </a:ext>
            </a:extLst>
          </p:cNvPr>
          <p:cNvSpPr/>
          <p:nvPr/>
        </p:nvSpPr>
        <p:spPr>
          <a:xfrm>
            <a:off x="5557728" y="2469288"/>
            <a:ext cx="666345" cy="252000"/>
          </a:xfrm>
          <a:prstGeom prst="roundRect">
            <a:avLst>
              <a:gd name="adj" fmla="val 50000"/>
            </a:avLst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IMU</a:t>
            </a:r>
            <a:endParaRPr lang="zh-CN" altLang="en-US" sz="12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F3EAE47D-1EC5-7D09-8A53-9DA5BEED0B49}"/>
              </a:ext>
            </a:extLst>
          </p:cNvPr>
          <p:cNvSpPr/>
          <p:nvPr/>
        </p:nvSpPr>
        <p:spPr>
          <a:xfrm>
            <a:off x="5563821" y="2946443"/>
            <a:ext cx="666345" cy="252000"/>
          </a:xfrm>
          <a:prstGeom prst="roundRect">
            <a:avLst>
              <a:gd name="adj" fmla="val 50000"/>
            </a:avLst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GNSS</a:t>
            </a:r>
            <a:endParaRPr lang="zh-CN" altLang="en-US" sz="12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79" name="连接符: 肘形 10">
            <a:extLst>
              <a:ext uri="{FF2B5EF4-FFF2-40B4-BE49-F238E27FC236}">
                <a16:creationId xmlns:a16="http://schemas.microsoft.com/office/drawing/2014/main" id="{2968575D-79BF-B992-63AD-6B87A61DE7D2}"/>
              </a:ext>
            </a:extLst>
          </p:cNvPr>
          <p:cNvCxnSpPr>
            <a:cxnSpLocks/>
            <a:stCxn id="60" idx="3"/>
            <a:endCxn id="20" idx="1"/>
          </p:cNvCxnSpPr>
          <p:nvPr/>
        </p:nvCxnSpPr>
        <p:spPr>
          <a:xfrm>
            <a:off x="6226619" y="2128374"/>
            <a:ext cx="45379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连接符: 肘形 10">
            <a:extLst>
              <a:ext uri="{FF2B5EF4-FFF2-40B4-BE49-F238E27FC236}">
                <a16:creationId xmlns:a16="http://schemas.microsoft.com/office/drawing/2014/main" id="{B797640E-A4E4-EEBF-5E38-D81E4099C7CA}"/>
              </a:ext>
            </a:extLst>
          </p:cNvPr>
          <p:cNvCxnSpPr>
            <a:cxnSpLocks/>
            <a:stCxn id="61" idx="3"/>
            <a:endCxn id="21" idx="1"/>
          </p:cNvCxnSpPr>
          <p:nvPr/>
        </p:nvCxnSpPr>
        <p:spPr>
          <a:xfrm>
            <a:off x="6224073" y="2595288"/>
            <a:ext cx="4563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肘形 10">
            <a:extLst>
              <a:ext uri="{FF2B5EF4-FFF2-40B4-BE49-F238E27FC236}">
                <a16:creationId xmlns:a16="http://schemas.microsoft.com/office/drawing/2014/main" id="{6F79D7A4-57DC-71CE-1AC9-3F0B243D16C0}"/>
              </a:ext>
            </a:extLst>
          </p:cNvPr>
          <p:cNvCxnSpPr>
            <a:cxnSpLocks/>
            <a:stCxn id="62" idx="3"/>
            <a:endCxn id="22" idx="1"/>
          </p:cNvCxnSpPr>
          <p:nvPr/>
        </p:nvCxnSpPr>
        <p:spPr>
          <a:xfrm>
            <a:off x="6230166" y="3072443"/>
            <a:ext cx="450241" cy="7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 113">
            <a:extLst>
              <a:ext uri="{FF2B5EF4-FFF2-40B4-BE49-F238E27FC236}">
                <a16:creationId xmlns:a16="http://schemas.microsoft.com/office/drawing/2014/main" id="{52F87F95-7B7A-6B89-B449-C536F0094FBF}"/>
              </a:ext>
            </a:extLst>
          </p:cNvPr>
          <p:cNvSpPr/>
          <p:nvPr/>
        </p:nvSpPr>
        <p:spPr>
          <a:xfrm>
            <a:off x="10616902" y="1991426"/>
            <a:ext cx="252000" cy="1207724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融合轨迹估计</a:t>
            </a:r>
          </a:p>
        </p:txBody>
      </p:sp>
      <p:cxnSp>
        <p:nvCxnSpPr>
          <p:cNvPr id="115" name="连接符: 肘形 10">
            <a:extLst>
              <a:ext uri="{FF2B5EF4-FFF2-40B4-BE49-F238E27FC236}">
                <a16:creationId xmlns:a16="http://schemas.microsoft.com/office/drawing/2014/main" id="{727B9CE9-1F9C-92E1-5B0C-02C029BC68FA}"/>
              </a:ext>
            </a:extLst>
          </p:cNvPr>
          <p:cNvCxnSpPr>
            <a:cxnSpLocks/>
            <a:stCxn id="53" idx="3"/>
            <a:endCxn id="114" idx="1"/>
          </p:cNvCxnSpPr>
          <p:nvPr/>
        </p:nvCxnSpPr>
        <p:spPr>
          <a:xfrm>
            <a:off x="10281248" y="2595288"/>
            <a:ext cx="33565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矩形 119">
            <a:extLst>
              <a:ext uri="{FF2B5EF4-FFF2-40B4-BE49-F238E27FC236}">
                <a16:creationId xmlns:a16="http://schemas.microsoft.com/office/drawing/2014/main" id="{45F0E7A4-FCD0-5B93-80F8-BC824F725732}"/>
              </a:ext>
            </a:extLst>
          </p:cNvPr>
          <p:cNvSpPr/>
          <p:nvPr/>
        </p:nvSpPr>
        <p:spPr>
          <a:xfrm>
            <a:off x="6105334" y="3827678"/>
            <a:ext cx="252000" cy="112832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联合标定</a:t>
            </a:r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342F3865-0EB6-E237-A2BC-76ECB318DAB5}"/>
              </a:ext>
            </a:extLst>
          </p:cNvPr>
          <p:cNvSpPr/>
          <p:nvPr/>
        </p:nvSpPr>
        <p:spPr>
          <a:xfrm>
            <a:off x="7203153" y="3827678"/>
            <a:ext cx="252000" cy="112832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点云拼接</a:t>
            </a:r>
          </a:p>
        </p:txBody>
      </p:sp>
      <p:cxnSp>
        <p:nvCxnSpPr>
          <p:cNvPr id="153" name="连接符: 肘形 10">
            <a:extLst>
              <a:ext uri="{FF2B5EF4-FFF2-40B4-BE49-F238E27FC236}">
                <a16:creationId xmlns:a16="http://schemas.microsoft.com/office/drawing/2014/main" id="{8CABF45B-0123-56B0-77C6-A5097630225E}"/>
              </a:ext>
            </a:extLst>
          </p:cNvPr>
          <p:cNvCxnSpPr>
            <a:cxnSpLocks/>
            <a:stCxn id="120" idx="3"/>
            <a:endCxn id="1352" idx="1"/>
          </p:cNvCxnSpPr>
          <p:nvPr/>
        </p:nvCxnSpPr>
        <p:spPr>
          <a:xfrm flipV="1">
            <a:off x="6357334" y="4391415"/>
            <a:ext cx="295484" cy="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连接符: 肘形 10">
            <a:extLst>
              <a:ext uri="{FF2B5EF4-FFF2-40B4-BE49-F238E27FC236}">
                <a16:creationId xmlns:a16="http://schemas.microsoft.com/office/drawing/2014/main" id="{A9077171-96AB-CF95-1CCE-BC44287639AE}"/>
              </a:ext>
            </a:extLst>
          </p:cNvPr>
          <p:cNvCxnSpPr>
            <a:cxnSpLocks/>
            <a:stCxn id="152" idx="3"/>
            <a:endCxn id="176" idx="1"/>
          </p:cNvCxnSpPr>
          <p:nvPr/>
        </p:nvCxnSpPr>
        <p:spPr>
          <a:xfrm>
            <a:off x="7455153" y="4391842"/>
            <a:ext cx="30259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矩形: 圆角 164">
            <a:extLst>
              <a:ext uri="{FF2B5EF4-FFF2-40B4-BE49-F238E27FC236}">
                <a16:creationId xmlns:a16="http://schemas.microsoft.com/office/drawing/2014/main" id="{F88E3C1E-7092-8D2E-AC50-DAF5384B8C84}"/>
              </a:ext>
            </a:extLst>
          </p:cNvPr>
          <p:cNvSpPr/>
          <p:nvPr/>
        </p:nvSpPr>
        <p:spPr>
          <a:xfrm>
            <a:off x="5556084" y="3829966"/>
            <a:ext cx="252000" cy="1125612"/>
          </a:xfrm>
          <a:prstGeom prst="roundRect">
            <a:avLst>
              <a:gd name="adj" fmla="val 50000"/>
            </a:avLst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激光设备</a:t>
            </a:r>
          </a:p>
        </p:txBody>
      </p:sp>
      <p:cxnSp>
        <p:nvCxnSpPr>
          <p:cNvPr id="166" name="连接符: 肘形 10">
            <a:extLst>
              <a:ext uri="{FF2B5EF4-FFF2-40B4-BE49-F238E27FC236}">
                <a16:creationId xmlns:a16="http://schemas.microsoft.com/office/drawing/2014/main" id="{E6EED7DC-58BC-DEE7-49CB-F0158E7A8A53}"/>
              </a:ext>
            </a:extLst>
          </p:cNvPr>
          <p:cNvCxnSpPr>
            <a:cxnSpLocks/>
            <a:stCxn id="165" idx="3"/>
            <a:endCxn id="120" idx="1"/>
          </p:cNvCxnSpPr>
          <p:nvPr/>
        </p:nvCxnSpPr>
        <p:spPr>
          <a:xfrm flipV="1">
            <a:off x="5808084" y="4391842"/>
            <a:ext cx="297250" cy="9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矩形: 圆角 175">
            <a:extLst>
              <a:ext uri="{FF2B5EF4-FFF2-40B4-BE49-F238E27FC236}">
                <a16:creationId xmlns:a16="http://schemas.microsoft.com/office/drawing/2014/main" id="{7E3372D9-6A42-ABE7-8361-07AB385BEEC8}"/>
              </a:ext>
            </a:extLst>
          </p:cNvPr>
          <p:cNvSpPr/>
          <p:nvPr/>
        </p:nvSpPr>
        <p:spPr>
          <a:xfrm>
            <a:off x="7757752" y="3827678"/>
            <a:ext cx="252000" cy="1128328"/>
          </a:xfrm>
          <a:prstGeom prst="roundRect">
            <a:avLst>
              <a:gd name="adj" fmla="val 50000"/>
            </a:avLst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完整点云</a:t>
            </a:r>
          </a:p>
        </p:txBody>
      </p:sp>
      <p:sp>
        <p:nvSpPr>
          <p:cNvPr id="1064" name="矩形 1063">
            <a:extLst>
              <a:ext uri="{FF2B5EF4-FFF2-40B4-BE49-F238E27FC236}">
                <a16:creationId xmlns:a16="http://schemas.microsoft.com/office/drawing/2014/main" id="{31896889-77FD-B81E-2CB4-5F4B9C58EC66}"/>
              </a:ext>
            </a:extLst>
          </p:cNvPr>
          <p:cNvSpPr/>
          <p:nvPr/>
        </p:nvSpPr>
        <p:spPr>
          <a:xfrm>
            <a:off x="10616902" y="3823027"/>
            <a:ext cx="252000" cy="113026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吊装环境感知</a:t>
            </a:r>
          </a:p>
        </p:txBody>
      </p:sp>
      <p:cxnSp>
        <p:nvCxnSpPr>
          <p:cNvPr id="1065" name="连接符: 肘形 10">
            <a:extLst>
              <a:ext uri="{FF2B5EF4-FFF2-40B4-BE49-F238E27FC236}">
                <a16:creationId xmlns:a16="http://schemas.microsoft.com/office/drawing/2014/main" id="{602BA6BB-96A5-5B42-9970-B5036C16541E}"/>
              </a:ext>
            </a:extLst>
          </p:cNvPr>
          <p:cNvCxnSpPr>
            <a:cxnSpLocks/>
            <a:stCxn id="30" idx="3"/>
            <a:endCxn id="1064" idx="1"/>
          </p:cNvCxnSpPr>
          <p:nvPr/>
        </p:nvCxnSpPr>
        <p:spPr>
          <a:xfrm flipV="1">
            <a:off x="10171521" y="4388158"/>
            <a:ext cx="445381" cy="23066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7" name="连接符: 肘形 10">
            <a:extLst>
              <a:ext uri="{FF2B5EF4-FFF2-40B4-BE49-F238E27FC236}">
                <a16:creationId xmlns:a16="http://schemas.microsoft.com/office/drawing/2014/main" id="{F899AE6E-3BA0-B9AE-B5CE-43AC90985F05}"/>
              </a:ext>
            </a:extLst>
          </p:cNvPr>
          <p:cNvCxnSpPr>
            <a:cxnSpLocks/>
            <a:stCxn id="176" idx="3"/>
            <a:endCxn id="1073" idx="1"/>
          </p:cNvCxnSpPr>
          <p:nvPr/>
        </p:nvCxnSpPr>
        <p:spPr>
          <a:xfrm flipV="1">
            <a:off x="8009752" y="4389517"/>
            <a:ext cx="298335" cy="23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3" name="矩形 1072">
            <a:extLst>
              <a:ext uri="{FF2B5EF4-FFF2-40B4-BE49-F238E27FC236}">
                <a16:creationId xmlns:a16="http://schemas.microsoft.com/office/drawing/2014/main" id="{DCDA9D4B-C905-AF6D-32AA-D630A320AF2E}"/>
              </a:ext>
            </a:extLst>
          </p:cNvPr>
          <p:cNvSpPr/>
          <p:nvPr/>
        </p:nvSpPr>
        <p:spPr>
          <a:xfrm>
            <a:off x="8308087" y="3823027"/>
            <a:ext cx="252000" cy="113298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障碍物检测</a:t>
            </a:r>
          </a:p>
        </p:txBody>
      </p:sp>
      <p:cxnSp>
        <p:nvCxnSpPr>
          <p:cNvPr id="1140" name="连接符: 肘形 10">
            <a:extLst>
              <a:ext uri="{FF2B5EF4-FFF2-40B4-BE49-F238E27FC236}">
                <a16:creationId xmlns:a16="http://schemas.microsoft.com/office/drawing/2014/main" id="{9AA7E070-99DE-31D4-1482-2823DF79480A}"/>
              </a:ext>
            </a:extLst>
          </p:cNvPr>
          <p:cNvCxnSpPr>
            <a:cxnSpLocks/>
            <a:stCxn id="33" idx="3"/>
            <a:endCxn id="1064" idx="1"/>
          </p:cNvCxnSpPr>
          <p:nvPr/>
        </p:nvCxnSpPr>
        <p:spPr>
          <a:xfrm>
            <a:off x="10171520" y="4146146"/>
            <a:ext cx="445382" cy="2420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6" name="矩形: 圆角 1405">
            <a:extLst>
              <a:ext uri="{FF2B5EF4-FFF2-40B4-BE49-F238E27FC236}">
                <a16:creationId xmlns:a16="http://schemas.microsoft.com/office/drawing/2014/main" id="{E18536A4-CB49-E5D0-F3C1-5B1599821A13}"/>
              </a:ext>
            </a:extLst>
          </p:cNvPr>
          <p:cNvSpPr/>
          <p:nvPr/>
        </p:nvSpPr>
        <p:spPr>
          <a:xfrm>
            <a:off x="5314950" y="1810231"/>
            <a:ext cx="5814522" cy="1584000"/>
          </a:xfrm>
          <a:prstGeom prst="round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07" name="矩形: 圆角 1406">
            <a:extLst>
              <a:ext uri="{FF2B5EF4-FFF2-40B4-BE49-F238E27FC236}">
                <a16:creationId xmlns:a16="http://schemas.microsoft.com/office/drawing/2014/main" id="{9FF4D0E4-4BF8-C82A-53D1-1880DF93F489}"/>
              </a:ext>
            </a:extLst>
          </p:cNvPr>
          <p:cNvSpPr/>
          <p:nvPr/>
        </p:nvSpPr>
        <p:spPr>
          <a:xfrm>
            <a:off x="5314950" y="3575881"/>
            <a:ext cx="5814522" cy="1584000"/>
          </a:xfrm>
          <a:prstGeom prst="round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08" name="矩形: 圆角 1407">
            <a:extLst>
              <a:ext uri="{FF2B5EF4-FFF2-40B4-BE49-F238E27FC236}">
                <a16:creationId xmlns:a16="http://schemas.microsoft.com/office/drawing/2014/main" id="{07120463-D0DB-2EF6-05BE-783D66F329FE}"/>
              </a:ext>
            </a:extLst>
          </p:cNvPr>
          <p:cNvSpPr/>
          <p:nvPr/>
        </p:nvSpPr>
        <p:spPr>
          <a:xfrm>
            <a:off x="5314950" y="5337671"/>
            <a:ext cx="5814522" cy="1584000"/>
          </a:xfrm>
          <a:prstGeom prst="round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10" name="矩形: 圆角 1409">
            <a:extLst>
              <a:ext uri="{FF2B5EF4-FFF2-40B4-BE49-F238E27FC236}">
                <a16:creationId xmlns:a16="http://schemas.microsoft.com/office/drawing/2014/main" id="{07802886-A3DD-3348-D314-1116B95006D1}"/>
              </a:ext>
            </a:extLst>
          </p:cNvPr>
          <p:cNvSpPr/>
          <p:nvPr/>
        </p:nvSpPr>
        <p:spPr>
          <a:xfrm>
            <a:off x="11526926" y="1810231"/>
            <a:ext cx="2014238" cy="1583998"/>
          </a:xfrm>
          <a:prstGeom prst="round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altLang="zh-CN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SLAM</a:t>
            </a: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技术</a:t>
            </a:r>
            <a:endParaRPr lang="en-US" altLang="zh-CN" sz="1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多传感器融合</a:t>
            </a:r>
            <a:endParaRPr lang="en-US" altLang="zh-CN" sz="1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基于概率的状态估计</a:t>
            </a:r>
          </a:p>
        </p:txBody>
      </p:sp>
      <p:sp>
        <p:nvSpPr>
          <p:cNvPr id="1415" name="矩形: 圆角 1414">
            <a:extLst>
              <a:ext uri="{FF2B5EF4-FFF2-40B4-BE49-F238E27FC236}">
                <a16:creationId xmlns:a16="http://schemas.microsoft.com/office/drawing/2014/main" id="{D4592340-360A-A99F-C1BA-0C6195A4FF4F}"/>
              </a:ext>
            </a:extLst>
          </p:cNvPr>
          <p:cNvSpPr/>
          <p:nvPr/>
        </p:nvSpPr>
        <p:spPr>
          <a:xfrm>
            <a:off x="11526926" y="3575882"/>
            <a:ext cx="2014238" cy="1583999"/>
          </a:xfrm>
          <a:prstGeom prst="round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点云特征提取</a:t>
            </a:r>
            <a:endParaRPr lang="en-US" altLang="zh-CN" sz="1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点云畸变校正</a:t>
            </a:r>
            <a:endParaRPr lang="en-US" altLang="zh-CN" sz="1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深度学习</a:t>
            </a:r>
            <a:endParaRPr lang="en-US" altLang="zh-CN" sz="1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16" name="矩形: 圆角 1415">
            <a:extLst>
              <a:ext uri="{FF2B5EF4-FFF2-40B4-BE49-F238E27FC236}">
                <a16:creationId xmlns:a16="http://schemas.microsoft.com/office/drawing/2014/main" id="{DA996661-F393-D9AA-E905-4CA37145F6DD}"/>
              </a:ext>
            </a:extLst>
          </p:cNvPr>
          <p:cNvSpPr/>
          <p:nvPr/>
        </p:nvSpPr>
        <p:spPr>
          <a:xfrm>
            <a:off x="11526926" y="5337672"/>
            <a:ext cx="2014238" cy="1583999"/>
          </a:xfrm>
          <a:prstGeom prst="round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包络曲面构建</a:t>
            </a:r>
            <a:endParaRPr lang="en-US" altLang="zh-CN" sz="1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点云聚类</a:t>
            </a:r>
            <a:endParaRPr lang="en-US" altLang="zh-CN" sz="1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卡尔曼滤波器</a:t>
            </a:r>
          </a:p>
        </p:txBody>
      </p:sp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ABF97954-97BF-BBE3-D2CD-F6148AAC90F1}"/>
              </a:ext>
            </a:extLst>
          </p:cNvPr>
          <p:cNvSpPr/>
          <p:nvPr/>
        </p:nvSpPr>
        <p:spPr>
          <a:xfrm>
            <a:off x="9110341" y="4497134"/>
            <a:ext cx="1061180" cy="243371"/>
          </a:xfrm>
          <a:prstGeom prst="roundRect">
            <a:avLst>
              <a:gd name="adj" fmla="val 25213"/>
            </a:avLst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动态障碍物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3C5076B0-8347-455F-88E3-76BA09679FE1}"/>
              </a:ext>
            </a:extLst>
          </p:cNvPr>
          <p:cNvSpPr/>
          <p:nvPr/>
        </p:nvSpPr>
        <p:spPr>
          <a:xfrm>
            <a:off x="9110340" y="4024460"/>
            <a:ext cx="1061180" cy="243371"/>
          </a:xfrm>
          <a:prstGeom prst="roundRect">
            <a:avLst>
              <a:gd name="adj" fmla="val 27170"/>
            </a:avLst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静态障碍物</a:t>
            </a:r>
          </a:p>
        </p:txBody>
      </p:sp>
      <p:cxnSp>
        <p:nvCxnSpPr>
          <p:cNvPr id="34" name="连接符: 肘形 10">
            <a:extLst>
              <a:ext uri="{FF2B5EF4-FFF2-40B4-BE49-F238E27FC236}">
                <a16:creationId xmlns:a16="http://schemas.microsoft.com/office/drawing/2014/main" id="{03D8D45E-E4DB-2102-E11E-8033FF562AA0}"/>
              </a:ext>
            </a:extLst>
          </p:cNvPr>
          <p:cNvCxnSpPr>
            <a:cxnSpLocks/>
            <a:stCxn id="1073" idx="3"/>
            <a:endCxn id="33" idx="1"/>
          </p:cNvCxnSpPr>
          <p:nvPr/>
        </p:nvCxnSpPr>
        <p:spPr>
          <a:xfrm flipV="1">
            <a:off x="8560087" y="4146146"/>
            <a:ext cx="550253" cy="24337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连接符: 肘形 10">
            <a:extLst>
              <a:ext uri="{FF2B5EF4-FFF2-40B4-BE49-F238E27FC236}">
                <a16:creationId xmlns:a16="http://schemas.microsoft.com/office/drawing/2014/main" id="{7F7B6F47-3C11-DDA9-8C5F-3AD1AF9879DB}"/>
              </a:ext>
            </a:extLst>
          </p:cNvPr>
          <p:cNvCxnSpPr>
            <a:cxnSpLocks/>
            <a:stCxn id="1073" idx="3"/>
            <a:endCxn id="30" idx="1"/>
          </p:cNvCxnSpPr>
          <p:nvPr/>
        </p:nvCxnSpPr>
        <p:spPr>
          <a:xfrm>
            <a:off x="8560087" y="4389517"/>
            <a:ext cx="550254" cy="22930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2" name="矩形 1351">
            <a:extLst>
              <a:ext uri="{FF2B5EF4-FFF2-40B4-BE49-F238E27FC236}">
                <a16:creationId xmlns:a16="http://schemas.microsoft.com/office/drawing/2014/main" id="{EECBF3AE-1F06-D3FB-0341-06BD275A2515}"/>
              </a:ext>
            </a:extLst>
          </p:cNvPr>
          <p:cNvSpPr/>
          <p:nvPr/>
        </p:nvSpPr>
        <p:spPr>
          <a:xfrm>
            <a:off x="6652818" y="3827251"/>
            <a:ext cx="252000" cy="112832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畸变校正</a:t>
            </a:r>
          </a:p>
        </p:txBody>
      </p:sp>
      <p:cxnSp>
        <p:nvCxnSpPr>
          <p:cNvPr id="1355" name="连接符: 肘形 10">
            <a:extLst>
              <a:ext uri="{FF2B5EF4-FFF2-40B4-BE49-F238E27FC236}">
                <a16:creationId xmlns:a16="http://schemas.microsoft.com/office/drawing/2014/main" id="{7D4C376E-A375-F26E-2C25-8395D72A1FB3}"/>
              </a:ext>
            </a:extLst>
          </p:cNvPr>
          <p:cNvCxnSpPr>
            <a:cxnSpLocks/>
            <a:stCxn id="1352" idx="3"/>
            <a:endCxn id="152" idx="1"/>
          </p:cNvCxnSpPr>
          <p:nvPr/>
        </p:nvCxnSpPr>
        <p:spPr>
          <a:xfrm>
            <a:off x="6904818" y="4391415"/>
            <a:ext cx="298335" cy="42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矩形: 圆角 65">
            <a:extLst>
              <a:ext uri="{FF2B5EF4-FFF2-40B4-BE49-F238E27FC236}">
                <a16:creationId xmlns:a16="http://schemas.microsoft.com/office/drawing/2014/main" id="{49E455AB-682E-2265-828E-7756D78FD8C3}"/>
              </a:ext>
            </a:extLst>
          </p:cNvPr>
          <p:cNvSpPr/>
          <p:nvPr/>
        </p:nvSpPr>
        <p:spPr>
          <a:xfrm>
            <a:off x="5556084" y="5455818"/>
            <a:ext cx="1065072" cy="240581"/>
          </a:xfrm>
          <a:prstGeom prst="roundRect">
            <a:avLst>
              <a:gd name="adj" fmla="val 50000"/>
            </a:avLst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吊钩轨迹</a:t>
            </a:r>
          </a:p>
        </p:txBody>
      </p:sp>
      <p:sp>
        <p:nvSpPr>
          <p:cNvPr id="67" name="矩形: 圆角 66">
            <a:extLst>
              <a:ext uri="{FF2B5EF4-FFF2-40B4-BE49-F238E27FC236}">
                <a16:creationId xmlns:a16="http://schemas.microsoft.com/office/drawing/2014/main" id="{CBB52618-9B35-BDF5-7E57-C0FF3B2782E3}"/>
              </a:ext>
            </a:extLst>
          </p:cNvPr>
          <p:cNvSpPr/>
          <p:nvPr/>
        </p:nvSpPr>
        <p:spPr>
          <a:xfrm>
            <a:off x="5556084" y="6589803"/>
            <a:ext cx="1035426" cy="252000"/>
          </a:xfrm>
          <a:prstGeom prst="roundRect">
            <a:avLst>
              <a:gd name="adj" fmla="val 50000"/>
            </a:avLst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静态障碍物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198F243C-4F24-996C-A017-8A8490ED15B8}"/>
              </a:ext>
            </a:extLst>
          </p:cNvPr>
          <p:cNvSpPr/>
          <p:nvPr/>
        </p:nvSpPr>
        <p:spPr>
          <a:xfrm>
            <a:off x="8173581" y="6595088"/>
            <a:ext cx="1902624" cy="24337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最小距离计算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EA93EFE6-945A-8255-C092-B336D5D41217}"/>
              </a:ext>
            </a:extLst>
          </p:cNvPr>
          <p:cNvSpPr/>
          <p:nvPr/>
        </p:nvSpPr>
        <p:spPr>
          <a:xfrm>
            <a:off x="6808357" y="6594964"/>
            <a:ext cx="1107307" cy="24337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禁行区域生成</a:t>
            </a: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9C3055AA-EB47-D585-4F61-30F594F74F08}"/>
              </a:ext>
            </a:extLst>
          </p:cNvPr>
          <p:cNvSpPr/>
          <p:nvPr/>
        </p:nvSpPr>
        <p:spPr>
          <a:xfrm>
            <a:off x="10615258" y="5453655"/>
            <a:ext cx="252000" cy="138468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碰撞风险评估</a:t>
            </a:r>
          </a:p>
        </p:txBody>
      </p:sp>
      <p:sp>
        <p:nvSpPr>
          <p:cNvPr id="71" name="矩形: 圆角 70">
            <a:extLst>
              <a:ext uri="{FF2B5EF4-FFF2-40B4-BE49-F238E27FC236}">
                <a16:creationId xmlns:a16="http://schemas.microsoft.com/office/drawing/2014/main" id="{1F6DFB03-AAD2-FA7D-474E-30CCCEF14C4F}"/>
              </a:ext>
            </a:extLst>
          </p:cNvPr>
          <p:cNvSpPr/>
          <p:nvPr/>
        </p:nvSpPr>
        <p:spPr>
          <a:xfrm>
            <a:off x="5556084" y="6016463"/>
            <a:ext cx="1065071" cy="252000"/>
          </a:xfrm>
          <a:prstGeom prst="roundRect">
            <a:avLst>
              <a:gd name="adj" fmla="val 50000"/>
            </a:avLst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动态障碍物</a:t>
            </a:r>
          </a:p>
        </p:txBody>
      </p:sp>
      <p:sp>
        <p:nvSpPr>
          <p:cNvPr id="72" name="矩形: 圆角 71">
            <a:extLst>
              <a:ext uri="{FF2B5EF4-FFF2-40B4-BE49-F238E27FC236}">
                <a16:creationId xmlns:a16="http://schemas.microsoft.com/office/drawing/2014/main" id="{ACA8798F-9053-D061-B066-8B42D12E7103}"/>
              </a:ext>
            </a:extLst>
          </p:cNvPr>
          <p:cNvSpPr/>
          <p:nvPr/>
        </p:nvSpPr>
        <p:spPr>
          <a:xfrm>
            <a:off x="6808357" y="5454422"/>
            <a:ext cx="1107308" cy="243371"/>
          </a:xfrm>
          <a:prstGeom prst="roundRect">
            <a:avLst>
              <a:gd name="adj" fmla="val 0"/>
            </a:avLst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吊物轨迹推算</a:t>
            </a:r>
          </a:p>
        </p:txBody>
      </p:sp>
      <p:sp>
        <p:nvSpPr>
          <p:cNvPr id="73" name="矩形: 圆角 72">
            <a:extLst>
              <a:ext uri="{FF2B5EF4-FFF2-40B4-BE49-F238E27FC236}">
                <a16:creationId xmlns:a16="http://schemas.microsoft.com/office/drawing/2014/main" id="{5E1858B9-C4CF-9870-45BB-AB10F784892E}"/>
              </a:ext>
            </a:extLst>
          </p:cNvPr>
          <p:cNvSpPr/>
          <p:nvPr/>
        </p:nvSpPr>
        <p:spPr>
          <a:xfrm>
            <a:off x="8176565" y="5455816"/>
            <a:ext cx="252000" cy="940128"/>
          </a:xfrm>
          <a:prstGeom prst="roundRect">
            <a:avLst>
              <a:gd name="adj" fmla="val 27170"/>
            </a:avLst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状态向量</a:t>
            </a:r>
          </a:p>
        </p:txBody>
      </p:sp>
      <p:cxnSp>
        <p:nvCxnSpPr>
          <p:cNvPr id="74" name="连接符: 肘形 10">
            <a:extLst>
              <a:ext uri="{FF2B5EF4-FFF2-40B4-BE49-F238E27FC236}">
                <a16:creationId xmlns:a16="http://schemas.microsoft.com/office/drawing/2014/main" id="{ADBD935D-A994-4DA3-E533-C322FAB7EA38}"/>
              </a:ext>
            </a:extLst>
          </p:cNvPr>
          <p:cNvCxnSpPr>
            <a:cxnSpLocks/>
            <a:stCxn id="66" idx="3"/>
            <a:endCxn id="72" idx="1"/>
          </p:cNvCxnSpPr>
          <p:nvPr/>
        </p:nvCxnSpPr>
        <p:spPr>
          <a:xfrm flipV="1">
            <a:off x="6621156" y="5576108"/>
            <a:ext cx="187201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连接符: 肘形 10">
            <a:extLst>
              <a:ext uri="{FF2B5EF4-FFF2-40B4-BE49-F238E27FC236}">
                <a16:creationId xmlns:a16="http://schemas.microsoft.com/office/drawing/2014/main" id="{6AD5C18F-B0BF-CB27-9D09-2443284F4D9E}"/>
              </a:ext>
            </a:extLst>
          </p:cNvPr>
          <p:cNvCxnSpPr>
            <a:cxnSpLocks/>
            <a:stCxn id="72" idx="3"/>
            <a:endCxn id="73" idx="1"/>
          </p:cNvCxnSpPr>
          <p:nvPr/>
        </p:nvCxnSpPr>
        <p:spPr>
          <a:xfrm>
            <a:off x="7915665" y="5576108"/>
            <a:ext cx="260900" cy="34977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连接符: 肘形 10">
            <a:extLst>
              <a:ext uri="{FF2B5EF4-FFF2-40B4-BE49-F238E27FC236}">
                <a16:creationId xmlns:a16="http://schemas.microsoft.com/office/drawing/2014/main" id="{040E4E02-65FC-E2EE-4EF1-4BB94C457BB0}"/>
              </a:ext>
            </a:extLst>
          </p:cNvPr>
          <p:cNvCxnSpPr>
            <a:cxnSpLocks/>
            <a:stCxn id="67" idx="3"/>
            <a:endCxn id="69" idx="1"/>
          </p:cNvCxnSpPr>
          <p:nvPr/>
        </p:nvCxnSpPr>
        <p:spPr>
          <a:xfrm>
            <a:off x="6591510" y="6715803"/>
            <a:ext cx="216847" cy="8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矩形 76">
            <a:extLst>
              <a:ext uri="{FF2B5EF4-FFF2-40B4-BE49-F238E27FC236}">
                <a16:creationId xmlns:a16="http://schemas.microsoft.com/office/drawing/2014/main" id="{BC9AACE3-82C3-7E8F-0321-83C7A6CEC2BA}"/>
              </a:ext>
            </a:extLst>
          </p:cNvPr>
          <p:cNvSpPr/>
          <p:nvPr/>
        </p:nvSpPr>
        <p:spPr>
          <a:xfrm>
            <a:off x="6808358" y="6019954"/>
            <a:ext cx="1107307" cy="24337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物体轨迹跟踪</a:t>
            </a:r>
          </a:p>
        </p:txBody>
      </p:sp>
      <p:cxnSp>
        <p:nvCxnSpPr>
          <p:cNvPr id="78" name="连接符: 肘形 10">
            <a:extLst>
              <a:ext uri="{FF2B5EF4-FFF2-40B4-BE49-F238E27FC236}">
                <a16:creationId xmlns:a16="http://schemas.microsoft.com/office/drawing/2014/main" id="{4940044B-423E-A4DD-8E6F-E045EF7A2164}"/>
              </a:ext>
            </a:extLst>
          </p:cNvPr>
          <p:cNvCxnSpPr>
            <a:cxnSpLocks/>
            <a:stCxn id="71" idx="3"/>
            <a:endCxn id="77" idx="1"/>
          </p:cNvCxnSpPr>
          <p:nvPr/>
        </p:nvCxnSpPr>
        <p:spPr>
          <a:xfrm flipV="1">
            <a:off x="6621155" y="6141640"/>
            <a:ext cx="187203" cy="8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连接符: 肘形 10">
            <a:extLst>
              <a:ext uri="{FF2B5EF4-FFF2-40B4-BE49-F238E27FC236}">
                <a16:creationId xmlns:a16="http://schemas.microsoft.com/office/drawing/2014/main" id="{4407B2EB-66DE-52FB-DFD8-1CE685CDB3E9}"/>
              </a:ext>
            </a:extLst>
          </p:cNvPr>
          <p:cNvCxnSpPr>
            <a:cxnSpLocks/>
            <a:stCxn id="77" idx="3"/>
            <a:endCxn id="73" idx="1"/>
          </p:cNvCxnSpPr>
          <p:nvPr/>
        </p:nvCxnSpPr>
        <p:spPr>
          <a:xfrm flipV="1">
            <a:off x="7915665" y="5925880"/>
            <a:ext cx="260900" cy="21576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矩形 80">
            <a:extLst>
              <a:ext uri="{FF2B5EF4-FFF2-40B4-BE49-F238E27FC236}">
                <a16:creationId xmlns:a16="http://schemas.microsoft.com/office/drawing/2014/main" id="{AE0EC00C-09DE-B012-2653-C9D514AAEF05}"/>
              </a:ext>
            </a:extLst>
          </p:cNvPr>
          <p:cNvSpPr/>
          <p:nvPr/>
        </p:nvSpPr>
        <p:spPr>
          <a:xfrm>
            <a:off x="9250320" y="5455815"/>
            <a:ext cx="252000" cy="942286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轨迹预测</a:t>
            </a:r>
          </a:p>
        </p:txBody>
      </p:sp>
      <p:cxnSp>
        <p:nvCxnSpPr>
          <p:cNvPr id="83" name="连接符: 肘形 10">
            <a:extLst>
              <a:ext uri="{FF2B5EF4-FFF2-40B4-BE49-F238E27FC236}">
                <a16:creationId xmlns:a16="http://schemas.microsoft.com/office/drawing/2014/main" id="{4A20F973-5C24-F7F4-1196-1BFD760CDC1C}"/>
              </a:ext>
            </a:extLst>
          </p:cNvPr>
          <p:cNvCxnSpPr>
            <a:cxnSpLocks/>
            <a:stCxn id="73" idx="3"/>
            <a:endCxn id="88" idx="1"/>
          </p:cNvCxnSpPr>
          <p:nvPr/>
        </p:nvCxnSpPr>
        <p:spPr>
          <a:xfrm>
            <a:off x="8428565" y="5925880"/>
            <a:ext cx="286509" cy="107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连接符: 肘形 10">
            <a:extLst>
              <a:ext uri="{FF2B5EF4-FFF2-40B4-BE49-F238E27FC236}">
                <a16:creationId xmlns:a16="http://schemas.microsoft.com/office/drawing/2014/main" id="{E0334E92-E537-4B9E-33C9-C679D3862E75}"/>
              </a:ext>
            </a:extLst>
          </p:cNvPr>
          <p:cNvCxnSpPr>
            <a:cxnSpLocks/>
            <a:stCxn id="69" idx="3"/>
            <a:endCxn id="68" idx="1"/>
          </p:cNvCxnSpPr>
          <p:nvPr/>
        </p:nvCxnSpPr>
        <p:spPr>
          <a:xfrm>
            <a:off x="7915664" y="6716650"/>
            <a:ext cx="257917" cy="1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连接符: 肘形 10">
            <a:extLst>
              <a:ext uri="{FF2B5EF4-FFF2-40B4-BE49-F238E27FC236}">
                <a16:creationId xmlns:a16="http://schemas.microsoft.com/office/drawing/2014/main" id="{93A83038-1A9F-B375-1260-A49DB37EA734}"/>
              </a:ext>
            </a:extLst>
          </p:cNvPr>
          <p:cNvCxnSpPr>
            <a:cxnSpLocks/>
            <a:stCxn id="73" idx="2"/>
            <a:endCxn id="68" idx="0"/>
          </p:cNvCxnSpPr>
          <p:nvPr/>
        </p:nvCxnSpPr>
        <p:spPr>
          <a:xfrm rot="16200000" flipH="1">
            <a:off x="8614157" y="6084352"/>
            <a:ext cx="199144" cy="82232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连接符: 肘形 10">
            <a:extLst>
              <a:ext uri="{FF2B5EF4-FFF2-40B4-BE49-F238E27FC236}">
                <a16:creationId xmlns:a16="http://schemas.microsoft.com/office/drawing/2014/main" id="{8E3510E9-8241-30BD-888F-8277FE119319}"/>
              </a:ext>
            </a:extLst>
          </p:cNvPr>
          <p:cNvCxnSpPr>
            <a:cxnSpLocks/>
            <a:stCxn id="68" idx="3"/>
            <a:endCxn id="70" idx="1"/>
          </p:cNvCxnSpPr>
          <p:nvPr/>
        </p:nvCxnSpPr>
        <p:spPr>
          <a:xfrm flipV="1">
            <a:off x="10076205" y="6145995"/>
            <a:ext cx="539053" cy="570779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矩形 87">
            <a:extLst>
              <a:ext uri="{FF2B5EF4-FFF2-40B4-BE49-F238E27FC236}">
                <a16:creationId xmlns:a16="http://schemas.microsoft.com/office/drawing/2014/main" id="{38D758E0-BDEE-26F7-3773-110865CD172E}"/>
              </a:ext>
            </a:extLst>
          </p:cNvPr>
          <p:cNvSpPr/>
          <p:nvPr/>
        </p:nvSpPr>
        <p:spPr>
          <a:xfrm>
            <a:off x="8715074" y="5455815"/>
            <a:ext cx="252000" cy="942285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卡尔曼滤波</a:t>
            </a:r>
          </a:p>
        </p:txBody>
      </p:sp>
      <p:cxnSp>
        <p:nvCxnSpPr>
          <p:cNvPr id="89" name="连接符: 肘形 10">
            <a:extLst>
              <a:ext uri="{FF2B5EF4-FFF2-40B4-BE49-F238E27FC236}">
                <a16:creationId xmlns:a16="http://schemas.microsoft.com/office/drawing/2014/main" id="{53B64837-7EDC-BCF9-ED28-C21A7DAA61EB}"/>
              </a:ext>
            </a:extLst>
          </p:cNvPr>
          <p:cNvCxnSpPr>
            <a:cxnSpLocks/>
            <a:stCxn id="81" idx="3"/>
            <a:endCxn id="90" idx="1"/>
          </p:cNvCxnSpPr>
          <p:nvPr/>
        </p:nvCxnSpPr>
        <p:spPr>
          <a:xfrm flipV="1">
            <a:off x="9502320" y="5924798"/>
            <a:ext cx="321885" cy="21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矩形: 圆角 89">
            <a:extLst>
              <a:ext uri="{FF2B5EF4-FFF2-40B4-BE49-F238E27FC236}">
                <a16:creationId xmlns:a16="http://schemas.microsoft.com/office/drawing/2014/main" id="{A316C599-BB9A-D13C-35B5-05F22D94B361}"/>
              </a:ext>
            </a:extLst>
          </p:cNvPr>
          <p:cNvSpPr/>
          <p:nvPr/>
        </p:nvSpPr>
        <p:spPr>
          <a:xfrm>
            <a:off x="9824205" y="5453655"/>
            <a:ext cx="252000" cy="942286"/>
          </a:xfrm>
          <a:prstGeom prst="roundRect">
            <a:avLst>
              <a:gd name="adj" fmla="val 23387"/>
            </a:avLst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运动趋势</a:t>
            </a:r>
          </a:p>
        </p:txBody>
      </p:sp>
      <p:cxnSp>
        <p:nvCxnSpPr>
          <p:cNvPr id="92" name="连接符: 肘形 10">
            <a:extLst>
              <a:ext uri="{FF2B5EF4-FFF2-40B4-BE49-F238E27FC236}">
                <a16:creationId xmlns:a16="http://schemas.microsoft.com/office/drawing/2014/main" id="{D77412AD-610D-174F-49DC-C5E627EEE3E3}"/>
              </a:ext>
            </a:extLst>
          </p:cNvPr>
          <p:cNvCxnSpPr>
            <a:cxnSpLocks/>
            <a:stCxn id="88" idx="3"/>
            <a:endCxn id="81" idx="1"/>
          </p:cNvCxnSpPr>
          <p:nvPr/>
        </p:nvCxnSpPr>
        <p:spPr>
          <a:xfrm>
            <a:off x="8967074" y="5926958"/>
            <a:ext cx="2832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连接符: 肘形 10">
            <a:extLst>
              <a:ext uri="{FF2B5EF4-FFF2-40B4-BE49-F238E27FC236}">
                <a16:creationId xmlns:a16="http://schemas.microsoft.com/office/drawing/2014/main" id="{E4C71589-8591-7FA2-8ADE-8CFCD59DF149}"/>
              </a:ext>
            </a:extLst>
          </p:cNvPr>
          <p:cNvCxnSpPr>
            <a:cxnSpLocks/>
            <a:stCxn id="90" idx="3"/>
            <a:endCxn id="70" idx="1"/>
          </p:cNvCxnSpPr>
          <p:nvPr/>
        </p:nvCxnSpPr>
        <p:spPr>
          <a:xfrm>
            <a:off x="10076205" y="5924798"/>
            <a:ext cx="539053" cy="22119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5790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6F9918C8-5F28-23E1-2460-7ED5202F88AB}"/>
              </a:ext>
            </a:extLst>
          </p:cNvPr>
          <p:cNvCxnSpPr>
            <a:cxnSpLocks/>
          </p:cNvCxnSpPr>
          <p:nvPr/>
        </p:nvCxnSpPr>
        <p:spPr>
          <a:xfrm>
            <a:off x="1754360" y="1586411"/>
            <a:ext cx="11529840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矩形 6">
            <a:extLst>
              <a:ext uri="{FF2B5EF4-FFF2-40B4-BE49-F238E27FC236}">
                <a16:creationId xmlns:a16="http://schemas.microsoft.com/office/drawing/2014/main" id="{7C508007-A2D8-CD96-10D3-4962C132A9F7}"/>
              </a:ext>
            </a:extLst>
          </p:cNvPr>
          <p:cNvSpPr/>
          <p:nvPr/>
        </p:nvSpPr>
        <p:spPr>
          <a:xfrm>
            <a:off x="2730942" y="1200633"/>
            <a:ext cx="1215109" cy="325257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研究目标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B9F648D-A4E9-5748-5664-C09E052FC892}"/>
              </a:ext>
            </a:extLst>
          </p:cNvPr>
          <p:cNvSpPr/>
          <p:nvPr/>
        </p:nvSpPr>
        <p:spPr>
          <a:xfrm>
            <a:off x="11401209" y="1200631"/>
            <a:ext cx="1215109" cy="325257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关键技术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F7B18B6-6FEE-55DE-78D4-7C7D32345B0C}"/>
              </a:ext>
            </a:extLst>
          </p:cNvPr>
          <p:cNvSpPr/>
          <p:nvPr/>
        </p:nvSpPr>
        <p:spPr>
          <a:xfrm>
            <a:off x="7369853" y="1200631"/>
            <a:ext cx="1215109" cy="325257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研究内容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4EAB50EF-390C-D63B-609E-ED05DD8CE10D}"/>
              </a:ext>
            </a:extLst>
          </p:cNvPr>
          <p:cNvSpPr/>
          <p:nvPr/>
        </p:nvSpPr>
        <p:spPr>
          <a:xfrm>
            <a:off x="1843186" y="2231760"/>
            <a:ext cx="3075291" cy="594060"/>
          </a:xfrm>
          <a:prstGeom prst="round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研究一：</a:t>
            </a:r>
            <a:endParaRPr lang="en-US" altLang="zh-CN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基于多传感器融合的吊装轨迹生成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AB443273-E7B6-7884-4E4B-EF1BE4A2469A}"/>
              </a:ext>
            </a:extLst>
          </p:cNvPr>
          <p:cNvSpPr/>
          <p:nvPr/>
        </p:nvSpPr>
        <p:spPr>
          <a:xfrm>
            <a:off x="1843186" y="3981571"/>
            <a:ext cx="3075291" cy="594060"/>
          </a:xfrm>
          <a:prstGeom prst="roundRect">
            <a:avLst/>
          </a:prstGeom>
          <a:noFill/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研究二：</a:t>
            </a:r>
            <a:endParaRPr lang="en-US" altLang="zh-CN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基于三维点云的吊装构件避障方法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567450C4-4919-47B6-63F2-184A3517692E}"/>
              </a:ext>
            </a:extLst>
          </p:cNvPr>
          <p:cNvSpPr/>
          <p:nvPr/>
        </p:nvSpPr>
        <p:spPr>
          <a:xfrm>
            <a:off x="1843184" y="5807152"/>
            <a:ext cx="3075292" cy="594059"/>
          </a:xfrm>
          <a:prstGeom prst="roundRect">
            <a:avLst/>
          </a:prstGeom>
          <a:noFill/>
          <a:ln w="1270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研究三：</a:t>
            </a:r>
            <a:endParaRPr lang="en-US" altLang="zh-CN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基于视觉识别的吊装构件定位跟踪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96AD3FA-5C2A-3214-0918-7215B19E898F}"/>
              </a:ext>
            </a:extLst>
          </p:cNvPr>
          <p:cNvSpPr/>
          <p:nvPr/>
        </p:nvSpPr>
        <p:spPr>
          <a:xfrm>
            <a:off x="6487571" y="1995330"/>
            <a:ext cx="1001927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特征点提取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153A28E-BFE8-E7F1-3A5E-817E981D3C74}"/>
              </a:ext>
            </a:extLst>
          </p:cNvPr>
          <p:cNvSpPr/>
          <p:nvPr/>
        </p:nvSpPr>
        <p:spPr>
          <a:xfrm>
            <a:off x="6487569" y="2462244"/>
            <a:ext cx="1001928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预积分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AB2675A-FDAD-AAD9-2BC9-7AA448443A36}"/>
              </a:ext>
            </a:extLst>
          </p:cNvPr>
          <p:cNvSpPr/>
          <p:nvPr/>
        </p:nvSpPr>
        <p:spPr>
          <a:xfrm>
            <a:off x="6487569" y="2940106"/>
            <a:ext cx="1001928" cy="25200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噪声过滤</a:t>
            </a:r>
          </a:p>
        </p:txBody>
      </p:sp>
      <p:cxnSp>
        <p:nvCxnSpPr>
          <p:cNvPr id="23" name="连接符: 肘形 10">
            <a:extLst>
              <a:ext uri="{FF2B5EF4-FFF2-40B4-BE49-F238E27FC236}">
                <a16:creationId xmlns:a16="http://schemas.microsoft.com/office/drawing/2014/main" id="{56D1E54C-CE24-B517-F0C3-F1147E66D5E9}"/>
              </a:ext>
            </a:extLst>
          </p:cNvPr>
          <p:cNvCxnSpPr>
            <a:cxnSpLocks/>
            <a:stCxn id="20" idx="3"/>
            <a:endCxn id="50" idx="1"/>
          </p:cNvCxnSpPr>
          <p:nvPr/>
        </p:nvCxnSpPr>
        <p:spPr>
          <a:xfrm>
            <a:off x="7489498" y="2121330"/>
            <a:ext cx="481982" cy="231854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连接符: 肘形 10">
            <a:extLst>
              <a:ext uri="{FF2B5EF4-FFF2-40B4-BE49-F238E27FC236}">
                <a16:creationId xmlns:a16="http://schemas.microsoft.com/office/drawing/2014/main" id="{846A67A3-2B8A-8D60-A42D-4E9FEEE54F46}"/>
              </a:ext>
            </a:extLst>
          </p:cNvPr>
          <p:cNvCxnSpPr>
            <a:cxnSpLocks/>
            <a:stCxn id="21" idx="3"/>
            <a:endCxn id="50" idx="1"/>
          </p:cNvCxnSpPr>
          <p:nvPr/>
        </p:nvCxnSpPr>
        <p:spPr>
          <a:xfrm flipV="1">
            <a:off x="7489497" y="2353184"/>
            <a:ext cx="481983" cy="235060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连接符: 肘形 10">
            <a:extLst>
              <a:ext uri="{FF2B5EF4-FFF2-40B4-BE49-F238E27FC236}">
                <a16:creationId xmlns:a16="http://schemas.microsoft.com/office/drawing/2014/main" id="{705F97B9-9EA7-26A7-2284-C33691E2C6DD}"/>
              </a:ext>
            </a:extLst>
          </p:cNvPr>
          <p:cNvCxnSpPr>
            <a:cxnSpLocks/>
            <a:stCxn id="22" idx="3"/>
            <a:endCxn id="49" idx="1"/>
          </p:cNvCxnSpPr>
          <p:nvPr/>
        </p:nvCxnSpPr>
        <p:spPr>
          <a:xfrm flipV="1">
            <a:off x="7489497" y="2828880"/>
            <a:ext cx="481983" cy="237226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46D46E5F-826A-6395-C0A6-3EA9AAD07C55}"/>
              </a:ext>
            </a:extLst>
          </p:cNvPr>
          <p:cNvSpPr/>
          <p:nvPr/>
        </p:nvSpPr>
        <p:spPr>
          <a:xfrm>
            <a:off x="7971480" y="2702880"/>
            <a:ext cx="1156190" cy="252000"/>
          </a:xfrm>
          <a:prstGeom prst="round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全局坐标位姿</a:t>
            </a:r>
          </a:p>
        </p:txBody>
      </p:sp>
      <p:sp>
        <p:nvSpPr>
          <p:cNvPr id="50" name="矩形: 圆角 49">
            <a:extLst>
              <a:ext uri="{FF2B5EF4-FFF2-40B4-BE49-F238E27FC236}">
                <a16:creationId xmlns:a16="http://schemas.microsoft.com/office/drawing/2014/main" id="{11B940C4-DD2D-B0EA-C494-7A0957597B46}"/>
              </a:ext>
            </a:extLst>
          </p:cNvPr>
          <p:cNvSpPr/>
          <p:nvPr/>
        </p:nvSpPr>
        <p:spPr>
          <a:xfrm>
            <a:off x="7971480" y="2227184"/>
            <a:ext cx="1156190" cy="252000"/>
          </a:xfrm>
          <a:prstGeom prst="round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局部坐标位姿</a:t>
            </a:r>
          </a:p>
        </p:txBody>
      </p:sp>
      <p:cxnSp>
        <p:nvCxnSpPr>
          <p:cNvPr id="51" name="连接符: 肘形 10">
            <a:extLst>
              <a:ext uri="{FF2B5EF4-FFF2-40B4-BE49-F238E27FC236}">
                <a16:creationId xmlns:a16="http://schemas.microsoft.com/office/drawing/2014/main" id="{22726E26-A759-770B-92FB-153F92782CE8}"/>
              </a:ext>
            </a:extLst>
          </p:cNvPr>
          <p:cNvCxnSpPr>
            <a:cxnSpLocks/>
            <a:stCxn id="50" idx="3"/>
            <a:endCxn id="53" idx="1"/>
          </p:cNvCxnSpPr>
          <p:nvPr/>
        </p:nvCxnSpPr>
        <p:spPr>
          <a:xfrm>
            <a:off x="9127670" y="2353184"/>
            <a:ext cx="534548" cy="235060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连接符: 肘形 10">
            <a:extLst>
              <a:ext uri="{FF2B5EF4-FFF2-40B4-BE49-F238E27FC236}">
                <a16:creationId xmlns:a16="http://schemas.microsoft.com/office/drawing/2014/main" id="{8CCD6C2E-DFFC-DA26-B660-7AC038DF178A}"/>
              </a:ext>
            </a:extLst>
          </p:cNvPr>
          <p:cNvCxnSpPr>
            <a:cxnSpLocks/>
            <a:stCxn id="49" idx="3"/>
            <a:endCxn id="53" idx="1"/>
          </p:cNvCxnSpPr>
          <p:nvPr/>
        </p:nvCxnSpPr>
        <p:spPr>
          <a:xfrm flipV="1">
            <a:off x="9127670" y="2588244"/>
            <a:ext cx="534548" cy="24063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 52">
            <a:extLst>
              <a:ext uri="{FF2B5EF4-FFF2-40B4-BE49-F238E27FC236}">
                <a16:creationId xmlns:a16="http://schemas.microsoft.com/office/drawing/2014/main" id="{FC9BE30D-1FE9-8F27-6EA8-DFB7873A19A4}"/>
              </a:ext>
            </a:extLst>
          </p:cNvPr>
          <p:cNvSpPr/>
          <p:nvPr/>
        </p:nvSpPr>
        <p:spPr>
          <a:xfrm>
            <a:off x="9662218" y="1984382"/>
            <a:ext cx="252000" cy="1207724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滑动窗口优化</a:t>
            </a:r>
          </a:p>
        </p:txBody>
      </p:sp>
      <p:sp>
        <p:nvSpPr>
          <p:cNvPr id="60" name="矩形: 圆角 59">
            <a:extLst>
              <a:ext uri="{FF2B5EF4-FFF2-40B4-BE49-F238E27FC236}">
                <a16:creationId xmlns:a16="http://schemas.microsoft.com/office/drawing/2014/main" id="{396AD3FA-5C2A-3214-0918-7215B19E898F}"/>
              </a:ext>
            </a:extLst>
          </p:cNvPr>
          <p:cNvSpPr/>
          <p:nvPr/>
        </p:nvSpPr>
        <p:spPr>
          <a:xfrm>
            <a:off x="5367436" y="1995330"/>
            <a:ext cx="666345" cy="252000"/>
          </a:xfrm>
          <a:prstGeom prst="round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图像</a:t>
            </a:r>
          </a:p>
        </p:txBody>
      </p:sp>
      <p:sp>
        <p:nvSpPr>
          <p:cNvPr id="61" name="矩形: 圆角 60">
            <a:extLst>
              <a:ext uri="{FF2B5EF4-FFF2-40B4-BE49-F238E27FC236}">
                <a16:creationId xmlns:a16="http://schemas.microsoft.com/office/drawing/2014/main" id="{4153A28E-BFE8-E7F1-3A5E-817E981D3C74}"/>
              </a:ext>
            </a:extLst>
          </p:cNvPr>
          <p:cNvSpPr/>
          <p:nvPr/>
        </p:nvSpPr>
        <p:spPr>
          <a:xfrm>
            <a:off x="5364890" y="2462244"/>
            <a:ext cx="666345" cy="252000"/>
          </a:xfrm>
          <a:prstGeom prst="round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IMU</a:t>
            </a:r>
            <a:endParaRPr lang="zh-CN" altLang="en-US" sz="12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62" name="矩形: 圆角 61">
            <a:extLst>
              <a:ext uri="{FF2B5EF4-FFF2-40B4-BE49-F238E27FC236}">
                <a16:creationId xmlns:a16="http://schemas.microsoft.com/office/drawing/2014/main" id="{BAB2675A-FDAD-AAD9-2BC9-7AA448443A36}"/>
              </a:ext>
            </a:extLst>
          </p:cNvPr>
          <p:cNvSpPr/>
          <p:nvPr/>
        </p:nvSpPr>
        <p:spPr>
          <a:xfrm>
            <a:off x="5370983" y="2939399"/>
            <a:ext cx="666345" cy="252000"/>
          </a:xfrm>
          <a:prstGeom prst="round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GNSS</a:t>
            </a:r>
            <a:endParaRPr lang="zh-CN" altLang="en-US" sz="12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79" name="连接符: 肘形 10">
            <a:extLst>
              <a:ext uri="{FF2B5EF4-FFF2-40B4-BE49-F238E27FC236}">
                <a16:creationId xmlns:a16="http://schemas.microsoft.com/office/drawing/2014/main" id="{1BAD8235-148E-4004-EAAC-4E7ABF231521}"/>
              </a:ext>
            </a:extLst>
          </p:cNvPr>
          <p:cNvCxnSpPr>
            <a:cxnSpLocks/>
            <a:stCxn id="60" idx="3"/>
            <a:endCxn id="20" idx="1"/>
          </p:cNvCxnSpPr>
          <p:nvPr/>
        </p:nvCxnSpPr>
        <p:spPr>
          <a:xfrm>
            <a:off x="6033781" y="2121330"/>
            <a:ext cx="45379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连接符: 肘形 10">
            <a:extLst>
              <a:ext uri="{FF2B5EF4-FFF2-40B4-BE49-F238E27FC236}">
                <a16:creationId xmlns:a16="http://schemas.microsoft.com/office/drawing/2014/main" id="{D4997293-8C24-5B73-D1C4-58EF18338BDB}"/>
              </a:ext>
            </a:extLst>
          </p:cNvPr>
          <p:cNvCxnSpPr>
            <a:cxnSpLocks/>
            <a:stCxn id="61" idx="3"/>
            <a:endCxn id="21" idx="1"/>
          </p:cNvCxnSpPr>
          <p:nvPr/>
        </p:nvCxnSpPr>
        <p:spPr>
          <a:xfrm>
            <a:off x="6031235" y="2588244"/>
            <a:ext cx="45633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肘形 10">
            <a:extLst>
              <a:ext uri="{FF2B5EF4-FFF2-40B4-BE49-F238E27FC236}">
                <a16:creationId xmlns:a16="http://schemas.microsoft.com/office/drawing/2014/main" id="{9465AE17-1F76-2A61-4A0E-9A3E016AC8DC}"/>
              </a:ext>
            </a:extLst>
          </p:cNvPr>
          <p:cNvCxnSpPr>
            <a:cxnSpLocks/>
            <a:stCxn id="62" idx="3"/>
            <a:endCxn id="22" idx="1"/>
          </p:cNvCxnSpPr>
          <p:nvPr/>
        </p:nvCxnSpPr>
        <p:spPr>
          <a:xfrm>
            <a:off x="6037328" y="3065399"/>
            <a:ext cx="450241" cy="7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矩形 113">
            <a:extLst>
              <a:ext uri="{FF2B5EF4-FFF2-40B4-BE49-F238E27FC236}">
                <a16:creationId xmlns:a16="http://schemas.microsoft.com/office/drawing/2014/main" id="{2C73983E-E5ED-2583-70E5-03558F366612}"/>
              </a:ext>
            </a:extLst>
          </p:cNvPr>
          <p:cNvSpPr/>
          <p:nvPr/>
        </p:nvSpPr>
        <p:spPr>
          <a:xfrm>
            <a:off x="10249872" y="1984382"/>
            <a:ext cx="252000" cy="1207724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融合轨迹估计</a:t>
            </a:r>
          </a:p>
        </p:txBody>
      </p:sp>
      <p:cxnSp>
        <p:nvCxnSpPr>
          <p:cNvPr id="115" name="连接符: 肘形 10">
            <a:extLst>
              <a:ext uri="{FF2B5EF4-FFF2-40B4-BE49-F238E27FC236}">
                <a16:creationId xmlns:a16="http://schemas.microsoft.com/office/drawing/2014/main" id="{6A9D2DC6-E5A2-BD35-D801-961F8FE3CB62}"/>
              </a:ext>
            </a:extLst>
          </p:cNvPr>
          <p:cNvCxnSpPr>
            <a:cxnSpLocks/>
            <a:stCxn id="53" idx="3"/>
            <a:endCxn id="114" idx="1"/>
          </p:cNvCxnSpPr>
          <p:nvPr/>
        </p:nvCxnSpPr>
        <p:spPr>
          <a:xfrm>
            <a:off x="9914218" y="2588244"/>
            <a:ext cx="33565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矩形 119">
            <a:extLst>
              <a:ext uri="{FF2B5EF4-FFF2-40B4-BE49-F238E27FC236}">
                <a16:creationId xmlns:a16="http://schemas.microsoft.com/office/drawing/2014/main" id="{6976F1CC-8065-506F-A9D9-26871E635FEF}"/>
              </a:ext>
            </a:extLst>
          </p:cNvPr>
          <p:cNvSpPr/>
          <p:nvPr/>
        </p:nvSpPr>
        <p:spPr>
          <a:xfrm>
            <a:off x="5879040" y="3781116"/>
            <a:ext cx="252000" cy="112832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联合标定</a:t>
            </a:r>
          </a:p>
        </p:txBody>
      </p:sp>
      <p:sp>
        <p:nvSpPr>
          <p:cNvPr id="152" name="矩形 151">
            <a:extLst>
              <a:ext uri="{FF2B5EF4-FFF2-40B4-BE49-F238E27FC236}">
                <a16:creationId xmlns:a16="http://schemas.microsoft.com/office/drawing/2014/main" id="{627995FB-16B7-74FA-E52B-C2B77257A9BE}"/>
              </a:ext>
            </a:extLst>
          </p:cNvPr>
          <p:cNvSpPr/>
          <p:nvPr/>
        </p:nvSpPr>
        <p:spPr>
          <a:xfrm>
            <a:off x="6391155" y="3781116"/>
            <a:ext cx="252000" cy="112832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点云拼接</a:t>
            </a:r>
          </a:p>
        </p:txBody>
      </p:sp>
      <p:cxnSp>
        <p:nvCxnSpPr>
          <p:cNvPr id="153" name="连接符: 肘形 10">
            <a:extLst>
              <a:ext uri="{FF2B5EF4-FFF2-40B4-BE49-F238E27FC236}">
                <a16:creationId xmlns:a16="http://schemas.microsoft.com/office/drawing/2014/main" id="{504657B6-46D2-681F-B011-F01883FCC4C0}"/>
              </a:ext>
            </a:extLst>
          </p:cNvPr>
          <p:cNvCxnSpPr>
            <a:cxnSpLocks/>
            <a:stCxn id="120" idx="3"/>
            <a:endCxn id="152" idx="1"/>
          </p:cNvCxnSpPr>
          <p:nvPr/>
        </p:nvCxnSpPr>
        <p:spPr>
          <a:xfrm>
            <a:off x="6131040" y="4345280"/>
            <a:ext cx="26011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连接符: 肘形 10">
            <a:extLst>
              <a:ext uri="{FF2B5EF4-FFF2-40B4-BE49-F238E27FC236}">
                <a16:creationId xmlns:a16="http://schemas.microsoft.com/office/drawing/2014/main" id="{2AE39040-8F8F-C3B2-E650-BFDDB2D705BD}"/>
              </a:ext>
            </a:extLst>
          </p:cNvPr>
          <p:cNvCxnSpPr>
            <a:cxnSpLocks/>
            <a:stCxn id="152" idx="3"/>
            <a:endCxn id="176" idx="1"/>
          </p:cNvCxnSpPr>
          <p:nvPr/>
        </p:nvCxnSpPr>
        <p:spPr>
          <a:xfrm>
            <a:off x="6643155" y="4345280"/>
            <a:ext cx="26011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矩形: 圆角 164">
            <a:extLst>
              <a:ext uri="{FF2B5EF4-FFF2-40B4-BE49-F238E27FC236}">
                <a16:creationId xmlns:a16="http://schemas.microsoft.com/office/drawing/2014/main" id="{016950B9-A504-957B-FADF-FE1EECD60C44}"/>
              </a:ext>
            </a:extLst>
          </p:cNvPr>
          <p:cNvSpPr/>
          <p:nvPr/>
        </p:nvSpPr>
        <p:spPr>
          <a:xfrm>
            <a:off x="5372304" y="3783404"/>
            <a:ext cx="252000" cy="1125612"/>
          </a:xfrm>
          <a:prstGeom prst="round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激光设备</a:t>
            </a:r>
          </a:p>
        </p:txBody>
      </p:sp>
      <p:cxnSp>
        <p:nvCxnSpPr>
          <p:cNvPr id="166" name="连接符: 肘形 10">
            <a:extLst>
              <a:ext uri="{FF2B5EF4-FFF2-40B4-BE49-F238E27FC236}">
                <a16:creationId xmlns:a16="http://schemas.microsoft.com/office/drawing/2014/main" id="{40CD59B1-EB04-C3AE-3CEF-4037A65308A0}"/>
              </a:ext>
            </a:extLst>
          </p:cNvPr>
          <p:cNvCxnSpPr>
            <a:cxnSpLocks/>
            <a:stCxn id="165" idx="3"/>
            <a:endCxn id="120" idx="1"/>
          </p:cNvCxnSpPr>
          <p:nvPr/>
        </p:nvCxnSpPr>
        <p:spPr>
          <a:xfrm flipV="1">
            <a:off x="5624304" y="4345280"/>
            <a:ext cx="254736" cy="9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矩形: 圆角 175">
            <a:extLst>
              <a:ext uri="{FF2B5EF4-FFF2-40B4-BE49-F238E27FC236}">
                <a16:creationId xmlns:a16="http://schemas.microsoft.com/office/drawing/2014/main" id="{B7C0DED6-BDA9-C296-64C3-EE9FE6245EFE}"/>
              </a:ext>
            </a:extLst>
          </p:cNvPr>
          <p:cNvSpPr/>
          <p:nvPr/>
        </p:nvSpPr>
        <p:spPr>
          <a:xfrm>
            <a:off x="6903270" y="3781116"/>
            <a:ext cx="252000" cy="1128328"/>
          </a:xfrm>
          <a:prstGeom prst="round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完整点云</a:t>
            </a:r>
          </a:p>
        </p:txBody>
      </p:sp>
      <p:sp>
        <p:nvSpPr>
          <p:cNvPr id="188" name="矩形 187">
            <a:extLst>
              <a:ext uri="{FF2B5EF4-FFF2-40B4-BE49-F238E27FC236}">
                <a16:creationId xmlns:a16="http://schemas.microsoft.com/office/drawing/2014/main" id="{BC6A5461-FDFA-CF19-870C-C27F394DA6EA}"/>
              </a:ext>
            </a:extLst>
          </p:cNvPr>
          <p:cNvSpPr/>
          <p:nvPr/>
        </p:nvSpPr>
        <p:spPr>
          <a:xfrm>
            <a:off x="8058286" y="4450572"/>
            <a:ext cx="512115" cy="24337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动态</a:t>
            </a:r>
          </a:p>
        </p:txBody>
      </p:sp>
      <p:sp>
        <p:nvSpPr>
          <p:cNvPr id="1062" name="矩形 1061">
            <a:extLst>
              <a:ext uri="{FF2B5EF4-FFF2-40B4-BE49-F238E27FC236}">
                <a16:creationId xmlns:a16="http://schemas.microsoft.com/office/drawing/2014/main" id="{C22C5394-9195-014B-C2EA-2F4530985B59}"/>
              </a:ext>
            </a:extLst>
          </p:cNvPr>
          <p:cNvSpPr/>
          <p:nvPr/>
        </p:nvSpPr>
        <p:spPr>
          <a:xfrm>
            <a:off x="8788797" y="4450571"/>
            <a:ext cx="1184445" cy="24337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物体轨迹预测</a:t>
            </a:r>
          </a:p>
        </p:txBody>
      </p:sp>
      <p:sp>
        <p:nvSpPr>
          <p:cNvPr id="1064" name="矩形 1063">
            <a:extLst>
              <a:ext uri="{FF2B5EF4-FFF2-40B4-BE49-F238E27FC236}">
                <a16:creationId xmlns:a16="http://schemas.microsoft.com/office/drawing/2014/main" id="{FF990640-7BEB-5130-8BE6-5B37A7403553}"/>
              </a:ext>
            </a:extLst>
          </p:cNvPr>
          <p:cNvSpPr/>
          <p:nvPr/>
        </p:nvSpPr>
        <p:spPr>
          <a:xfrm>
            <a:off x="10249872" y="3776465"/>
            <a:ext cx="252000" cy="113026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碰撞风险评估</a:t>
            </a:r>
          </a:p>
        </p:txBody>
      </p:sp>
      <p:cxnSp>
        <p:nvCxnSpPr>
          <p:cNvPr id="1065" name="连接符: 肘形 10">
            <a:extLst>
              <a:ext uri="{FF2B5EF4-FFF2-40B4-BE49-F238E27FC236}">
                <a16:creationId xmlns:a16="http://schemas.microsoft.com/office/drawing/2014/main" id="{37FC4014-1A9D-C657-E426-ACFEE8CFC122}"/>
              </a:ext>
            </a:extLst>
          </p:cNvPr>
          <p:cNvCxnSpPr>
            <a:cxnSpLocks/>
            <a:stCxn id="1062" idx="3"/>
            <a:endCxn id="1064" idx="1"/>
          </p:cNvCxnSpPr>
          <p:nvPr/>
        </p:nvCxnSpPr>
        <p:spPr>
          <a:xfrm flipV="1">
            <a:off x="9973242" y="4341596"/>
            <a:ext cx="276630" cy="23066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7" name="连接符: 肘形 10">
            <a:extLst>
              <a:ext uri="{FF2B5EF4-FFF2-40B4-BE49-F238E27FC236}">
                <a16:creationId xmlns:a16="http://schemas.microsoft.com/office/drawing/2014/main" id="{29CFE04A-E42A-1FCD-0E07-0C06C1DA7633}"/>
              </a:ext>
            </a:extLst>
          </p:cNvPr>
          <p:cNvCxnSpPr>
            <a:cxnSpLocks/>
            <a:stCxn id="176" idx="3"/>
            <a:endCxn id="1073" idx="1"/>
          </p:cNvCxnSpPr>
          <p:nvPr/>
        </p:nvCxnSpPr>
        <p:spPr>
          <a:xfrm flipV="1">
            <a:off x="7155270" y="4342955"/>
            <a:ext cx="264901" cy="232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3" name="矩形 1072">
            <a:extLst>
              <a:ext uri="{FF2B5EF4-FFF2-40B4-BE49-F238E27FC236}">
                <a16:creationId xmlns:a16="http://schemas.microsoft.com/office/drawing/2014/main" id="{3D039531-30B6-340D-716E-1BE85443780E}"/>
              </a:ext>
            </a:extLst>
          </p:cNvPr>
          <p:cNvSpPr/>
          <p:nvPr/>
        </p:nvSpPr>
        <p:spPr>
          <a:xfrm>
            <a:off x="7420171" y="3776465"/>
            <a:ext cx="252000" cy="1132980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障碍物检测</a:t>
            </a:r>
          </a:p>
        </p:txBody>
      </p:sp>
      <p:sp>
        <p:nvSpPr>
          <p:cNvPr id="1103" name="矩形 1102">
            <a:extLst>
              <a:ext uri="{FF2B5EF4-FFF2-40B4-BE49-F238E27FC236}">
                <a16:creationId xmlns:a16="http://schemas.microsoft.com/office/drawing/2014/main" id="{65D34017-E374-5F3D-E6CA-C361D5C87BE5}"/>
              </a:ext>
            </a:extLst>
          </p:cNvPr>
          <p:cNvSpPr/>
          <p:nvPr/>
        </p:nvSpPr>
        <p:spPr>
          <a:xfrm>
            <a:off x="8788796" y="3977898"/>
            <a:ext cx="1184445" cy="24337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禁行区域生成</a:t>
            </a:r>
          </a:p>
        </p:txBody>
      </p:sp>
      <p:cxnSp>
        <p:nvCxnSpPr>
          <p:cNvPr id="1104" name="连接符: 肘形 10">
            <a:extLst>
              <a:ext uri="{FF2B5EF4-FFF2-40B4-BE49-F238E27FC236}">
                <a16:creationId xmlns:a16="http://schemas.microsoft.com/office/drawing/2014/main" id="{7AFB9568-6CB3-1808-0D8E-00400F2F7332}"/>
              </a:ext>
            </a:extLst>
          </p:cNvPr>
          <p:cNvCxnSpPr>
            <a:cxnSpLocks/>
            <a:stCxn id="1110" idx="3"/>
            <a:endCxn id="1103" idx="1"/>
          </p:cNvCxnSpPr>
          <p:nvPr/>
        </p:nvCxnSpPr>
        <p:spPr>
          <a:xfrm>
            <a:off x="8570401" y="4099584"/>
            <a:ext cx="2183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0" name="矩形 1109">
            <a:extLst>
              <a:ext uri="{FF2B5EF4-FFF2-40B4-BE49-F238E27FC236}">
                <a16:creationId xmlns:a16="http://schemas.microsoft.com/office/drawing/2014/main" id="{75A02374-B4ED-4C90-74A5-16729EE8A21B}"/>
              </a:ext>
            </a:extLst>
          </p:cNvPr>
          <p:cNvSpPr/>
          <p:nvPr/>
        </p:nvSpPr>
        <p:spPr>
          <a:xfrm>
            <a:off x="8058286" y="3977898"/>
            <a:ext cx="512115" cy="24337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静态</a:t>
            </a:r>
          </a:p>
        </p:txBody>
      </p:sp>
      <p:cxnSp>
        <p:nvCxnSpPr>
          <p:cNvPr id="1118" name="连接符: 肘形 10">
            <a:extLst>
              <a:ext uri="{FF2B5EF4-FFF2-40B4-BE49-F238E27FC236}">
                <a16:creationId xmlns:a16="http://schemas.microsoft.com/office/drawing/2014/main" id="{E145D65F-D3A6-ED7E-2B3F-2E193A34F820}"/>
              </a:ext>
            </a:extLst>
          </p:cNvPr>
          <p:cNvCxnSpPr>
            <a:cxnSpLocks/>
            <a:stCxn id="1073" idx="3"/>
            <a:endCxn id="1110" idx="1"/>
          </p:cNvCxnSpPr>
          <p:nvPr/>
        </p:nvCxnSpPr>
        <p:spPr>
          <a:xfrm flipV="1">
            <a:off x="7672171" y="4099584"/>
            <a:ext cx="386115" cy="24337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2" name="连接符: 肘形 10">
            <a:extLst>
              <a:ext uri="{FF2B5EF4-FFF2-40B4-BE49-F238E27FC236}">
                <a16:creationId xmlns:a16="http://schemas.microsoft.com/office/drawing/2014/main" id="{ED9FACA7-4375-FD0C-E84F-962D19E14403}"/>
              </a:ext>
            </a:extLst>
          </p:cNvPr>
          <p:cNvCxnSpPr>
            <a:cxnSpLocks/>
            <a:stCxn id="1073" idx="3"/>
            <a:endCxn id="188" idx="1"/>
          </p:cNvCxnSpPr>
          <p:nvPr/>
        </p:nvCxnSpPr>
        <p:spPr>
          <a:xfrm>
            <a:off x="7672171" y="4342955"/>
            <a:ext cx="386115" cy="22930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9" name="连接符: 肘形 10">
            <a:extLst>
              <a:ext uri="{FF2B5EF4-FFF2-40B4-BE49-F238E27FC236}">
                <a16:creationId xmlns:a16="http://schemas.microsoft.com/office/drawing/2014/main" id="{FA88AF12-519A-40AB-C688-DFF25ACECC4E}"/>
              </a:ext>
            </a:extLst>
          </p:cNvPr>
          <p:cNvCxnSpPr>
            <a:cxnSpLocks/>
            <a:stCxn id="188" idx="3"/>
            <a:endCxn id="1062" idx="1"/>
          </p:cNvCxnSpPr>
          <p:nvPr/>
        </p:nvCxnSpPr>
        <p:spPr>
          <a:xfrm flipV="1">
            <a:off x="8570401" y="4572257"/>
            <a:ext cx="218396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0" name="连接符: 肘形 10">
            <a:extLst>
              <a:ext uri="{FF2B5EF4-FFF2-40B4-BE49-F238E27FC236}">
                <a16:creationId xmlns:a16="http://schemas.microsoft.com/office/drawing/2014/main" id="{3AC23A03-A754-CF9A-512E-244B8FE86EC5}"/>
              </a:ext>
            </a:extLst>
          </p:cNvPr>
          <p:cNvCxnSpPr>
            <a:cxnSpLocks/>
            <a:stCxn id="1103" idx="3"/>
            <a:endCxn id="1064" idx="1"/>
          </p:cNvCxnSpPr>
          <p:nvPr/>
        </p:nvCxnSpPr>
        <p:spPr>
          <a:xfrm>
            <a:off x="9973241" y="4099584"/>
            <a:ext cx="276631" cy="242012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5" name="矩形: 圆角 1264">
            <a:extLst>
              <a:ext uri="{FF2B5EF4-FFF2-40B4-BE49-F238E27FC236}">
                <a16:creationId xmlns:a16="http://schemas.microsoft.com/office/drawing/2014/main" id="{BEC832DC-3C88-E532-6AAA-4D908A5479C2}"/>
              </a:ext>
            </a:extLst>
          </p:cNvPr>
          <p:cNvSpPr/>
          <p:nvPr/>
        </p:nvSpPr>
        <p:spPr>
          <a:xfrm>
            <a:off x="5367436" y="5699585"/>
            <a:ext cx="866801" cy="240581"/>
          </a:xfrm>
          <a:prstGeom prst="round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吊钩轨迹</a:t>
            </a:r>
          </a:p>
        </p:txBody>
      </p:sp>
      <p:sp>
        <p:nvSpPr>
          <p:cNvPr id="1266" name="矩形 1265">
            <a:extLst>
              <a:ext uri="{FF2B5EF4-FFF2-40B4-BE49-F238E27FC236}">
                <a16:creationId xmlns:a16="http://schemas.microsoft.com/office/drawing/2014/main" id="{6270404A-D401-9B69-9AFC-8858754E2C09}"/>
              </a:ext>
            </a:extLst>
          </p:cNvPr>
          <p:cNvSpPr/>
          <p:nvPr/>
        </p:nvSpPr>
        <p:spPr>
          <a:xfrm>
            <a:off x="6475150" y="5699585"/>
            <a:ext cx="1141116" cy="24058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吊物轨迹推算</a:t>
            </a:r>
          </a:p>
        </p:txBody>
      </p:sp>
      <p:cxnSp>
        <p:nvCxnSpPr>
          <p:cNvPr id="1267" name="连接符: 肘形 10">
            <a:extLst>
              <a:ext uri="{FF2B5EF4-FFF2-40B4-BE49-F238E27FC236}">
                <a16:creationId xmlns:a16="http://schemas.microsoft.com/office/drawing/2014/main" id="{025B3DCC-7A9C-1B5F-F961-85758095DAF5}"/>
              </a:ext>
            </a:extLst>
          </p:cNvPr>
          <p:cNvCxnSpPr>
            <a:cxnSpLocks/>
            <a:stCxn id="1265" idx="3"/>
            <a:endCxn id="1266" idx="1"/>
          </p:cNvCxnSpPr>
          <p:nvPr/>
        </p:nvCxnSpPr>
        <p:spPr>
          <a:xfrm>
            <a:off x="6234237" y="5819876"/>
            <a:ext cx="24091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1" name="矩形: 圆角 1270">
            <a:extLst>
              <a:ext uri="{FF2B5EF4-FFF2-40B4-BE49-F238E27FC236}">
                <a16:creationId xmlns:a16="http://schemas.microsoft.com/office/drawing/2014/main" id="{EFD7E0A0-211E-D7AE-4B54-A389D367347D}"/>
              </a:ext>
            </a:extLst>
          </p:cNvPr>
          <p:cNvSpPr/>
          <p:nvPr/>
        </p:nvSpPr>
        <p:spPr>
          <a:xfrm>
            <a:off x="5367436" y="6256179"/>
            <a:ext cx="866801" cy="252000"/>
          </a:xfrm>
          <a:prstGeom prst="round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图像</a:t>
            </a:r>
          </a:p>
        </p:txBody>
      </p:sp>
      <p:cxnSp>
        <p:nvCxnSpPr>
          <p:cNvPr id="1272" name="连接符: 肘形 10">
            <a:extLst>
              <a:ext uri="{FF2B5EF4-FFF2-40B4-BE49-F238E27FC236}">
                <a16:creationId xmlns:a16="http://schemas.microsoft.com/office/drawing/2014/main" id="{C45ED8B9-381E-2074-1A99-C9E38857592C}"/>
              </a:ext>
            </a:extLst>
          </p:cNvPr>
          <p:cNvCxnSpPr>
            <a:cxnSpLocks/>
            <a:stCxn id="1271" idx="3"/>
            <a:endCxn id="1274" idx="1"/>
          </p:cNvCxnSpPr>
          <p:nvPr/>
        </p:nvCxnSpPr>
        <p:spPr>
          <a:xfrm>
            <a:off x="6234237" y="6382179"/>
            <a:ext cx="240913" cy="93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4" name="矩形 1273">
            <a:extLst>
              <a:ext uri="{FF2B5EF4-FFF2-40B4-BE49-F238E27FC236}">
                <a16:creationId xmlns:a16="http://schemas.microsoft.com/office/drawing/2014/main" id="{E11896C9-8755-D8DC-24D2-68BD1F469915}"/>
              </a:ext>
            </a:extLst>
          </p:cNvPr>
          <p:cNvSpPr/>
          <p:nvPr/>
        </p:nvSpPr>
        <p:spPr>
          <a:xfrm>
            <a:off x="6475150" y="6262819"/>
            <a:ext cx="1141116" cy="24058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吊物类别识别</a:t>
            </a:r>
          </a:p>
        </p:txBody>
      </p:sp>
      <p:cxnSp>
        <p:nvCxnSpPr>
          <p:cNvPr id="1282" name="连接符: 肘形 10">
            <a:extLst>
              <a:ext uri="{FF2B5EF4-FFF2-40B4-BE49-F238E27FC236}">
                <a16:creationId xmlns:a16="http://schemas.microsoft.com/office/drawing/2014/main" id="{86D123AB-A0BF-0B14-15DB-1FAD2A45C4EE}"/>
              </a:ext>
            </a:extLst>
          </p:cNvPr>
          <p:cNvCxnSpPr>
            <a:cxnSpLocks/>
            <a:stCxn id="1266" idx="3"/>
            <a:endCxn id="1306" idx="1"/>
          </p:cNvCxnSpPr>
          <p:nvPr/>
        </p:nvCxnSpPr>
        <p:spPr>
          <a:xfrm>
            <a:off x="7616266" y="5819876"/>
            <a:ext cx="296244" cy="275721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5" name="连接符: 肘形 10">
            <a:extLst>
              <a:ext uri="{FF2B5EF4-FFF2-40B4-BE49-F238E27FC236}">
                <a16:creationId xmlns:a16="http://schemas.microsoft.com/office/drawing/2014/main" id="{9735606A-8282-1F0D-C5AF-1FFC27E25291}"/>
              </a:ext>
            </a:extLst>
          </p:cNvPr>
          <p:cNvCxnSpPr>
            <a:cxnSpLocks/>
            <a:stCxn id="1274" idx="3"/>
            <a:endCxn id="1306" idx="1"/>
          </p:cNvCxnSpPr>
          <p:nvPr/>
        </p:nvCxnSpPr>
        <p:spPr>
          <a:xfrm flipV="1">
            <a:off x="7616266" y="6095597"/>
            <a:ext cx="296244" cy="287513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1" name="矩形 1300">
            <a:extLst>
              <a:ext uri="{FF2B5EF4-FFF2-40B4-BE49-F238E27FC236}">
                <a16:creationId xmlns:a16="http://schemas.microsoft.com/office/drawing/2014/main" id="{BD79D630-82DA-D121-B894-B0844EDD8CD6}"/>
              </a:ext>
            </a:extLst>
          </p:cNvPr>
          <p:cNvSpPr/>
          <p:nvPr/>
        </p:nvSpPr>
        <p:spPr>
          <a:xfrm>
            <a:off x="8436752" y="5511236"/>
            <a:ext cx="252000" cy="1168723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物料库存更新</a:t>
            </a:r>
          </a:p>
        </p:txBody>
      </p:sp>
      <p:sp>
        <p:nvSpPr>
          <p:cNvPr id="1302" name="矩形 1301">
            <a:extLst>
              <a:ext uri="{FF2B5EF4-FFF2-40B4-BE49-F238E27FC236}">
                <a16:creationId xmlns:a16="http://schemas.microsoft.com/office/drawing/2014/main" id="{011283A7-DB9F-A4A8-CA7A-1F3C2CA5D51B}"/>
              </a:ext>
            </a:extLst>
          </p:cNvPr>
          <p:cNvSpPr/>
          <p:nvPr/>
        </p:nvSpPr>
        <p:spPr>
          <a:xfrm>
            <a:off x="8960995" y="6256180"/>
            <a:ext cx="1540877" cy="24337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施工进度同步</a:t>
            </a:r>
          </a:p>
        </p:txBody>
      </p:sp>
      <p:sp>
        <p:nvSpPr>
          <p:cNvPr id="1303" name="矩形 1302">
            <a:extLst>
              <a:ext uri="{FF2B5EF4-FFF2-40B4-BE49-F238E27FC236}">
                <a16:creationId xmlns:a16="http://schemas.microsoft.com/office/drawing/2014/main" id="{0D7D2839-A121-1910-7A9B-41F4ACC568FB}"/>
              </a:ext>
            </a:extLst>
          </p:cNvPr>
          <p:cNvSpPr/>
          <p:nvPr/>
        </p:nvSpPr>
        <p:spPr>
          <a:xfrm>
            <a:off x="8960994" y="5696795"/>
            <a:ext cx="1540877" cy="24337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吊装效率评估</a:t>
            </a:r>
          </a:p>
        </p:txBody>
      </p:sp>
      <p:cxnSp>
        <p:nvCxnSpPr>
          <p:cNvPr id="1304" name="连接符: 肘形 10">
            <a:extLst>
              <a:ext uri="{FF2B5EF4-FFF2-40B4-BE49-F238E27FC236}">
                <a16:creationId xmlns:a16="http://schemas.microsoft.com/office/drawing/2014/main" id="{41F8C14E-252B-FF7B-F80C-3BD3F192453D}"/>
              </a:ext>
            </a:extLst>
          </p:cNvPr>
          <p:cNvCxnSpPr>
            <a:cxnSpLocks/>
            <a:stCxn id="1301" idx="3"/>
            <a:endCxn id="1303" idx="1"/>
          </p:cNvCxnSpPr>
          <p:nvPr/>
        </p:nvCxnSpPr>
        <p:spPr>
          <a:xfrm flipV="1">
            <a:off x="8688752" y="5818481"/>
            <a:ext cx="272242" cy="277117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5" name="连接符: 肘形 10">
            <a:extLst>
              <a:ext uri="{FF2B5EF4-FFF2-40B4-BE49-F238E27FC236}">
                <a16:creationId xmlns:a16="http://schemas.microsoft.com/office/drawing/2014/main" id="{E1FE0838-6F8A-5E8E-F0A2-B99B09D73CBE}"/>
              </a:ext>
            </a:extLst>
          </p:cNvPr>
          <p:cNvCxnSpPr>
            <a:cxnSpLocks/>
            <a:stCxn id="1301" idx="3"/>
            <a:endCxn id="1302" idx="1"/>
          </p:cNvCxnSpPr>
          <p:nvPr/>
        </p:nvCxnSpPr>
        <p:spPr>
          <a:xfrm>
            <a:off x="8688752" y="6095598"/>
            <a:ext cx="272243" cy="282268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6" name="矩形 1305">
            <a:extLst>
              <a:ext uri="{FF2B5EF4-FFF2-40B4-BE49-F238E27FC236}">
                <a16:creationId xmlns:a16="http://schemas.microsoft.com/office/drawing/2014/main" id="{EA6B0127-A3F1-F23B-B711-A3EF930ADE07}"/>
              </a:ext>
            </a:extLst>
          </p:cNvPr>
          <p:cNvSpPr/>
          <p:nvPr/>
        </p:nvSpPr>
        <p:spPr>
          <a:xfrm>
            <a:off x="7912510" y="5511235"/>
            <a:ext cx="252000" cy="1168723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吊物状态跟踪</a:t>
            </a:r>
          </a:p>
        </p:txBody>
      </p:sp>
      <p:cxnSp>
        <p:nvCxnSpPr>
          <p:cNvPr id="1309" name="连接符: 肘形 10">
            <a:extLst>
              <a:ext uri="{FF2B5EF4-FFF2-40B4-BE49-F238E27FC236}">
                <a16:creationId xmlns:a16="http://schemas.microsoft.com/office/drawing/2014/main" id="{18612D04-56C6-6E14-CF63-BE81EB4ACB72}"/>
              </a:ext>
            </a:extLst>
          </p:cNvPr>
          <p:cNvCxnSpPr>
            <a:cxnSpLocks/>
            <a:stCxn id="1306" idx="3"/>
            <a:endCxn id="1301" idx="1"/>
          </p:cNvCxnSpPr>
          <p:nvPr/>
        </p:nvCxnSpPr>
        <p:spPr>
          <a:xfrm>
            <a:off x="8164510" y="6095597"/>
            <a:ext cx="272242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6" name="矩形: 圆角 1405">
            <a:extLst>
              <a:ext uri="{FF2B5EF4-FFF2-40B4-BE49-F238E27FC236}">
                <a16:creationId xmlns:a16="http://schemas.microsoft.com/office/drawing/2014/main" id="{98AC86BF-3BE1-8ACA-11BD-B82A9B873203}"/>
              </a:ext>
            </a:extLst>
          </p:cNvPr>
          <p:cNvSpPr/>
          <p:nvPr/>
        </p:nvSpPr>
        <p:spPr>
          <a:xfrm>
            <a:off x="5214900" y="1810232"/>
            <a:ext cx="5445942" cy="1533021"/>
          </a:xfrm>
          <a:prstGeom prst="round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07" name="矩形: 圆角 1406">
            <a:extLst>
              <a:ext uri="{FF2B5EF4-FFF2-40B4-BE49-F238E27FC236}">
                <a16:creationId xmlns:a16="http://schemas.microsoft.com/office/drawing/2014/main" id="{2C2AEB91-9CB2-7259-B98B-49F2DC8AF201}"/>
              </a:ext>
            </a:extLst>
          </p:cNvPr>
          <p:cNvSpPr/>
          <p:nvPr/>
        </p:nvSpPr>
        <p:spPr>
          <a:xfrm>
            <a:off x="5214900" y="3575882"/>
            <a:ext cx="5445942" cy="1533021"/>
          </a:xfrm>
          <a:prstGeom prst="round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08" name="矩形: 圆角 1407">
            <a:extLst>
              <a:ext uri="{FF2B5EF4-FFF2-40B4-BE49-F238E27FC236}">
                <a16:creationId xmlns:a16="http://schemas.microsoft.com/office/drawing/2014/main" id="{4A51DEF2-926D-0AA8-ECD4-7D8A8F83F9DB}"/>
              </a:ext>
            </a:extLst>
          </p:cNvPr>
          <p:cNvSpPr/>
          <p:nvPr/>
        </p:nvSpPr>
        <p:spPr>
          <a:xfrm>
            <a:off x="5214900" y="5337672"/>
            <a:ext cx="5445942" cy="1533021"/>
          </a:xfrm>
          <a:prstGeom prst="round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endParaRPr lang="zh-CN" altLang="en-US" sz="1400" b="1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410" name="矩形: 圆角 1409">
            <a:extLst>
              <a:ext uri="{FF2B5EF4-FFF2-40B4-BE49-F238E27FC236}">
                <a16:creationId xmlns:a16="http://schemas.microsoft.com/office/drawing/2014/main" id="{080E0E80-5BDC-8017-89A9-DA9E7D03C047}"/>
              </a:ext>
            </a:extLst>
          </p:cNvPr>
          <p:cNvSpPr/>
          <p:nvPr/>
        </p:nvSpPr>
        <p:spPr>
          <a:xfrm>
            <a:off x="11058296" y="1810231"/>
            <a:ext cx="2014238" cy="1533021"/>
          </a:xfrm>
          <a:prstGeom prst="round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altLang="zh-CN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SLAM</a:t>
            </a: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技术</a:t>
            </a:r>
            <a:endParaRPr lang="en-US" altLang="zh-CN" sz="1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多传感器融合</a:t>
            </a:r>
            <a:endParaRPr lang="en-US" altLang="zh-CN" sz="1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基于概率的状态估计</a:t>
            </a:r>
          </a:p>
        </p:txBody>
      </p:sp>
      <p:sp>
        <p:nvSpPr>
          <p:cNvPr id="1415" name="矩形: 圆角 1414">
            <a:extLst>
              <a:ext uri="{FF2B5EF4-FFF2-40B4-BE49-F238E27FC236}">
                <a16:creationId xmlns:a16="http://schemas.microsoft.com/office/drawing/2014/main" id="{C3836D09-FFD2-6243-5E45-068DEE42CB91}"/>
              </a:ext>
            </a:extLst>
          </p:cNvPr>
          <p:cNvSpPr/>
          <p:nvPr/>
        </p:nvSpPr>
        <p:spPr>
          <a:xfrm>
            <a:off x="11058296" y="3575882"/>
            <a:ext cx="2014238" cy="1533021"/>
          </a:xfrm>
          <a:prstGeom prst="round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点云特征提取</a:t>
            </a:r>
            <a:endParaRPr lang="en-US" altLang="zh-CN" sz="1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点云畸变校正</a:t>
            </a:r>
            <a:endParaRPr lang="en-US" altLang="zh-CN" sz="1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点云帧间差分</a:t>
            </a:r>
            <a:endParaRPr lang="en-US" altLang="zh-CN" sz="1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包络曲面构建</a:t>
            </a:r>
            <a:endParaRPr lang="en-US" altLang="zh-CN" sz="1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运动轨迹预测</a:t>
            </a:r>
          </a:p>
        </p:txBody>
      </p:sp>
      <p:sp>
        <p:nvSpPr>
          <p:cNvPr id="1416" name="矩形: 圆角 1415">
            <a:extLst>
              <a:ext uri="{FF2B5EF4-FFF2-40B4-BE49-F238E27FC236}">
                <a16:creationId xmlns:a16="http://schemas.microsoft.com/office/drawing/2014/main" id="{6ED6A32A-E55B-04E1-E992-9575541397D3}"/>
              </a:ext>
            </a:extLst>
          </p:cNvPr>
          <p:cNvSpPr/>
          <p:nvPr/>
        </p:nvSpPr>
        <p:spPr>
          <a:xfrm>
            <a:off x="11058296" y="5337672"/>
            <a:ext cx="2014238" cy="1533021"/>
          </a:xfrm>
          <a:prstGeom prst="roundRect">
            <a:avLst/>
          </a:prstGeom>
          <a:noFill/>
          <a:ln w="190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计算机视觉</a:t>
            </a:r>
            <a:endParaRPr lang="en-US" altLang="zh-CN" sz="1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目标跟踪</a:t>
            </a:r>
            <a:endParaRPr lang="en-US" altLang="zh-CN" sz="14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 algn="ctr">
              <a:spcAft>
                <a:spcPts val="600"/>
              </a:spcAft>
            </a:pPr>
            <a:r>
              <a:rPr lang="zh-CN" altLang="en-US" sz="1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深度估计</a:t>
            </a:r>
          </a:p>
        </p:txBody>
      </p:sp>
    </p:spTree>
    <p:extLst>
      <p:ext uri="{BB962C8B-B14F-4D97-AF65-F5344CB8AC3E}">
        <p14:creationId xmlns:p14="http://schemas.microsoft.com/office/powerpoint/2010/main" val="3717128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580D5023-CC17-5135-50B4-235C6B45BE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257" y="2289439"/>
            <a:ext cx="5277485" cy="2343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ECB019B1-382A-4266-B25C-5B523AA43C14-1" descr="wpp">
            <a:extLst>
              <a:ext uri="{FF2B5EF4-FFF2-40B4-BE49-F238E27FC236}">
                <a16:creationId xmlns:a16="http://schemas.microsoft.com/office/drawing/2014/main" id="{FC8A486D-E898-80B2-6E51-113867EE58F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57" t="6114" r="4112" b="3834"/>
          <a:stretch>
            <a:fillRect/>
          </a:stretch>
        </p:blipFill>
        <p:spPr>
          <a:xfrm>
            <a:off x="9643270" y="3314964"/>
            <a:ext cx="3235325" cy="3666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4845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27851</TotalTime>
  <Words>878</Words>
  <Application>Microsoft Office PowerPoint</Application>
  <PresentationFormat>自定义</PresentationFormat>
  <Paragraphs>205</Paragraphs>
  <Slides>6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3" baseType="lpstr">
      <vt:lpstr>等线</vt:lpstr>
      <vt:lpstr>宋体</vt:lpstr>
      <vt:lpstr>微软雅黑</vt:lpstr>
      <vt:lpstr>Arial</vt:lpstr>
      <vt:lpstr>Calibri</vt:lpstr>
      <vt:lpstr>Calibri Light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宇凡 陈</dc:creator>
  <cp:lastModifiedBy>宇凡 陈</cp:lastModifiedBy>
  <cp:revision>51</cp:revision>
  <dcterms:created xsi:type="dcterms:W3CDTF">2024-09-29T01:09:23Z</dcterms:created>
  <dcterms:modified xsi:type="dcterms:W3CDTF">2026-02-28T16:28:48Z</dcterms:modified>
</cp:coreProperties>
</file>